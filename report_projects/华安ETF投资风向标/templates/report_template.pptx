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22.xml" ContentType="application/vnd.openxmlformats-officedocument.presentationml.tags+xml"/>
  <Override PartName="/ppt/charts/chart2.xml" ContentType="application/vnd.openxmlformats-officedocument.drawingml.chart+xml"/>
  <Override PartName="/ppt/theme/themeOverride2.xml" ContentType="application/vnd.openxmlformats-officedocument.themeOverride+xml"/>
  <Override PartName="/ppt/tags/tag23.xml" ContentType="application/vnd.openxmlformats-officedocument.presentationml.tags+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tags/tag24.xml" ContentType="application/vnd.openxmlformats-officedocument.presentationml.tags+xml"/>
  <Override PartName="/ppt/charts/chart4.xml" ContentType="application/vnd.openxmlformats-officedocument.drawingml.chart+xml"/>
  <Override PartName="/ppt/theme/themeOverride4.xml" ContentType="application/vnd.openxmlformats-officedocument.themeOverride+xml"/>
  <Override PartName="/ppt/tags/tag25.xml" ContentType="application/vnd.openxmlformats-officedocument.presentationml.tags+xml"/>
  <Override PartName="/ppt/charts/chart5.xml" ContentType="application/vnd.openxmlformats-officedocument.drawingml.chart+xml"/>
  <Override PartName="/ppt/theme/themeOverride5.xml" ContentType="application/vnd.openxmlformats-officedocument.themeOverride+xml"/>
  <Override PartName="/ppt/tags/tag26.xml" ContentType="application/vnd.openxmlformats-officedocument.presentationml.tags+xml"/>
  <Override PartName="/ppt/notesSlides/notesSlide2.xml" ContentType="application/vnd.openxmlformats-officedocument.presentationml.notesSl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6.xml" ContentType="application/vnd.openxmlformats-officedocument.themeOverride+xml"/>
  <Override PartName="/ppt/tags/tag27.xml" ContentType="application/vnd.openxmlformats-officedocument.presentationml.tags+xml"/>
  <Override PartName="/ppt/notesSlides/notesSlide3.xml" ContentType="application/vnd.openxmlformats-officedocument.presentationml.notesSlid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7.xml" ContentType="application/vnd.openxmlformats-officedocument.themeOverride+xml"/>
  <Override PartName="/ppt/tags/tag28.xml" ContentType="application/vnd.openxmlformats-officedocument.presentationml.tags+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8.xml" ContentType="application/vnd.openxmlformats-officedocument.themeOverride+xml"/>
  <Override PartName="/ppt/tags/tag29.xml" ContentType="application/vnd.openxmlformats-officedocument.presentationml.tags+xml"/>
  <Override PartName="/ppt/notesSlides/notesSlide4.xml" ContentType="application/vnd.openxmlformats-officedocument.presentationml.notesSlid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9.xml" ContentType="application/vnd.openxmlformats-officedocument.themeOverride+xml"/>
  <Override PartName="/ppt/tags/tag30.xml" ContentType="application/vnd.openxmlformats-officedocument.presentationml.tags+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10.xml" ContentType="application/vnd.openxmlformats-officedocument.themeOverride+xml"/>
  <Override PartName="/ppt/tags/tag31.xml" ContentType="application/vnd.openxmlformats-officedocument.presentationml.tags+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11.xml" ContentType="application/vnd.openxmlformats-officedocument.themeOverride+xml"/>
  <Override PartName="/ppt/tags/tag32.xml" ContentType="application/vnd.openxmlformats-officedocument.presentationml.tags+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12.xml" ContentType="application/vnd.openxmlformats-officedocument.themeOverride+xml"/>
  <Override PartName="/ppt/tags/tag33.xml" ContentType="application/vnd.openxmlformats-officedocument.presentationml.tags+xml"/>
  <Override PartName="/ppt/charts/chart13.xml" ContentType="application/vnd.openxmlformats-officedocument.drawingml.chart+xml"/>
  <Override PartName="/ppt/theme/themeOverride13.xml" ContentType="application/vnd.openxmlformats-officedocument.themeOverride+xml"/>
  <Override PartName="/ppt/tags/tag34.xml" ContentType="application/vnd.openxmlformats-officedocument.presentationml.tags+xml"/>
  <Override PartName="/ppt/charts/chart14.xml" ContentType="application/vnd.openxmlformats-officedocument.drawingml.chart+xml"/>
  <Override PartName="/ppt/theme/themeOverride14.xml" ContentType="application/vnd.openxmlformats-officedocument.themeOverride+xml"/>
  <Override PartName="/ppt/tags/tag35.xml" ContentType="application/vnd.openxmlformats-officedocument.presentationml.tags+xml"/>
  <Override PartName="/ppt/charts/chart15.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5.xml" ContentType="application/vnd.openxmlformats-officedocument.themeOverride+xml"/>
  <Override PartName="/ppt/tags/tag36.xml" ContentType="application/vnd.openxmlformats-officedocument.presentationml.tags+xml"/>
  <Override PartName="/ppt/charts/chart16.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7.xml" ContentType="application/vnd.openxmlformats-officedocument.drawingml.chart+xml"/>
  <Override PartName="/ppt/charts/style12.xml" ContentType="application/vnd.ms-office.chartstyle+xml"/>
  <Override PartName="/ppt/charts/colors12.xml" ContentType="application/vnd.ms-office.chartcolorstyle+xml"/>
  <Override PartName="/ppt/tags/tag37.xml" ContentType="application/vnd.openxmlformats-officedocument.presentationml.tags+xml"/>
  <Override PartName="/ppt/charts/chart18.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16.xml" ContentType="application/vnd.openxmlformats-officedocument.themeOverride+xml"/>
  <Override PartName="/ppt/tags/tag38.xml" ContentType="application/vnd.openxmlformats-officedocument.presentationml.tags+xml"/>
  <Override PartName="/ppt/charts/chart19.xml" ContentType="application/vnd.openxmlformats-officedocument.drawingml.chart+xml"/>
  <Override PartName="/ppt/tags/tag39.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29" r:id="rId2"/>
  </p:sldMasterIdLst>
  <p:notesMasterIdLst>
    <p:notesMasterId r:id="rId30"/>
  </p:notesMasterIdLst>
  <p:handoutMasterIdLst>
    <p:handoutMasterId r:id="rId31"/>
  </p:handoutMasterIdLst>
  <p:sldIdLst>
    <p:sldId id="579" r:id="rId3"/>
    <p:sldId id="878" r:id="rId4"/>
    <p:sldId id="884" r:id="rId5"/>
    <p:sldId id="883" r:id="rId6"/>
    <p:sldId id="879" r:id="rId7"/>
    <p:sldId id="892" r:id="rId8"/>
    <p:sldId id="851" r:id="rId9"/>
    <p:sldId id="852" r:id="rId10"/>
    <p:sldId id="888" r:id="rId11"/>
    <p:sldId id="889" r:id="rId12"/>
    <p:sldId id="886" r:id="rId13"/>
    <p:sldId id="865" r:id="rId14"/>
    <p:sldId id="893" r:id="rId15"/>
    <p:sldId id="894" r:id="rId16"/>
    <p:sldId id="853" r:id="rId17"/>
    <p:sldId id="882" r:id="rId18"/>
    <p:sldId id="891" r:id="rId19"/>
    <p:sldId id="885" r:id="rId20"/>
    <p:sldId id="890" r:id="rId21"/>
    <p:sldId id="887" r:id="rId22"/>
    <p:sldId id="881" r:id="rId23"/>
    <p:sldId id="880" r:id="rId24"/>
    <p:sldId id="857" r:id="rId25"/>
    <p:sldId id="858" r:id="rId26"/>
    <p:sldId id="813" r:id="rId27"/>
    <p:sldId id="814" r:id="rId28"/>
    <p:sldId id="776" r:id="rId29"/>
  </p:sldIdLst>
  <p:sldSz cx="6858000" cy="12192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02" userDrawn="1">
          <p15:clr>
            <a:srgbClr val="A4A3A4"/>
          </p15:clr>
        </p15:guide>
        <p15:guide id="2" orient="horz" pos="3409" userDrawn="1">
          <p15:clr>
            <a:srgbClr val="A4A3A4"/>
          </p15:clr>
        </p15:guide>
        <p15:guide id="3" orient="horz" pos="1148" userDrawn="1">
          <p15:clr>
            <a:srgbClr val="A4A3A4"/>
          </p15:clr>
        </p15:guide>
        <p15:guide id="4" pos="402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阮若兰" initials="H" lastIdx="2" clrIdx="0"/>
  <p:cmAuthor id="7" name="H" initials="H" lastIdx="13" clrIdx="7">
    <p:extLst>
      <p:ext uri="{19B8F6BF-5375-455C-9EA6-DF929625EA0E}">
        <p15:presenceInfo xmlns:p15="http://schemas.microsoft.com/office/powerpoint/2012/main" userId="H" providerId="None"/>
      </p:ext>
    </p:extLst>
  </p:cmAuthor>
  <p:cmAuthor id="1" name="周泓灏" initials="周泓灏" lastIdx="158" clrIdx="1"/>
  <p:cmAuthor id="8" name="H01044" initials="H" lastIdx="11" clrIdx="8">
    <p:extLst>
      <p:ext uri="{19B8F6BF-5375-455C-9EA6-DF929625EA0E}">
        <p15:presenceInfo xmlns:p15="http://schemas.microsoft.com/office/powerpoint/2012/main" userId="H01044" providerId="None"/>
      </p:ext>
    </p:extLst>
  </p:cmAuthor>
  <p:cmAuthor id="2" name="刘昕玥" initials="刘昕玥" lastIdx="17" clrIdx="2"/>
  <p:cmAuthor id="9" name="马静怡" initials="马静怡 [2]" lastIdx="6" clrIdx="9">
    <p:extLst>
      <p:ext uri="{19B8F6BF-5375-455C-9EA6-DF929625EA0E}">
        <p15:presenceInfo xmlns:p15="http://schemas.microsoft.com/office/powerpoint/2012/main" userId="S-1-5-21-1285646332-1032279862-782984527-48500" providerId="AD"/>
      </p:ext>
    </p:extLst>
  </p:cmAuthor>
  <p:cmAuthor id="3" name="张晓倩" initials="张晓倩" lastIdx="112" clrIdx="3"/>
  <p:cmAuthor id="4" name="陈瑜" initials="陈瑜" lastIdx="4" clrIdx="4"/>
  <p:cmAuthor id="5" name="姜小男" initials="姜小男" lastIdx="15" clrIdx="5"/>
  <p:cmAuthor id="6" name="马静怡" initials="马静怡" lastIdx="4" clrIdx="6">
    <p:extLst>
      <p:ext uri="{19B8F6BF-5375-455C-9EA6-DF929625EA0E}">
        <p15:presenceInfo xmlns:p15="http://schemas.microsoft.com/office/powerpoint/2012/main" userId="马静怡"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81B5"/>
    <a:srgbClr val="4282BD"/>
    <a:srgbClr val="DEEBF7"/>
    <a:srgbClr val="BDD7EE"/>
    <a:srgbClr val="CBDCED"/>
    <a:srgbClr val="FFFFFF"/>
    <a:srgbClr val="1F4E79"/>
    <a:srgbClr val="B9B9B9"/>
    <a:srgbClr val="FBE5D6"/>
    <a:srgbClr val="F8CB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6580" autoAdjust="0"/>
  </p:normalViewPr>
  <p:slideViewPr>
    <p:cSldViewPr snapToGrid="0" showGuides="1">
      <p:cViewPr varScale="1">
        <p:scale>
          <a:sx n="91" d="100"/>
          <a:sy n="91" d="100"/>
        </p:scale>
        <p:origin x="4496" y="224"/>
      </p:cViewPr>
      <p:guideLst>
        <p:guide pos="402"/>
        <p:guide orient="horz" pos="3409"/>
        <p:guide orient="horz" pos="1148"/>
        <p:guide pos="4023"/>
      </p:guideLst>
    </p:cSldViewPr>
  </p:slideViewPr>
  <p:notesTextViewPr>
    <p:cViewPr>
      <p:scale>
        <a:sx n="1" d="1"/>
        <a:sy n="1" d="1"/>
      </p:scale>
      <p:origin x="0" y="0"/>
    </p:cViewPr>
  </p:notesTextViewPr>
  <p:notesViewPr>
    <p:cSldViewPr snapToGrid="0">
      <p:cViewPr varScale="1">
        <p:scale>
          <a:sx n="78" d="100"/>
          <a:sy n="78" d="100"/>
        </p:scale>
        <p:origin x="398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H01352\Desktop\&#21326;&#23433;&#22522;&#37329;\&#12304;0&#12305;&#24635;&#20307;\&#12304;1&#12305;&#25237;&#36164;&#39118;&#21521;&#26631;\&#38647;&#36798;&#22270;.xlsx" TargetMode="External"/></Relationships>
</file>

<file path=ppt/charts/_rels/chart2.xml.rels><?xml version="1.0" encoding="UTF-8" standalone="yes"?>
<Relationships xmlns="http://schemas.openxmlformats.org/package/2006/relationships"><Relationship Id="rId2" Type="http://schemas.openxmlformats.org/officeDocument/2006/relationships/oleObject" Target="file:///C:\Users\H01352\Desktop\&#21326;&#23433;&#22522;&#37329;\&#12304;2&#12305;&#21608;&#24230;&#12289;&#26376;&#24230;&#12289;&#24180;&#24230;&#31574;&#30053;\&#12304;1&#12305;&#26376;&#24230;&#25237;&#36164;&#39118;&#21521;&#26631;\ETF&#22240;&#23376;&#25171;&#20998;&#25968;&#25454;-2025&#24180;1&#26376;.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21326;&#23433;\&#23450;&#26399;&#26356;&#26032;&#26448;&#26009;&#27719;&#24635;\&#26376;&#24230;&#26356;&#26032;\&#21326;&#23433;ETF&#25237;&#36164;&#39118;&#21521;&#26631;\3&#26376;\&#38647;&#36798;&#22270;202303.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C:\Users\H01352\Desktop\&#21326;&#23433;&#22522;&#37329;\&#12304;2&#12305;&#21608;&#24230;&#12289;&#26376;&#24230;&#12289;&#24180;&#24230;&#31574;&#30053;\&#12304;1&#12305;&#26376;&#24230;&#25237;&#36164;&#39118;&#21521;&#26631;\ETF&#22240;&#23376;&#25171;&#20998;&#25968;&#25454;-2025&#24180;1&#26376;.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oleObject" Target="file:///C:\Users\H01352\Desktop\&#21326;&#23433;&#22522;&#37329;\&#12304;2&#12305;&#21608;&#24230;&#12289;&#26376;&#24230;&#12289;&#24180;&#24230;&#31574;&#30053;\&#12304;1&#12305;&#26376;&#24230;&#25237;&#36164;&#39118;&#21521;&#26631;\ETF&#22240;&#23376;&#25171;&#20998;&#25968;&#25454;-2025&#24180;1&#26376;.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C:\Users\H01352\Desktop\&#21326;&#23433;&#22522;&#37329;\&#12304;0&#12305;&#24635;&#20307;\&#12304;1&#12305;&#25237;&#36164;&#39118;&#21521;&#26631;\&#38647;&#36798;&#22270;.xlsx" TargetMode="Externa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D:\&#21326;&#23433;\&#23450;&#26399;&#26356;&#26032;&#26448;&#26009;&#27719;&#24635;\&#26376;&#24230;&#26356;&#26032;\&#21326;&#23433;ETF&#25237;&#36164;&#39118;&#21521;&#26631;\3&#26376;\&#38647;&#36798;&#22270;202303.xlsx" TargetMode="Externa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C:\Users\H01352\Desktop\&#21326;&#23433;&#22522;&#37329;\&#12304;0&#12305;&#24635;&#20307;\&#12304;1&#12305;&#25237;&#36164;&#39118;&#21521;&#26631;\&#38647;&#36798;&#22270;.xlsx" TargetMode="Externa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C:\Users\H01352\Desktop\&#21326;&#23433;&#22522;&#37329;\&#12304;0&#12305;&#24635;&#20307;\&#12304;1&#12305;&#25237;&#36164;&#39118;&#21521;&#26631;\&#38647;&#36798;&#22270;.xlsx" TargetMode="Externa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oleObject" Target="file:///C:\Users\H01352\Desktop\&#21326;&#23433;&#22522;&#37329;\&#12304;0&#12305;&#24635;&#20307;\&#12304;1&#12305;&#25237;&#36164;&#39118;&#21521;&#26631;\&#38647;&#36798;&#22270;.xlsx" TargetMode="Externa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21326;&#23433;\&#23450;&#26399;&#26356;&#26032;&#26448;&#26009;&#27719;&#24635;\&#26376;&#24230;&#26356;&#26032;\&#21326;&#23433;ETF&#25237;&#36164;&#39118;&#21521;&#26631;\3&#26376;\&#38647;&#36798;&#22270;202303.xlsx" TargetMode="External"/></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21326;&#23433;\&#23450;&#26399;&#26356;&#26032;&#26448;&#26009;&#27719;&#24635;\&#26376;&#24230;&#26356;&#26032;\&#34892;&#19994;&#26376;&#25253;\&#38647;&#36798;&#22270;.xlsx" TargetMode="External"/></Relationships>
</file>

<file path=ppt/charts/_rels/chart13.xml.rels><?xml version="1.0" encoding="UTF-8" standalone="yes"?>
<Relationships xmlns="http://schemas.openxmlformats.org/package/2006/relationships"><Relationship Id="rId2" Type="http://schemas.openxmlformats.org/officeDocument/2006/relationships/oleObject" Target="file:///C:\Users\H01352\Desktop\&#21326;&#23433;&#22522;&#37329;\&#12304;2&#12305;&#21608;&#24230;&#12289;&#26376;&#24230;&#12289;&#24180;&#24230;&#31574;&#30053;\&#12304;1&#12305;&#26376;&#24230;&#25237;&#36164;&#39118;&#21521;&#26631;\ETF&#22240;&#23376;&#25171;&#20998;&#25968;&#25454;-2025&#24180;1&#26376;.xlsx" TargetMode="External"/><Relationship Id="rId1" Type="http://schemas.openxmlformats.org/officeDocument/2006/relationships/themeOverride" Target="../theme/themeOverride13.xml"/></Relationships>
</file>

<file path=ppt/charts/_rels/chart14.xml.rels><?xml version="1.0" encoding="UTF-8" standalone="yes"?>
<Relationships xmlns="http://schemas.openxmlformats.org/package/2006/relationships"><Relationship Id="rId2" Type="http://schemas.openxmlformats.org/officeDocument/2006/relationships/oleObject" Target="file:///C:\Users\H01352\Desktop\&#21326;&#23433;&#22522;&#37329;\&#12304;2&#12305;&#21608;&#24230;&#12289;&#26376;&#24230;&#12289;&#24180;&#24230;&#31574;&#30053;\&#12304;1&#12305;&#26376;&#24230;&#25237;&#36164;&#39118;&#21521;&#26631;\ETF&#22240;&#23376;&#25171;&#20998;&#25968;&#25454;-2025&#24180;1&#26376;.xlsx" TargetMode="External"/><Relationship Id="rId1" Type="http://schemas.openxmlformats.org/officeDocument/2006/relationships/themeOverride" Target="../theme/themeOverride14.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21326;&#23433;\&#23450;&#26399;&#26356;&#26032;&#26448;&#26009;&#27719;&#24635;\&#26376;&#24230;&#26356;&#26032;\&#21326;&#23433;ETF&#25237;&#36164;&#39118;&#21521;&#26631;\3&#26376;\&#38647;&#36798;&#22270;202303.xlsx" TargetMode="External"/></Relationships>
</file>

<file path=ppt/charts/_rels/chart16.xml.rels><?xml version="1.0" encoding="UTF-8" standalone="yes"?>
<Relationships xmlns="http://schemas.openxmlformats.org/package/2006/relationships"><Relationship Id="rId3" Type="http://schemas.openxmlformats.org/officeDocument/2006/relationships/oleObject" Target="file:///D:\&#21326;&#23433;\&#23450;&#26399;&#26356;&#26032;&#26448;&#26009;&#27719;&#24635;\&#26376;&#24230;&#26356;&#26032;\&#34892;&#19994;&#26376;&#25253;\2023M7\&#38647;&#36798;&#22270;.xlsx" TargetMode="External"/><Relationship Id="rId2" Type="http://schemas.microsoft.com/office/2011/relationships/chartColorStyle" Target="colors11.xml"/><Relationship Id="rId1" Type="http://schemas.microsoft.com/office/2011/relationships/chartStyle" Target="style11.xml"/></Relationships>
</file>

<file path=ppt/charts/_rels/chart17.xml.rels><?xml version="1.0" encoding="UTF-8" standalone="yes"?>
<Relationships xmlns="http://schemas.openxmlformats.org/package/2006/relationships"><Relationship Id="rId3" Type="http://schemas.openxmlformats.org/officeDocument/2006/relationships/oleObject" Target="file:///D:\&#21326;&#23433;\&#23450;&#26399;&#26356;&#26032;&#26448;&#26009;&#27719;&#24635;\&#26376;&#24230;&#26356;&#26032;\&#34892;&#19994;&#26376;&#25253;\&#38647;&#36798;&#22270;.xlsx" TargetMode="External"/><Relationship Id="rId2" Type="http://schemas.microsoft.com/office/2011/relationships/chartColorStyle" Target="colors12.xml"/><Relationship Id="rId1" Type="http://schemas.microsoft.com/office/2011/relationships/chartStyle" Target="style12.xm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oleObject" Target="file:///D:\&#21326;&#23433;\&#23450;&#26399;&#26356;&#26032;&#26448;&#26009;&#27719;&#24635;\&#26376;&#24230;&#26356;&#26032;\&#21326;&#23433;ETF&#25237;&#36164;&#39118;&#21521;&#26631;\3&#26376;\&#38647;&#36798;&#22270;202303.xlsx" TargetMode="External"/></Relationships>
</file>

<file path=ppt/charts/_rels/chart19.xml.rels><?xml version="1.0" encoding="UTF-8" standalone="yes"?>
<Relationships xmlns="http://schemas.openxmlformats.org/package/2006/relationships"><Relationship Id="rId1" Type="http://schemas.openxmlformats.org/officeDocument/2006/relationships/oleObject" Target="file:///D:\Jun2\Projects\&#20135;&#21697;&#26448;&#26009;\&#12304;561000&#12305;&#27818;&#28145;300&#22686;&#24378;ETF\prod\&#22238;&#27979;&#27169;&#26495;prod\backtes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做图!$C$16:$H$16</c:f>
              <c:numCache>
                <c:formatCode>0.0</c:formatCode>
                <c:ptCount val="6"/>
                <c:pt idx="0">
                  <c:v>4</c:v>
                </c:pt>
                <c:pt idx="1">
                  <c:v>5</c:v>
                </c:pt>
                <c:pt idx="2">
                  <c:v>3.8</c:v>
                </c:pt>
                <c:pt idx="3">
                  <c:v>4.5</c:v>
                </c:pt>
                <c:pt idx="4">
                  <c:v>4</c:v>
                </c:pt>
                <c:pt idx="5">
                  <c:v>4.5</c:v>
                </c:pt>
              </c:numCache>
            </c:numRef>
          </c:val>
          <c:extLst>
            <c:ext xmlns:c16="http://schemas.microsoft.com/office/drawing/2014/chart" uri="{C3380CC4-5D6E-409C-BE32-E72D297353CC}">
              <c16:uniqueId val="{00000000-B091-4E8E-A81C-F0640C866940}"/>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3"/>
          <c:order val="0"/>
          <c:spPr>
            <a:ln w="28575" cap="rnd">
              <a:solidFill>
                <a:schemeClr val="accent1"/>
              </a:solidFill>
              <a:round/>
            </a:ln>
            <a:effectLst/>
          </c:spPr>
          <c:marker>
            <c:symbol val="none"/>
          </c:marker>
          <c:cat>
            <c:strRef>
              <c:f>做图!$A$17:$A$22</c:f>
              <c:strCache>
                <c:ptCount val="6"/>
                <c:pt idx="0">
                  <c:v>估值</c:v>
                </c:pt>
                <c:pt idx="1">
                  <c:v>关注度</c:v>
                </c:pt>
                <c:pt idx="2">
                  <c:v>红利</c:v>
                </c:pt>
                <c:pt idx="3">
                  <c:v>景气度</c:v>
                </c:pt>
                <c:pt idx="4">
                  <c:v>盈利</c:v>
                </c:pt>
                <c:pt idx="5">
                  <c:v>拥挤度</c:v>
                </c:pt>
              </c:strCache>
            </c:strRef>
          </c:cat>
          <c:val>
            <c:numRef>
              <c:f>做图!$J$17:$J$22</c:f>
              <c:numCache>
                <c:formatCode>0.0</c:formatCode>
                <c:ptCount val="6"/>
                <c:pt idx="0">
                  <c:v>4.3636363636363633</c:v>
                </c:pt>
                <c:pt idx="1">
                  <c:v>3.5454545454545454</c:v>
                </c:pt>
                <c:pt idx="2">
                  <c:v>2.7272727272727271</c:v>
                </c:pt>
                <c:pt idx="3">
                  <c:v>2</c:v>
                </c:pt>
                <c:pt idx="4">
                  <c:v>4.3636363636363633</c:v>
                </c:pt>
                <c:pt idx="5">
                  <c:v>2.4545454545454546</c:v>
                </c:pt>
              </c:numCache>
            </c:numRef>
          </c:val>
          <c:extLst>
            <c:ext xmlns:c16="http://schemas.microsoft.com/office/drawing/2014/chart" uri="{C3380CC4-5D6E-409C-BE32-E72D297353CC}">
              <c16:uniqueId val="{00000000-B30A-4B08-A9B3-555BE4086341}"/>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plotArea>
    <c:plotVisOnly val="1"/>
    <c:dispBlanksAs val="gap"/>
    <c:showDLblsOverMax val="0"/>
  </c:chart>
  <c:spPr>
    <a:noFill/>
    <a:ln w="9525" cap="flat" cmpd="sng" algn="ctr">
      <a:noFill/>
      <a:round/>
    </a:ln>
    <a:effectLst/>
  </c:spPr>
  <c:txPr>
    <a:bodyPr/>
    <a:lstStyle/>
    <a:p>
      <a:pPr>
        <a:defRPr sz="1200">
          <a:latin typeface="楷体" panose="02010609060101010101" pitchFamily="49" charset="-122"/>
          <a:ea typeface="楷体" panose="02010609060101010101" pitchFamily="49" charset="-122"/>
        </a:defRPr>
      </a:pPr>
      <a:endParaRPr lang="zh-CN"/>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做图!$C$17:$H$17</c:f>
              <c:numCache>
                <c:formatCode>0.0</c:formatCode>
                <c:ptCount val="6"/>
                <c:pt idx="0">
                  <c:v>3.5</c:v>
                </c:pt>
                <c:pt idx="1">
                  <c:v>3.3714285714285714</c:v>
                </c:pt>
                <c:pt idx="2">
                  <c:v>2.8571428571428572</c:v>
                </c:pt>
                <c:pt idx="3">
                  <c:v>2.6857142857142855</c:v>
                </c:pt>
                <c:pt idx="4">
                  <c:v>2.0857142857142859</c:v>
                </c:pt>
                <c:pt idx="5">
                  <c:v>3.5</c:v>
                </c:pt>
              </c:numCache>
            </c:numRef>
          </c:val>
          <c:extLst>
            <c:ext xmlns:c16="http://schemas.microsoft.com/office/drawing/2014/chart" uri="{C3380CC4-5D6E-409C-BE32-E72D297353CC}">
              <c16:uniqueId val="{00000000-0C27-49F7-A072-D7FEEE918B42}"/>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3"/>
          <c:order val="0"/>
          <c:spPr>
            <a:ln w="28575" cap="rnd">
              <a:solidFill>
                <a:schemeClr val="accent1"/>
              </a:solidFill>
              <a:round/>
            </a:ln>
            <a:effectLst/>
          </c:spPr>
          <c:marker>
            <c:symbol val="none"/>
          </c:marker>
          <c:cat>
            <c:strRef>
              <c:f>做图!$A$17:$A$22</c:f>
              <c:strCache>
                <c:ptCount val="6"/>
                <c:pt idx="0">
                  <c:v>估值</c:v>
                </c:pt>
                <c:pt idx="1">
                  <c:v>关注度</c:v>
                </c:pt>
                <c:pt idx="2">
                  <c:v>红利</c:v>
                </c:pt>
                <c:pt idx="3">
                  <c:v>景气度</c:v>
                </c:pt>
                <c:pt idx="4">
                  <c:v>盈利</c:v>
                </c:pt>
                <c:pt idx="5">
                  <c:v>拥挤度</c:v>
                </c:pt>
              </c:strCache>
            </c:strRef>
          </c:cat>
          <c:val>
            <c:numRef>
              <c:f>做图!$J$17:$J$22</c:f>
              <c:numCache>
                <c:formatCode>0.0</c:formatCode>
                <c:ptCount val="6"/>
                <c:pt idx="0">
                  <c:v>4.3636363636363633</c:v>
                </c:pt>
                <c:pt idx="1">
                  <c:v>3.5454545454545454</c:v>
                </c:pt>
                <c:pt idx="2">
                  <c:v>2.7272727272727271</c:v>
                </c:pt>
                <c:pt idx="3">
                  <c:v>2</c:v>
                </c:pt>
                <c:pt idx="4">
                  <c:v>4.3636363636363633</c:v>
                </c:pt>
                <c:pt idx="5">
                  <c:v>2.4545454545454546</c:v>
                </c:pt>
              </c:numCache>
            </c:numRef>
          </c:val>
          <c:extLst>
            <c:ext xmlns:c16="http://schemas.microsoft.com/office/drawing/2014/chart" uri="{C3380CC4-5D6E-409C-BE32-E72D297353CC}">
              <c16:uniqueId val="{00000000-B30A-4B08-A9B3-555BE4086341}"/>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plotArea>
    <c:plotVisOnly val="1"/>
    <c:dispBlanksAs val="gap"/>
    <c:showDLblsOverMax val="0"/>
  </c:chart>
  <c:spPr>
    <a:noFill/>
    <a:ln w="9525" cap="flat" cmpd="sng" algn="ctr">
      <a:noFill/>
      <a:round/>
    </a:ln>
    <a:effectLst/>
  </c:spPr>
  <c:txPr>
    <a:bodyPr/>
    <a:lstStyle/>
    <a:p>
      <a:pPr>
        <a:defRPr sz="1200">
          <a:latin typeface="楷体" panose="02010609060101010101" pitchFamily="49" charset="-122"/>
          <a:ea typeface="楷体" panose="02010609060101010101" pitchFamily="49" charset="-122"/>
        </a:defRPr>
      </a:pPr>
      <a:endParaRPr lang="zh-CN"/>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3"/>
          <c:order val="0"/>
          <c:spPr>
            <a:ln w="28575" cap="rnd">
              <a:solidFill>
                <a:schemeClr val="accent1"/>
              </a:solidFill>
              <a:round/>
            </a:ln>
            <a:effectLst/>
          </c:spPr>
          <c:marker>
            <c:symbol val="none"/>
          </c:marker>
          <c:cat>
            <c:strRef>
              <c:f>做图!$A$17:$A$22</c:f>
              <c:strCache>
                <c:ptCount val="6"/>
                <c:pt idx="0">
                  <c:v>估值</c:v>
                </c:pt>
                <c:pt idx="1">
                  <c:v>关注度</c:v>
                </c:pt>
                <c:pt idx="2">
                  <c:v>红利</c:v>
                </c:pt>
                <c:pt idx="3">
                  <c:v>景气度</c:v>
                </c:pt>
                <c:pt idx="4">
                  <c:v>盈利</c:v>
                </c:pt>
                <c:pt idx="5">
                  <c:v>拥挤度</c:v>
                </c:pt>
              </c:strCache>
            </c:strRef>
          </c:cat>
          <c:val>
            <c:numRef>
              <c:f>做图!$AG$17:$AG$22</c:f>
              <c:numCache>
                <c:formatCode>0.0</c:formatCode>
                <c:ptCount val="6"/>
                <c:pt idx="0">
                  <c:v>4.2727272727272725</c:v>
                </c:pt>
                <c:pt idx="1">
                  <c:v>3</c:v>
                </c:pt>
                <c:pt idx="2">
                  <c:v>2.4545454545454546</c:v>
                </c:pt>
                <c:pt idx="3">
                  <c:v>3.0909090909090908</c:v>
                </c:pt>
                <c:pt idx="4">
                  <c:v>4.6363636363636367</c:v>
                </c:pt>
                <c:pt idx="5">
                  <c:v>2.3636363636363638</c:v>
                </c:pt>
              </c:numCache>
            </c:numRef>
          </c:val>
          <c:extLst>
            <c:ext xmlns:c16="http://schemas.microsoft.com/office/drawing/2014/chart" uri="{C3380CC4-5D6E-409C-BE32-E72D297353CC}">
              <c16:uniqueId val="{00000000-BF9B-4DD4-A710-C3B5A84295CD}"/>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plotArea>
    <c:plotVisOnly val="1"/>
    <c:dispBlanksAs val="gap"/>
    <c:showDLblsOverMax val="0"/>
  </c:chart>
  <c:spPr>
    <a:noFill/>
    <a:ln w="9525" cap="flat" cmpd="sng" algn="ctr">
      <a:noFill/>
      <a:round/>
    </a:ln>
    <a:effectLst/>
  </c:spPr>
  <c:txPr>
    <a:bodyPr/>
    <a:lstStyle/>
    <a:p>
      <a:pPr>
        <a:defRPr sz="1200">
          <a:latin typeface="楷体" panose="02010609060101010101" pitchFamily="49" charset="-122"/>
          <a:ea typeface="楷体" panose="02010609060101010101" pitchFamily="49" charset="-122"/>
        </a:defRPr>
      </a:pPr>
      <a:endParaRPr lang="zh-CN"/>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做图!$C$48:$H$48</c:f>
              <c:numCache>
                <c:formatCode>General</c:formatCode>
                <c:ptCount val="6"/>
                <c:pt idx="0">
                  <c:v>4.5</c:v>
                </c:pt>
                <c:pt idx="1">
                  <c:v>2</c:v>
                </c:pt>
                <c:pt idx="2">
                  <c:v>3</c:v>
                </c:pt>
                <c:pt idx="3">
                  <c:v>4</c:v>
                </c:pt>
                <c:pt idx="4">
                  <c:v>2</c:v>
                </c:pt>
                <c:pt idx="5">
                  <c:v>3</c:v>
                </c:pt>
              </c:numCache>
            </c:numRef>
          </c:val>
          <c:extLst>
            <c:ext xmlns:c16="http://schemas.microsoft.com/office/drawing/2014/chart" uri="{C3380CC4-5D6E-409C-BE32-E72D297353CC}">
              <c16:uniqueId val="{00000000-D202-405B-B51B-A71AD4263F82}"/>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extLst>
      <c:ext uri="{0b15fc19-7d7d-44ad-8c2d-2c3a37ce22c3}">
        <chartProps xmlns="https://web.wps.cn/et/2018/main" chartId="{65bff471-ec81-4988-8f84-bc7c0ceb6a7a}"/>
      </c:ext>
    </c:extLst>
  </c:chart>
  <c:spPr>
    <a:noFill/>
    <a:ln>
      <a:noFill/>
    </a:ln>
    <a:effectLst/>
  </c:spPr>
  <c:txPr>
    <a:bodyPr/>
    <a:lstStyle/>
    <a:p>
      <a:pPr>
        <a:defRPr lang="zh-CN"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做图!$C$17:$H$17</c:f>
              <c:numCache>
                <c:formatCode>0.0</c:formatCode>
                <c:ptCount val="6"/>
                <c:pt idx="0">
                  <c:v>3.5</c:v>
                </c:pt>
                <c:pt idx="1">
                  <c:v>3.3714285714285714</c:v>
                </c:pt>
                <c:pt idx="2">
                  <c:v>2.8571428571428572</c:v>
                </c:pt>
                <c:pt idx="3">
                  <c:v>2.6857142857142855</c:v>
                </c:pt>
                <c:pt idx="4">
                  <c:v>2.0857142857142859</c:v>
                </c:pt>
                <c:pt idx="5">
                  <c:v>3.5</c:v>
                </c:pt>
              </c:numCache>
            </c:numRef>
          </c:val>
          <c:extLst>
            <c:ext xmlns:c16="http://schemas.microsoft.com/office/drawing/2014/chart" uri="{C3380CC4-5D6E-409C-BE32-E72D297353CC}">
              <c16:uniqueId val="{00000000-0C27-49F7-A072-D7FEEE918B42}"/>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做图!$C$12:$H$12</c:f>
              <c:numCache>
                <c:formatCode>0.0</c:formatCode>
                <c:ptCount val="6"/>
                <c:pt idx="0">
                  <c:v>2.5</c:v>
                </c:pt>
                <c:pt idx="1">
                  <c:v>5</c:v>
                </c:pt>
                <c:pt idx="2">
                  <c:v>4.7428571428571429</c:v>
                </c:pt>
                <c:pt idx="3">
                  <c:v>3.5</c:v>
                </c:pt>
                <c:pt idx="4">
                  <c:v>4</c:v>
                </c:pt>
                <c:pt idx="5">
                  <c:v>4</c:v>
                </c:pt>
              </c:numCache>
            </c:numRef>
          </c:val>
          <c:extLst>
            <c:ext xmlns:c16="http://schemas.microsoft.com/office/drawing/2014/chart" uri="{C3380CC4-5D6E-409C-BE32-E72D297353CC}">
              <c16:uniqueId val="{00000000-9CEE-4A08-B4BD-FC5F0D2176A1}"/>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做图!$C$11:$H$11</c:f>
              <c:numCache>
                <c:formatCode>0.0</c:formatCode>
                <c:ptCount val="6"/>
                <c:pt idx="0">
                  <c:v>2.5</c:v>
                </c:pt>
                <c:pt idx="1">
                  <c:v>5</c:v>
                </c:pt>
                <c:pt idx="2">
                  <c:v>4.5</c:v>
                </c:pt>
                <c:pt idx="3">
                  <c:v>3</c:v>
                </c:pt>
                <c:pt idx="4">
                  <c:v>4.5</c:v>
                </c:pt>
                <c:pt idx="5">
                  <c:v>4.0999999999999996</c:v>
                </c:pt>
              </c:numCache>
            </c:numRef>
          </c:val>
          <c:extLst>
            <c:ext xmlns:c16="http://schemas.microsoft.com/office/drawing/2014/chart" uri="{C3380CC4-5D6E-409C-BE32-E72D297353CC}">
              <c16:uniqueId val="{00000000-3585-4319-9721-7039E7A880D0}"/>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做图!$C$16:$H$16</c:f>
              <c:numCache>
                <c:formatCode>0.0</c:formatCode>
                <c:ptCount val="6"/>
                <c:pt idx="0">
                  <c:v>4</c:v>
                </c:pt>
                <c:pt idx="1">
                  <c:v>5</c:v>
                </c:pt>
                <c:pt idx="2">
                  <c:v>3.8</c:v>
                </c:pt>
                <c:pt idx="3">
                  <c:v>4.5</c:v>
                </c:pt>
                <c:pt idx="4">
                  <c:v>4</c:v>
                </c:pt>
                <c:pt idx="5">
                  <c:v>4.5</c:v>
                </c:pt>
              </c:numCache>
            </c:numRef>
          </c:val>
          <c:extLst>
            <c:ext xmlns:c16="http://schemas.microsoft.com/office/drawing/2014/chart" uri="{C3380CC4-5D6E-409C-BE32-E72D297353CC}">
              <c16:uniqueId val="{00000000-B091-4E8E-A81C-F0640C866940}"/>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做图!$C$17:$H$17</c:f>
              <c:numCache>
                <c:formatCode>0.0</c:formatCode>
                <c:ptCount val="6"/>
                <c:pt idx="0">
                  <c:v>3.5</c:v>
                </c:pt>
                <c:pt idx="1">
                  <c:v>3.3714285714285701</c:v>
                </c:pt>
                <c:pt idx="2">
                  <c:v>2.8571428571428599</c:v>
                </c:pt>
                <c:pt idx="3">
                  <c:v>2.6857142857142899</c:v>
                </c:pt>
                <c:pt idx="4">
                  <c:v>2.0857142857142899</c:v>
                </c:pt>
                <c:pt idx="5">
                  <c:v>3.5</c:v>
                </c:pt>
              </c:numCache>
            </c:numRef>
          </c:val>
          <c:extLst>
            <c:ext xmlns:c16="http://schemas.microsoft.com/office/drawing/2014/chart" uri="{C3380CC4-5D6E-409C-BE32-E72D297353CC}">
              <c16:uniqueId val="{00000000-B8B6-497B-9712-33FD4F08C8BC}"/>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做图!$C$21:$H$21</c:f>
              <c:numCache>
                <c:formatCode>0.0</c:formatCode>
                <c:ptCount val="6"/>
                <c:pt idx="0">
                  <c:v>1.5</c:v>
                </c:pt>
                <c:pt idx="1">
                  <c:v>4</c:v>
                </c:pt>
                <c:pt idx="2">
                  <c:v>2</c:v>
                </c:pt>
                <c:pt idx="3">
                  <c:v>2</c:v>
                </c:pt>
                <c:pt idx="4">
                  <c:v>4</c:v>
                </c:pt>
                <c:pt idx="5">
                  <c:v>2</c:v>
                </c:pt>
              </c:numCache>
            </c:numRef>
          </c:val>
          <c:extLst>
            <c:ext xmlns:c16="http://schemas.microsoft.com/office/drawing/2014/chart" uri="{C3380CC4-5D6E-409C-BE32-E72D297353CC}">
              <c16:uniqueId val="{00000000-360F-4E9A-93E6-1E824F8FDAD3}"/>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3"/>
          <c:order val="0"/>
          <c:spPr>
            <a:ln w="28575" cap="rnd" cmpd="sng" algn="ctr">
              <a:solidFill>
                <a:schemeClr val="accent1"/>
              </a:solidFill>
              <a:prstDash val="solid"/>
              <a:round/>
            </a:ln>
            <a:effectLst/>
          </c:spPr>
          <c:marker>
            <c:symbol val="none"/>
          </c:marker>
          <c:cat>
            <c:strRef>
              <c:f>做图!$A$17:$A$22</c:f>
              <c:strCache>
                <c:ptCount val="6"/>
                <c:pt idx="0">
                  <c:v>估值</c:v>
                </c:pt>
                <c:pt idx="1">
                  <c:v>关注度</c:v>
                </c:pt>
                <c:pt idx="2">
                  <c:v>红利</c:v>
                </c:pt>
                <c:pt idx="3">
                  <c:v>景气度</c:v>
                </c:pt>
                <c:pt idx="4">
                  <c:v>盈利</c:v>
                </c:pt>
                <c:pt idx="5">
                  <c:v>拥挤度</c:v>
                </c:pt>
              </c:strCache>
            </c:strRef>
          </c:cat>
          <c:val>
            <c:numRef>
              <c:f>做图!$U$17:$U$22</c:f>
              <c:numCache>
                <c:formatCode>0.0</c:formatCode>
                <c:ptCount val="6"/>
                <c:pt idx="0">
                  <c:v>2.0909090909090899</c:v>
                </c:pt>
                <c:pt idx="1">
                  <c:v>3.4545454545454501</c:v>
                </c:pt>
                <c:pt idx="2">
                  <c:v>4.9090909090909101</c:v>
                </c:pt>
                <c:pt idx="3">
                  <c:v>4.1818181818181799</c:v>
                </c:pt>
                <c:pt idx="4">
                  <c:v>2.6363636363636398</c:v>
                </c:pt>
                <c:pt idx="5">
                  <c:v>4</c:v>
                </c:pt>
              </c:numCache>
            </c:numRef>
          </c:val>
          <c:extLst>
            <c:ext xmlns:c16="http://schemas.microsoft.com/office/drawing/2014/chart" uri="{C3380CC4-5D6E-409C-BE32-E72D297353CC}">
              <c16:uniqueId val="{00000000-7E00-4B2A-9966-40076668ED0E}"/>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prstDash val="solid"/>
              <a:round/>
            </a:ln>
            <a:effectLst/>
          </c:spPr>
        </c:majorGridlines>
        <c:numFmt formatCode="0.0" sourceLinked="1"/>
        <c:majorTickMark val="none"/>
        <c:minorTickMark val="none"/>
        <c:tickLblPos val="nextTo"/>
        <c:crossAx val="807831856"/>
        <c:crosses val="autoZero"/>
        <c:crossBetween val="between"/>
        <c:majorUnit val="1"/>
      </c:valAx>
    </c:plotArea>
    <c:plotVisOnly val="1"/>
    <c:dispBlanksAs val="gap"/>
    <c:showDLblsOverMax val="0"/>
    <c:extLst>
      <c:ext uri="{0b15fc19-7d7d-44ad-8c2d-2c3a37ce22c3}">
        <chartProps xmlns="https://web.wps.cn/et/2018/main" chartId="{502c026f-a061-46a2-8edf-cf0cfc734dd6}"/>
      </c:ext>
    </c:extLst>
  </c:chart>
  <c:spPr>
    <a:noFill/>
    <a:ln w="9525" cap="flat" cmpd="sng" algn="ctr">
      <a:noFill/>
      <a:round/>
    </a:ln>
    <a:effectLst/>
  </c:spPr>
  <c:txPr>
    <a:bodyPr/>
    <a:lstStyle/>
    <a:p>
      <a:pPr>
        <a:defRPr lang="zh-CN" sz="1200">
          <a:latin typeface="楷体" panose="02010609060101010101" pitchFamily="49" charset="-122"/>
          <a:ea typeface="楷体" panose="02010609060101010101" pitchFamily="49" charset="-122"/>
        </a:defRPr>
      </a:pPr>
      <a:endParaRPr lang="zh-CN"/>
    </a:p>
  </c:tx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3"/>
          <c:order val="0"/>
          <c:spPr>
            <a:ln w="28575" cap="rnd">
              <a:solidFill>
                <a:schemeClr val="accent1"/>
              </a:solidFill>
              <a:round/>
            </a:ln>
            <a:effectLst/>
          </c:spPr>
          <c:marker>
            <c:symbol val="none"/>
          </c:marker>
          <c:cat>
            <c:strRef>
              <c:f>做图!$A$17:$A$22</c:f>
              <c:strCache>
                <c:ptCount val="6"/>
                <c:pt idx="0">
                  <c:v>估值</c:v>
                </c:pt>
                <c:pt idx="1">
                  <c:v>关注度</c:v>
                </c:pt>
                <c:pt idx="2">
                  <c:v>红利</c:v>
                </c:pt>
                <c:pt idx="3">
                  <c:v>景气度</c:v>
                </c:pt>
                <c:pt idx="4">
                  <c:v>盈利</c:v>
                </c:pt>
                <c:pt idx="5">
                  <c:v>拥挤度</c:v>
                </c:pt>
              </c:strCache>
            </c:strRef>
          </c:cat>
          <c:val>
            <c:numRef>
              <c:f>做图!$AE$17:$AE$22</c:f>
              <c:numCache>
                <c:formatCode>0.0</c:formatCode>
                <c:ptCount val="6"/>
                <c:pt idx="0">
                  <c:v>2.2727272727272725</c:v>
                </c:pt>
                <c:pt idx="1">
                  <c:v>4.7272727272727275</c:v>
                </c:pt>
                <c:pt idx="2">
                  <c:v>4.8181818181818183</c:v>
                </c:pt>
                <c:pt idx="3">
                  <c:v>3.2727272727272725</c:v>
                </c:pt>
                <c:pt idx="4">
                  <c:v>2.3636363636363638</c:v>
                </c:pt>
                <c:pt idx="5">
                  <c:v>4.9090909090909092</c:v>
                </c:pt>
              </c:numCache>
            </c:numRef>
          </c:val>
          <c:extLst>
            <c:ext xmlns:c16="http://schemas.microsoft.com/office/drawing/2014/chart" uri="{C3380CC4-5D6E-409C-BE32-E72D297353CC}">
              <c16:uniqueId val="{00000000-5362-4A78-931D-C2B3EA1728D3}"/>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plotArea>
    <c:plotVisOnly val="1"/>
    <c:dispBlanksAs val="gap"/>
    <c:showDLblsOverMax val="0"/>
  </c:chart>
  <c:spPr>
    <a:noFill/>
    <a:ln w="9525" cap="flat" cmpd="sng" algn="ctr">
      <a:noFill/>
      <a:round/>
    </a:ln>
    <a:effectLst/>
  </c:spPr>
  <c:txPr>
    <a:bodyPr/>
    <a:lstStyle/>
    <a:p>
      <a:pPr>
        <a:defRPr sz="1200">
          <a:latin typeface="楷体" panose="02010609060101010101" pitchFamily="49" charset="-122"/>
          <a:ea typeface="楷体" panose="02010609060101010101" pitchFamily="49" charset="-122"/>
        </a:defRPr>
      </a:pPr>
      <a:endParaRPr lang="zh-CN"/>
    </a:p>
  </c:tx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做图!$C$17:$H$17</c:f>
              <c:numCache>
                <c:formatCode>0.0</c:formatCode>
                <c:ptCount val="6"/>
                <c:pt idx="0">
                  <c:v>3.5</c:v>
                </c:pt>
                <c:pt idx="1">
                  <c:v>3.3714285714285701</c:v>
                </c:pt>
                <c:pt idx="2">
                  <c:v>2.8571428571428599</c:v>
                </c:pt>
                <c:pt idx="3">
                  <c:v>2.6857142857142899</c:v>
                </c:pt>
                <c:pt idx="4">
                  <c:v>2.0857142857142899</c:v>
                </c:pt>
                <c:pt idx="5">
                  <c:v>3.5</c:v>
                </c:pt>
              </c:numCache>
            </c:numRef>
          </c:val>
          <c:extLst>
            <c:ext xmlns:c16="http://schemas.microsoft.com/office/drawing/2014/chart" uri="{C3380CC4-5D6E-409C-BE32-E72D297353CC}">
              <c16:uniqueId val="{00000000-5EA5-4F85-BCD9-C0DCE67F5287}"/>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extLst>
      <c:ext uri="{0b15fc19-7d7d-44ad-8c2d-2c3a37ce22c3}">
        <chartProps xmlns="https://web.wps.cn/et/2018/main" chartId="{a4c0094d-cfad-4710-8861-adc073509f27}"/>
      </c:ext>
    </c:extLst>
  </c:chart>
  <c:spPr>
    <a:noFill/>
    <a:ln>
      <a:noFill/>
    </a:ln>
    <a:effectLst/>
  </c:spPr>
  <c:txPr>
    <a:bodyPr/>
    <a:lstStyle/>
    <a:p>
      <a:pPr>
        <a:defRPr lang="zh-CN"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867484979636998"/>
          <c:y val="0.19102613878253"/>
          <c:w val="0.48294379082686101"/>
          <c:h val="0.63402881562362101"/>
        </c:manualLayout>
      </c:layout>
      <c:radarChart>
        <c:radarStyle val="marker"/>
        <c:varyColors val="0"/>
        <c:dLbls>
          <c:showLegendKey val="0"/>
          <c:showVal val="0"/>
          <c:showCatName val="0"/>
          <c:showSerName val="0"/>
          <c:showPercent val="0"/>
          <c:showBubbleSize val="0"/>
        </c:dLbls>
        <c:axId val="-857474016"/>
        <c:axId val="-857478384"/>
      </c:radarChart>
      <c:catAx>
        <c:axId val="-857474016"/>
        <c:scaling>
          <c:orientation val="minMax"/>
        </c:scaling>
        <c:delete val="1"/>
        <c:axPos val="b"/>
        <c:numFmt formatCode="General" sourceLinked="1"/>
        <c:majorTickMark val="none"/>
        <c:minorTickMark val="none"/>
        <c:tickLblPos val="nextTo"/>
        <c:crossAx val="-857478384"/>
        <c:crosses val="autoZero"/>
        <c:auto val="1"/>
        <c:lblAlgn val="ctr"/>
        <c:lblOffset val="100"/>
        <c:noMultiLvlLbl val="0"/>
      </c:catAx>
      <c:valAx>
        <c:axId val="-857478384"/>
        <c:scaling>
          <c:orientation val="minMax"/>
          <c:max val="5"/>
          <c:min val="0"/>
        </c:scaling>
        <c:delete val="1"/>
        <c:axPos val="l"/>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nextTo"/>
        <c:crossAx val="-85747401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sz="1200">
          <a:latin typeface="Cambria" panose="02040503050406030204" pitchFamily="18" charset="0"/>
          <a:ea typeface="楷体" panose="02010609060101010101" pitchFamily="49" charset="-122"/>
          <a:sym typeface="Cambria" panose="02040503050406030204" pitchFamily="18" charset="0"/>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8867484979637026"/>
          <c:y val="0.19102613878253027"/>
          <c:w val="0.4829437908268614"/>
          <c:h val="0.63402881562362057"/>
        </c:manualLayout>
      </c:layout>
      <c:radarChart>
        <c:radarStyle val="marker"/>
        <c:varyColors val="0"/>
        <c:ser>
          <c:idx val="0"/>
          <c:order val="0"/>
          <c:spPr>
            <a:ln w="28575" cap="rnd">
              <a:solidFill>
                <a:schemeClr val="accent1"/>
              </a:solidFill>
              <a:round/>
            </a:ln>
            <a:effectLst/>
          </c:spPr>
          <c:marker>
            <c:symbol val="none"/>
          </c:marker>
          <c:cat>
            <c:strRef>
              <c:f>做图!$C$55:$G$55</c:f>
              <c:strCache>
                <c:ptCount val="5"/>
                <c:pt idx="0">
                  <c:v>货币</c:v>
                </c:pt>
                <c:pt idx="1">
                  <c:v>通胀</c:v>
                </c:pt>
                <c:pt idx="2">
                  <c:v>经济</c:v>
                </c:pt>
                <c:pt idx="3">
                  <c:v>交易</c:v>
                </c:pt>
                <c:pt idx="4">
                  <c:v>避险</c:v>
                </c:pt>
              </c:strCache>
            </c:strRef>
          </c:cat>
          <c:val>
            <c:numRef>
              <c:f>做图!$C$56:$G$56</c:f>
              <c:numCache>
                <c:formatCode>0.0</c:formatCode>
                <c:ptCount val="5"/>
                <c:pt idx="0">
                  <c:v>5</c:v>
                </c:pt>
                <c:pt idx="1">
                  <c:v>3</c:v>
                </c:pt>
                <c:pt idx="2">
                  <c:v>2.5</c:v>
                </c:pt>
                <c:pt idx="3">
                  <c:v>2</c:v>
                </c:pt>
                <c:pt idx="4">
                  <c:v>4</c:v>
                </c:pt>
              </c:numCache>
            </c:numRef>
          </c:val>
          <c:extLst>
            <c:ext xmlns:c16="http://schemas.microsoft.com/office/drawing/2014/chart" uri="{C3380CC4-5D6E-409C-BE32-E72D297353CC}">
              <c16:uniqueId val="{00000000-5D62-42DC-BB3F-A9666D679859}"/>
            </c:ext>
          </c:extLst>
        </c:ser>
        <c:dLbls>
          <c:showLegendKey val="0"/>
          <c:showVal val="0"/>
          <c:showCatName val="0"/>
          <c:showSerName val="0"/>
          <c:showPercent val="0"/>
          <c:showBubbleSize val="0"/>
        </c:dLbls>
        <c:axId val="-857474016"/>
        <c:axId val="-857478384"/>
      </c:radarChart>
      <c:catAx>
        <c:axId val="-857474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Cambria" panose="02040503050406030204" pitchFamily="18" charset="0"/>
                <a:ea typeface="楷体" panose="02010609060101010101" pitchFamily="49" charset="-122"/>
                <a:cs typeface="+mn-cs"/>
                <a:sym typeface="Cambria" panose="02040503050406030204" pitchFamily="18" charset="0"/>
              </a:defRPr>
            </a:pPr>
            <a:endParaRPr lang="zh-CN"/>
          </a:p>
        </c:txPr>
        <c:crossAx val="-857478384"/>
        <c:crosses val="autoZero"/>
        <c:auto val="1"/>
        <c:lblAlgn val="ctr"/>
        <c:lblOffset val="100"/>
        <c:noMultiLvlLbl val="0"/>
      </c:catAx>
      <c:valAx>
        <c:axId val="-857478384"/>
        <c:scaling>
          <c:orientation val="minMax"/>
          <c:max val="5"/>
          <c:min val="0"/>
        </c:scaling>
        <c:delete val="1"/>
        <c:axPos val="l"/>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nextTo"/>
        <c:crossAx val="-85747401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sz="1200">
          <a:latin typeface="Cambria" panose="02040503050406030204" pitchFamily="18" charset="0"/>
          <a:ea typeface="楷体" panose="02010609060101010101" pitchFamily="49" charset="-122"/>
          <a:sym typeface="Cambria" panose="02040503050406030204" pitchFamily="18" charset="0"/>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none"/>
          </c:marker>
          <c:cat>
            <c:strRef>
              <c:f>做图!$C$5:$H$5</c:f>
              <c:strCache>
                <c:ptCount val="6"/>
                <c:pt idx="0">
                  <c:v>宏观</c:v>
                </c:pt>
                <c:pt idx="1">
                  <c:v>估值</c:v>
                </c:pt>
                <c:pt idx="2">
                  <c:v>资金面</c:v>
                </c:pt>
                <c:pt idx="3">
                  <c:v>景气度</c:v>
                </c:pt>
                <c:pt idx="4">
                  <c:v>拥挤度</c:v>
                </c:pt>
                <c:pt idx="5">
                  <c:v>技术面</c:v>
                </c:pt>
              </c:strCache>
            </c:strRef>
          </c:cat>
          <c:val>
            <c:numRef>
              <c:f>做图!$C$17:$H$17</c:f>
              <c:numCache>
                <c:formatCode>0.0</c:formatCode>
                <c:ptCount val="6"/>
                <c:pt idx="0">
                  <c:v>3.5</c:v>
                </c:pt>
                <c:pt idx="1">
                  <c:v>3.3714285714285701</c:v>
                </c:pt>
                <c:pt idx="2">
                  <c:v>2.8571428571428599</c:v>
                </c:pt>
                <c:pt idx="3">
                  <c:v>2.6857142857142899</c:v>
                </c:pt>
                <c:pt idx="4">
                  <c:v>2.0857142857142899</c:v>
                </c:pt>
                <c:pt idx="5">
                  <c:v>3.5</c:v>
                </c:pt>
              </c:numCache>
            </c:numRef>
          </c:val>
          <c:extLst>
            <c:ext xmlns:c16="http://schemas.microsoft.com/office/drawing/2014/chart" uri="{C3380CC4-5D6E-409C-BE32-E72D297353CC}">
              <c16:uniqueId val="{00000000-923C-4CE9-A2EE-3DA60D7D38BD}"/>
            </c:ext>
          </c:extLst>
        </c:ser>
        <c:dLbls>
          <c:showLegendKey val="0"/>
          <c:showVal val="0"/>
          <c:showCatName val="0"/>
          <c:showSerName val="0"/>
          <c:showPercent val="0"/>
          <c:showBubbleSize val="0"/>
        </c:dLbls>
        <c:axId val="807831856"/>
        <c:axId val="807832512"/>
      </c:radarChart>
      <c:catAx>
        <c:axId val="807831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楷体" panose="02010609060101010101" pitchFamily="49" charset="-122"/>
                <a:ea typeface="楷体" panose="02010609060101010101" pitchFamily="49" charset="-122"/>
                <a:cs typeface="+mn-cs"/>
              </a:defRPr>
            </a:pPr>
            <a:endParaRPr lang="zh-CN"/>
          </a:p>
        </c:txPr>
        <c:crossAx val="807832512"/>
        <c:crosses val="autoZero"/>
        <c:auto val="1"/>
        <c:lblAlgn val="ctr"/>
        <c:lblOffset val="100"/>
        <c:noMultiLvlLbl val="0"/>
      </c:catAx>
      <c:valAx>
        <c:axId val="807832512"/>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807831856"/>
        <c:crosses val="autoZero"/>
        <c:crossBetween val="between"/>
        <c:majorUnit val="1"/>
      </c:valAx>
      <c:spPr>
        <a:noFill/>
        <a:ln>
          <a:noFill/>
        </a:ln>
        <a:effectLst/>
      </c:spPr>
    </c:plotArea>
    <c:plotVisOnly val="1"/>
    <c:dispBlanksAs val="gap"/>
    <c:showDLblsOverMax val="0"/>
  </c:chart>
  <c:spPr>
    <a:noFill/>
    <a:ln>
      <a:noFill/>
    </a:ln>
    <a:effectLst/>
  </c:spPr>
  <c:txPr>
    <a:bodyPr/>
    <a:lstStyle/>
    <a:p>
      <a:pPr>
        <a:defRPr lang="zh-CN" sz="1200">
          <a:latin typeface="楷体" panose="02010609060101010101" pitchFamily="49" charset="-122"/>
          <a:ea typeface="楷体" panose="02010609060101010101" pitchFamily="49" charset="-122"/>
        </a:defRPr>
      </a:pPr>
      <a:endParaRPr lang="zh-CN"/>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a:pPr>
            <a:r>
              <a:rPr lang="zh-CN"/>
              <a:t>沪深</a:t>
            </a:r>
            <a:r>
              <a:rPr lang="en-US"/>
              <a:t>300</a:t>
            </a:r>
            <a:r>
              <a:rPr lang="zh-CN"/>
              <a:t>增强</a:t>
            </a:r>
            <a:r>
              <a:rPr lang="en-US"/>
              <a:t>ETF</a:t>
            </a:r>
            <a:r>
              <a:rPr lang="zh-CN"/>
              <a:t>超额收益净值</a:t>
            </a:r>
          </a:p>
        </c:rich>
      </c:tx>
      <c:overlay val="0"/>
      <c:spPr>
        <a:noFill/>
        <a:ln>
          <a:noFill/>
          <a:prstDash val="solid"/>
        </a:ln>
      </c:spPr>
    </c:title>
    <c:autoTitleDeleted val="0"/>
    <c:plotArea>
      <c:layout/>
      <c:areaChart>
        <c:grouping val="standard"/>
        <c:varyColors val="0"/>
        <c:ser>
          <c:idx val="2"/>
          <c:order val="0"/>
          <c:tx>
            <c:strRef>
              <c:f>'3.file'!$K$2</c:f>
              <c:strCache>
                <c:ptCount val="1"/>
                <c:pt idx="0">
                  <c:v>累计超额净值</c:v>
                </c:pt>
              </c:strCache>
            </c:strRef>
          </c:tx>
          <c:spPr>
            <a:solidFill>
              <a:schemeClr val="accent3"/>
            </a:solidFill>
            <a:ln>
              <a:noFill/>
              <a:prstDash val="solid"/>
            </a:ln>
          </c:spPr>
          <c:cat>
            <c:numRef>
              <c:f>[0]!日期</c:f>
              <c:numCache>
                <c:formatCode>yyyy\-mm\-dd</c:formatCode>
                <c:ptCount val="730"/>
                <c:pt idx="0">
                  <c:v>44936</c:v>
                </c:pt>
                <c:pt idx="1">
                  <c:v>44937</c:v>
                </c:pt>
                <c:pt idx="2">
                  <c:v>44938</c:v>
                </c:pt>
                <c:pt idx="3">
                  <c:v>44939</c:v>
                </c:pt>
                <c:pt idx="4">
                  <c:v>44942</c:v>
                </c:pt>
                <c:pt idx="5">
                  <c:v>44943</c:v>
                </c:pt>
                <c:pt idx="6">
                  <c:v>44944</c:v>
                </c:pt>
                <c:pt idx="7">
                  <c:v>44945</c:v>
                </c:pt>
                <c:pt idx="8">
                  <c:v>44946</c:v>
                </c:pt>
                <c:pt idx="9">
                  <c:v>44956</c:v>
                </c:pt>
                <c:pt idx="10">
                  <c:v>44957</c:v>
                </c:pt>
                <c:pt idx="11">
                  <c:v>44958</c:v>
                </c:pt>
                <c:pt idx="12">
                  <c:v>44959</c:v>
                </c:pt>
                <c:pt idx="13">
                  <c:v>44960</c:v>
                </c:pt>
                <c:pt idx="14">
                  <c:v>44963</c:v>
                </c:pt>
                <c:pt idx="15">
                  <c:v>44964</c:v>
                </c:pt>
                <c:pt idx="16">
                  <c:v>44965</c:v>
                </c:pt>
                <c:pt idx="17">
                  <c:v>44966</c:v>
                </c:pt>
                <c:pt idx="18">
                  <c:v>44967</c:v>
                </c:pt>
                <c:pt idx="19">
                  <c:v>44970</c:v>
                </c:pt>
                <c:pt idx="20">
                  <c:v>44971</c:v>
                </c:pt>
                <c:pt idx="21">
                  <c:v>44972</c:v>
                </c:pt>
                <c:pt idx="22">
                  <c:v>44973</c:v>
                </c:pt>
                <c:pt idx="23">
                  <c:v>44974</c:v>
                </c:pt>
                <c:pt idx="24">
                  <c:v>44977</c:v>
                </c:pt>
                <c:pt idx="25">
                  <c:v>44978</c:v>
                </c:pt>
                <c:pt idx="26">
                  <c:v>44979</c:v>
                </c:pt>
                <c:pt idx="27">
                  <c:v>44980</c:v>
                </c:pt>
                <c:pt idx="28">
                  <c:v>44981</c:v>
                </c:pt>
                <c:pt idx="29">
                  <c:v>44984</c:v>
                </c:pt>
                <c:pt idx="30">
                  <c:v>44985</c:v>
                </c:pt>
                <c:pt idx="31">
                  <c:v>44986</c:v>
                </c:pt>
                <c:pt idx="32">
                  <c:v>44987</c:v>
                </c:pt>
                <c:pt idx="33">
                  <c:v>44988</c:v>
                </c:pt>
                <c:pt idx="34">
                  <c:v>44991</c:v>
                </c:pt>
                <c:pt idx="35">
                  <c:v>44992</c:v>
                </c:pt>
                <c:pt idx="36">
                  <c:v>44993</c:v>
                </c:pt>
                <c:pt idx="37">
                  <c:v>44994</c:v>
                </c:pt>
                <c:pt idx="38">
                  <c:v>44995</c:v>
                </c:pt>
                <c:pt idx="39">
                  <c:v>44998</c:v>
                </c:pt>
                <c:pt idx="40">
                  <c:v>44999</c:v>
                </c:pt>
                <c:pt idx="41">
                  <c:v>45000</c:v>
                </c:pt>
                <c:pt idx="42">
                  <c:v>45001</c:v>
                </c:pt>
                <c:pt idx="43">
                  <c:v>45002</c:v>
                </c:pt>
                <c:pt idx="44">
                  <c:v>45005</c:v>
                </c:pt>
                <c:pt idx="45">
                  <c:v>45006</c:v>
                </c:pt>
                <c:pt idx="46">
                  <c:v>45007</c:v>
                </c:pt>
                <c:pt idx="47">
                  <c:v>45008</c:v>
                </c:pt>
                <c:pt idx="48">
                  <c:v>45009</c:v>
                </c:pt>
                <c:pt idx="49">
                  <c:v>45012</c:v>
                </c:pt>
                <c:pt idx="50">
                  <c:v>45013</c:v>
                </c:pt>
                <c:pt idx="51">
                  <c:v>45014</c:v>
                </c:pt>
                <c:pt idx="52">
                  <c:v>45015</c:v>
                </c:pt>
                <c:pt idx="53">
                  <c:v>45016</c:v>
                </c:pt>
                <c:pt idx="54">
                  <c:v>45019</c:v>
                </c:pt>
                <c:pt idx="55">
                  <c:v>45020</c:v>
                </c:pt>
                <c:pt idx="56">
                  <c:v>45022</c:v>
                </c:pt>
                <c:pt idx="57">
                  <c:v>45023</c:v>
                </c:pt>
                <c:pt idx="58">
                  <c:v>45026</c:v>
                </c:pt>
                <c:pt idx="59">
                  <c:v>45027</c:v>
                </c:pt>
                <c:pt idx="60">
                  <c:v>45028</c:v>
                </c:pt>
                <c:pt idx="61">
                  <c:v>45029</c:v>
                </c:pt>
                <c:pt idx="62">
                  <c:v>45030</c:v>
                </c:pt>
                <c:pt idx="63">
                  <c:v>45033</c:v>
                </c:pt>
                <c:pt idx="64">
                  <c:v>45034</c:v>
                </c:pt>
                <c:pt idx="65">
                  <c:v>45035</c:v>
                </c:pt>
                <c:pt idx="66">
                  <c:v>45036</c:v>
                </c:pt>
                <c:pt idx="67">
                  <c:v>45037</c:v>
                </c:pt>
                <c:pt idx="68">
                  <c:v>45040</c:v>
                </c:pt>
                <c:pt idx="69">
                  <c:v>45041</c:v>
                </c:pt>
                <c:pt idx="70">
                  <c:v>45042</c:v>
                </c:pt>
                <c:pt idx="71">
                  <c:v>45043</c:v>
                </c:pt>
                <c:pt idx="72">
                  <c:v>45044</c:v>
                </c:pt>
                <c:pt idx="73">
                  <c:v>45050</c:v>
                </c:pt>
                <c:pt idx="74">
                  <c:v>45051</c:v>
                </c:pt>
                <c:pt idx="75">
                  <c:v>45054</c:v>
                </c:pt>
                <c:pt idx="76">
                  <c:v>45055</c:v>
                </c:pt>
                <c:pt idx="77">
                  <c:v>45056</c:v>
                </c:pt>
                <c:pt idx="78">
                  <c:v>45057</c:v>
                </c:pt>
                <c:pt idx="79">
                  <c:v>45058</c:v>
                </c:pt>
                <c:pt idx="80">
                  <c:v>45061</c:v>
                </c:pt>
                <c:pt idx="81">
                  <c:v>45062</c:v>
                </c:pt>
                <c:pt idx="82">
                  <c:v>45063</c:v>
                </c:pt>
                <c:pt idx="83">
                  <c:v>45064</c:v>
                </c:pt>
                <c:pt idx="84">
                  <c:v>45065</c:v>
                </c:pt>
                <c:pt idx="85">
                  <c:v>45068</c:v>
                </c:pt>
                <c:pt idx="86">
                  <c:v>45069</c:v>
                </c:pt>
                <c:pt idx="87">
                  <c:v>45070</c:v>
                </c:pt>
                <c:pt idx="88">
                  <c:v>45071</c:v>
                </c:pt>
                <c:pt idx="89">
                  <c:v>45072</c:v>
                </c:pt>
                <c:pt idx="90">
                  <c:v>45075</c:v>
                </c:pt>
                <c:pt idx="91">
                  <c:v>45076</c:v>
                </c:pt>
                <c:pt idx="92">
                  <c:v>45077</c:v>
                </c:pt>
                <c:pt idx="93">
                  <c:v>45078</c:v>
                </c:pt>
                <c:pt idx="94">
                  <c:v>45079</c:v>
                </c:pt>
                <c:pt idx="95">
                  <c:v>45082</c:v>
                </c:pt>
                <c:pt idx="96">
                  <c:v>45083</c:v>
                </c:pt>
                <c:pt idx="97">
                  <c:v>45084</c:v>
                </c:pt>
                <c:pt idx="98">
                  <c:v>45085</c:v>
                </c:pt>
                <c:pt idx="99">
                  <c:v>45086</c:v>
                </c:pt>
                <c:pt idx="100">
                  <c:v>45089</c:v>
                </c:pt>
                <c:pt idx="101">
                  <c:v>45090</c:v>
                </c:pt>
                <c:pt idx="102">
                  <c:v>45091</c:v>
                </c:pt>
                <c:pt idx="103">
                  <c:v>45092</c:v>
                </c:pt>
                <c:pt idx="104">
                  <c:v>45093</c:v>
                </c:pt>
                <c:pt idx="105">
                  <c:v>45096</c:v>
                </c:pt>
                <c:pt idx="106">
                  <c:v>45097</c:v>
                </c:pt>
                <c:pt idx="107">
                  <c:v>45098</c:v>
                </c:pt>
                <c:pt idx="108">
                  <c:v>45103</c:v>
                </c:pt>
                <c:pt idx="109">
                  <c:v>45104</c:v>
                </c:pt>
                <c:pt idx="110">
                  <c:v>45105</c:v>
                </c:pt>
                <c:pt idx="111">
                  <c:v>45106</c:v>
                </c:pt>
                <c:pt idx="112">
                  <c:v>45107</c:v>
                </c:pt>
                <c:pt idx="113">
                  <c:v>45110</c:v>
                </c:pt>
                <c:pt idx="114">
                  <c:v>45111</c:v>
                </c:pt>
                <c:pt idx="115">
                  <c:v>45112</c:v>
                </c:pt>
                <c:pt idx="116">
                  <c:v>45113</c:v>
                </c:pt>
                <c:pt idx="117">
                  <c:v>45114</c:v>
                </c:pt>
                <c:pt idx="118">
                  <c:v>45117</c:v>
                </c:pt>
                <c:pt idx="119">
                  <c:v>45118</c:v>
                </c:pt>
                <c:pt idx="120">
                  <c:v>45119</c:v>
                </c:pt>
                <c:pt idx="121">
                  <c:v>45120</c:v>
                </c:pt>
                <c:pt idx="122">
                  <c:v>45121</c:v>
                </c:pt>
                <c:pt idx="123">
                  <c:v>45124</c:v>
                </c:pt>
                <c:pt idx="124">
                  <c:v>45125</c:v>
                </c:pt>
                <c:pt idx="125">
                  <c:v>45126</c:v>
                </c:pt>
                <c:pt idx="126">
                  <c:v>45127</c:v>
                </c:pt>
                <c:pt idx="127">
                  <c:v>45128</c:v>
                </c:pt>
                <c:pt idx="128">
                  <c:v>45131</c:v>
                </c:pt>
                <c:pt idx="129">
                  <c:v>45132</c:v>
                </c:pt>
                <c:pt idx="130">
                  <c:v>45133</c:v>
                </c:pt>
                <c:pt idx="131">
                  <c:v>45134</c:v>
                </c:pt>
                <c:pt idx="132">
                  <c:v>45135</c:v>
                </c:pt>
                <c:pt idx="133">
                  <c:v>45138</c:v>
                </c:pt>
                <c:pt idx="134">
                  <c:v>45139</c:v>
                </c:pt>
                <c:pt idx="135">
                  <c:v>45140</c:v>
                </c:pt>
                <c:pt idx="136">
                  <c:v>45141</c:v>
                </c:pt>
                <c:pt idx="137">
                  <c:v>45142</c:v>
                </c:pt>
                <c:pt idx="138">
                  <c:v>45145</c:v>
                </c:pt>
                <c:pt idx="139">
                  <c:v>45146</c:v>
                </c:pt>
                <c:pt idx="140">
                  <c:v>45147</c:v>
                </c:pt>
                <c:pt idx="141">
                  <c:v>45148</c:v>
                </c:pt>
                <c:pt idx="142">
                  <c:v>45149</c:v>
                </c:pt>
                <c:pt idx="143">
                  <c:v>45152</c:v>
                </c:pt>
                <c:pt idx="144">
                  <c:v>45153</c:v>
                </c:pt>
                <c:pt idx="145">
                  <c:v>45154</c:v>
                </c:pt>
                <c:pt idx="146">
                  <c:v>45155</c:v>
                </c:pt>
                <c:pt idx="147">
                  <c:v>45156</c:v>
                </c:pt>
                <c:pt idx="148">
                  <c:v>45159</c:v>
                </c:pt>
                <c:pt idx="149">
                  <c:v>45160</c:v>
                </c:pt>
                <c:pt idx="150">
                  <c:v>45161</c:v>
                </c:pt>
                <c:pt idx="151">
                  <c:v>45162</c:v>
                </c:pt>
                <c:pt idx="152">
                  <c:v>45163</c:v>
                </c:pt>
                <c:pt idx="153">
                  <c:v>45166</c:v>
                </c:pt>
                <c:pt idx="154">
                  <c:v>45167</c:v>
                </c:pt>
                <c:pt idx="155">
                  <c:v>45168</c:v>
                </c:pt>
                <c:pt idx="156">
                  <c:v>45169</c:v>
                </c:pt>
                <c:pt idx="157">
                  <c:v>45170</c:v>
                </c:pt>
                <c:pt idx="158">
                  <c:v>45173</c:v>
                </c:pt>
                <c:pt idx="159">
                  <c:v>45174</c:v>
                </c:pt>
                <c:pt idx="160">
                  <c:v>45175</c:v>
                </c:pt>
                <c:pt idx="161">
                  <c:v>45176</c:v>
                </c:pt>
                <c:pt idx="162">
                  <c:v>45177</c:v>
                </c:pt>
                <c:pt idx="163">
                  <c:v>45180</c:v>
                </c:pt>
                <c:pt idx="164">
                  <c:v>45181</c:v>
                </c:pt>
                <c:pt idx="165">
                  <c:v>45182</c:v>
                </c:pt>
                <c:pt idx="166">
                  <c:v>45183</c:v>
                </c:pt>
                <c:pt idx="167">
                  <c:v>45184</c:v>
                </c:pt>
                <c:pt idx="168">
                  <c:v>45187</c:v>
                </c:pt>
                <c:pt idx="169">
                  <c:v>45188</c:v>
                </c:pt>
                <c:pt idx="170">
                  <c:v>45189</c:v>
                </c:pt>
                <c:pt idx="171">
                  <c:v>45190</c:v>
                </c:pt>
                <c:pt idx="172">
                  <c:v>45191</c:v>
                </c:pt>
                <c:pt idx="173">
                  <c:v>45194</c:v>
                </c:pt>
                <c:pt idx="174">
                  <c:v>45195</c:v>
                </c:pt>
                <c:pt idx="175">
                  <c:v>45196</c:v>
                </c:pt>
                <c:pt idx="176">
                  <c:v>45197</c:v>
                </c:pt>
                <c:pt idx="177">
                  <c:v>45208</c:v>
                </c:pt>
                <c:pt idx="178">
                  <c:v>45209</c:v>
                </c:pt>
                <c:pt idx="179">
                  <c:v>45210</c:v>
                </c:pt>
                <c:pt idx="180">
                  <c:v>45211</c:v>
                </c:pt>
                <c:pt idx="181">
                  <c:v>45212</c:v>
                </c:pt>
                <c:pt idx="182">
                  <c:v>45215</c:v>
                </c:pt>
                <c:pt idx="183">
                  <c:v>45216</c:v>
                </c:pt>
                <c:pt idx="184">
                  <c:v>45217</c:v>
                </c:pt>
                <c:pt idx="185">
                  <c:v>45218</c:v>
                </c:pt>
                <c:pt idx="186">
                  <c:v>45219</c:v>
                </c:pt>
                <c:pt idx="187">
                  <c:v>45222</c:v>
                </c:pt>
                <c:pt idx="188">
                  <c:v>45223</c:v>
                </c:pt>
                <c:pt idx="189">
                  <c:v>45224</c:v>
                </c:pt>
                <c:pt idx="190">
                  <c:v>45225</c:v>
                </c:pt>
                <c:pt idx="191">
                  <c:v>45226</c:v>
                </c:pt>
                <c:pt idx="192">
                  <c:v>45229</c:v>
                </c:pt>
                <c:pt idx="193">
                  <c:v>45230</c:v>
                </c:pt>
                <c:pt idx="194">
                  <c:v>45231</c:v>
                </c:pt>
                <c:pt idx="195">
                  <c:v>45232</c:v>
                </c:pt>
                <c:pt idx="196">
                  <c:v>45233</c:v>
                </c:pt>
                <c:pt idx="197">
                  <c:v>45236</c:v>
                </c:pt>
                <c:pt idx="198">
                  <c:v>45237</c:v>
                </c:pt>
                <c:pt idx="199">
                  <c:v>45238</c:v>
                </c:pt>
                <c:pt idx="200">
                  <c:v>45239</c:v>
                </c:pt>
                <c:pt idx="201">
                  <c:v>45240</c:v>
                </c:pt>
                <c:pt idx="202">
                  <c:v>45243</c:v>
                </c:pt>
                <c:pt idx="203">
                  <c:v>45244</c:v>
                </c:pt>
                <c:pt idx="204">
                  <c:v>45245</c:v>
                </c:pt>
                <c:pt idx="205">
                  <c:v>45246</c:v>
                </c:pt>
                <c:pt idx="206">
                  <c:v>45247</c:v>
                </c:pt>
                <c:pt idx="207">
                  <c:v>45250</c:v>
                </c:pt>
                <c:pt idx="208">
                  <c:v>45251</c:v>
                </c:pt>
                <c:pt idx="209">
                  <c:v>45252</c:v>
                </c:pt>
                <c:pt idx="210">
                  <c:v>45253</c:v>
                </c:pt>
                <c:pt idx="211">
                  <c:v>45254</c:v>
                </c:pt>
                <c:pt idx="212">
                  <c:v>45257</c:v>
                </c:pt>
                <c:pt idx="213">
                  <c:v>45258</c:v>
                </c:pt>
                <c:pt idx="214">
                  <c:v>45259</c:v>
                </c:pt>
                <c:pt idx="215">
                  <c:v>45260</c:v>
                </c:pt>
                <c:pt idx="216">
                  <c:v>45261</c:v>
                </c:pt>
                <c:pt idx="217">
                  <c:v>45264</c:v>
                </c:pt>
                <c:pt idx="218">
                  <c:v>45265</c:v>
                </c:pt>
                <c:pt idx="219">
                  <c:v>45266</c:v>
                </c:pt>
                <c:pt idx="220">
                  <c:v>45267</c:v>
                </c:pt>
                <c:pt idx="221">
                  <c:v>45268</c:v>
                </c:pt>
                <c:pt idx="222">
                  <c:v>45271</c:v>
                </c:pt>
                <c:pt idx="223">
                  <c:v>45272</c:v>
                </c:pt>
                <c:pt idx="224">
                  <c:v>45273</c:v>
                </c:pt>
                <c:pt idx="225">
                  <c:v>45274</c:v>
                </c:pt>
                <c:pt idx="226">
                  <c:v>45275</c:v>
                </c:pt>
                <c:pt idx="227">
                  <c:v>45278</c:v>
                </c:pt>
                <c:pt idx="228">
                  <c:v>45279</c:v>
                </c:pt>
                <c:pt idx="229">
                  <c:v>45280</c:v>
                </c:pt>
                <c:pt idx="230">
                  <c:v>45281</c:v>
                </c:pt>
                <c:pt idx="231">
                  <c:v>45282</c:v>
                </c:pt>
                <c:pt idx="232">
                  <c:v>45285</c:v>
                </c:pt>
                <c:pt idx="233">
                  <c:v>45286</c:v>
                </c:pt>
                <c:pt idx="234">
                  <c:v>45287</c:v>
                </c:pt>
                <c:pt idx="235">
                  <c:v>45288</c:v>
                </c:pt>
                <c:pt idx="236">
                  <c:v>45289</c:v>
                </c:pt>
                <c:pt idx="237">
                  <c:v>45293</c:v>
                </c:pt>
                <c:pt idx="238">
                  <c:v>45294</c:v>
                </c:pt>
                <c:pt idx="239">
                  <c:v>45295</c:v>
                </c:pt>
                <c:pt idx="240">
                  <c:v>45296</c:v>
                </c:pt>
                <c:pt idx="241">
                  <c:v>45299</c:v>
                </c:pt>
                <c:pt idx="242">
                  <c:v>45300</c:v>
                </c:pt>
                <c:pt idx="243">
                  <c:v>45301</c:v>
                </c:pt>
                <c:pt idx="244">
                  <c:v>45302</c:v>
                </c:pt>
                <c:pt idx="245">
                  <c:v>45303</c:v>
                </c:pt>
                <c:pt idx="246">
                  <c:v>45306</c:v>
                </c:pt>
                <c:pt idx="247">
                  <c:v>45307</c:v>
                </c:pt>
                <c:pt idx="248">
                  <c:v>45308</c:v>
                </c:pt>
                <c:pt idx="249">
                  <c:v>45309</c:v>
                </c:pt>
                <c:pt idx="250">
                  <c:v>45310</c:v>
                </c:pt>
                <c:pt idx="251">
                  <c:v>45313</c:v>
                </c:pt>
                <c:pt idx="252">
                  <c:v>45314</c:v>
                </c:pt>
                <c:pt idx="253">
                  <c:v>45315</c:v>
                </c:pt>
                <c:pt idx="254">
                  <c:v>45316</c:v>
                </c:pt>
                <c:pt idx="255">
                  <c:v>45317</c:v>
                </c:pt>
                <c:pt idx="256">
                  <c:v>45320</c:v>
                </c:pt>
                <c:pt idx="257">
                  <c:v>45321</c:v>
                </c:pt>
                <c:pt idx="258">
                  <c:v>45322</c:v>
                </c:pt>
                <c:pt idx="259">
                  <c:v>45323</c:v>
                </c:pt>
                <c:pt idx="260">
                  <c:v>45324</c:v>
                </c:pt>
                <c:pt idx="261">
                  <c:v>45327</c:v>
                </c:pt>
                <c:pt idx="262">
                  <c:v>45328</c:v>
                </c:pt>
                <c:pt idx="263">
                  <c:v>45329</c:v>
                </c:pt>
                <c:pt idx="264">
                  <c:v>45330</c:v>
                </c:pt>
                <c:pt idx="265">
                  <c:v>45341</c:v>
                </c:pt>
                <c:pt idx="266">
                  <c:v>45342</c:v>
                </c:pt>
                <c:pt idx="267">
                  <c:v>45343</c:v>
                </c:pt>
                <c:pt idx="268">
                  <c:v>45344</c:v>
                </c:pt>
                <c:pt idx="269">
                  <c:v>45345</c:v>
                </c:pt>
                <c:pt idx="270">
                  <c:v>45348</c:v>
                </c:pt>
                <c:pt idx="271">
                  <c:v>45349</c:v>
                </c:pt>
                <c:pt idx="272">
                  <c:v>45350</c:v>
                </c:pt>
                <c:pt idx="273">
                  <c:v>45351</c:v>
                </c:pt>
                <c:pt idx="274">
                  <c:v>45352</c:v>
                </c:pt>
                <c:pt idx="275">
                  <c:v>45355</c:v>
                </c:pt>
                <c:pt idx="276">
                  <c:v>45356</c:v>
                </c:pt>
                <c:pt idx="277">
                  <c:v>45357</c:v>
                </c:pt>
                <c:pt idx="278">
                  <c:v>45358</c:v>
                </c:pt>
                <c:pt idx="279">
                  <c:v>45359</c:v>
                </c:pt>
                <c:pt idx="280">
                  <c:v>45362</c:v>
                </c:pt>
                <c:pt idx="281">
                  <c:v>45363</c:v>
                </c:pt>
                <c:pt idx="282">
                  <c:v>45364</c:v>
                </c:pt>
                <c:pt idx="283">
                  <c:v>45365</c:v>
                </c:pt>
                <c:pt idx="284">
                  <c:v>45366</c:v>
                </c:pt>
                <c:pt idx="285">
                  <c:v>45369</c:v>
                </c:pt>
                <c:pt idx="286">
                  <c:v>45370</c:v>
                </c:pt>
                <c:pt idx="287">
                  <c:v>45371</c:v>
                </c:pt>
                <c:pt idx="288">
                  <c:v>45372</c:v>
                </c:pt>
                <c:pt idx="289">
                  <c:v>45373</c:v>
                </c:pt>
                <c:pt idx="290">
                  <c:v>45376</c:v>
                </c:pt>
                <c:pt idx="291">
                  <c:v>45377</c:v>
                </c:pt>
                <c:pt idx="292">
                  <c:v>45378</c:v>
                </c:pt>
                <c:pt idx="293">
                  <c:v>45379</c:v>
                </c:pt>
                <c:pt idx="294">
                  <c:v>45380</c:v>
                </c:pt>
                <c:pt idx="295">
                  <c:v>45383</c:v>
                </c:pt>
                <c:pt idx="296">
                  <c:v>45384</c:v>
                </c:pt>
                <c:pt idx="297">
                  <c:v>45385</c:v>
                </c:pt>
                <c:pt idx="298">
                  <c:v>45390</c:v>
                </c:pt>
                <c:pt idx="299">
                  <c:v>45391</c:v>
                </c:pt>
                <c:pt idx="300">
                  <c:v>45392</c:v>
                </c:pt>
                <c:pt idx="301">
                  <c:v>45393</c:v>
                </c:pt>
                <c:pt idx="302">
                  <c:v>45394</c:v>
                </c:pt>
                <c:pt idx="303">
                  <c:v>45397</c:v>
                </c:pt>
                <c:pt idx="304">
                  <c:v>45398</c:v>
                </c:pt>
                <c:pt idx="305">
                  <c:v>45399</c:v>
                </c:pt>
                <c:pt idx="306">
                  <c:v>45400</c:v>
                </c:pt>
                <c:pt idx="307">
                  <c:v>45401</c:v>
                </c:pt>
                <c:pt idx="308">
                  <c:v>45404</c:v>
                </c:pt>
                <c:pt idx="309">
                  <c:v>45405</c:v>
                </c:pt>
                <c:pt idx="310">
                  <c:v>45406</c:v>
                </c:pt>
                <c:pt idx="311">
                  <c:v>45407</c:v>
                </c:pt>
                <c:pt idx="312">
                  <c:v>45408</c:v>
                </c:pt>
                <c:pt idx="313">
                  <c:v>45411</c:v>
                </c:pt>
                <c:pt idx="314">
                  <c:v>45412</c:v>
                </c:pt>
                <c:pt idx="315">
                  <c:v>45418</c:v>
                </c:pt>
                <c:pt idx="316">
                  <c:v>45419</c:v>
                </c:pt>
                <c:pt idx="317">
                  <c:v>45420</c:v>
                </c:pt>
                <c:pt idx="318">
                  <c:v>45421</c:v>
                </c:pt>
                <c:pt idx="319">
                  <c:v>45422</c:v>
                </c:pt>
                <c:pt idx="320">
                  <c:v>45425</c:v>
                </c:pt>
                <c:pt idx="321">
                  <c:v>45426</c:v>
                </c:pt>
                <c:pt idx="322">
                  <c:v>45427</c:v>
                </c:pt>
                <c:pt idx="323">
                  <c:v>45428</c:v>
                </c:pt>
                <c:pt idx="324">
                  <c:v>45429</c:v>
                </c:pt>
                <c:pt idx="325">
                  <c:v>45432</c:v>
                </c:pt>
                <c:pt idx="326">
                  <c:v>45433</c:v>
                </c:pt>
                <c:pt idx="327">
                  <c:v>45434</c:v>
                </c:pt>
                <c:pt idx="328">
                  <c:v>45435</c:v>
                </c:pt>
                <c:pt idx="329">
                  <c:v>45436</c:v>
                </c:pt>
                <c:pt idx="330">
                  <c:v>45439</c:v>
                </c:pt>
                <c:pt idx="331">
                  <c:v>45440</c:v>
                </c:pt>
                <c:pt idx="332">
                  <c:v>45441</c:v>
                </c:pt>
                <c:pt idx="333">
                  <c:v>45442</c:v>
                </c:pt>
                <c:pt idx="334">
                  <c:v>45443</c:v>
                </c:pt>
                <c:pt idx="335">
                  <c:v>45446</c:v>
                </c:pt>
                <c:pt idx="336">
                  <c:v>45447</c:v>
                </c:pt>
                <c:pt idx="337">
                  <c:v>45448</c:v>
                </c:pt>
                <c:pt idx="338">
                  <c:v>45449</c:v>
                </c:pt>
                <c:pt idx="339">
                  <c:v>45450</c:v>
                </c:pt>
                <c:pt idx="340">
                  <c:v>45454</c:v>
                </c:pt>
                <c:pt idx="341">
                  <c:v>45455</c:v>
                </c:pt>
                <c:pt idx="342">
                  <c:v>45456</c:v>
                </c:pt>
                <c:pt idx="343">
                  <c:v>45457</c:v>
                </c:pt>
                <c:pt idx="344">
                  <c:v>45460</c:v>
                </c:pt>
                <c:pt idx="345">
                  <c:v>45461</c:v>
                </c:pt>
                <c:pt idx="346">
                  <c:v>45462</c:v>
                </c:pt>
                <c:pt idx="347">
                  <c:v>45463</c:v>
                </c:pt>
                <c:pt idx="348">
                  <c:v>45464</c:v>
                </c:pt>
                <c:pt idx="349">
                  <c:v>45467</c:v>
                </c:pt>
                <c:pt idx="350">
                  <c:v>45468</c:v>
                </c:pt>
                <c:pt idx="351">
                  <c:v>45469</c:v>
                </c:pt>
                <c:pt idx="352">
                  <c:v>45470</c:v>
                </c:pt>
                <c:pt idx="353">
                  <c:v>45471</c:v>
                </c:pt>
                <c:pt idx="354">
                  <c:v>45474</c:v>
                </c:pt>
                <c:pt idx="355">
                  <c:v>45475</c:v>
                </c:pt>
                <c:pt idx="356">
                  <c:v>45476</c:v>
                </c:pt>
                <c:pt idx="357">
                  <c:v>45477</c:v>
                </c:pt>
                <c:pt idx="358">
                  <c:v>45478</c:v>
                </c:pt>
                <c:pt idx="359">
                  <c:v>45481</c:v>
                </c:pt>
                <c:pt idx="360">
                  <c:v>45482</c:v>
                </c:pt>
                <c:pt idx="361">
                  <c:v>45483</c:v>
                </c:pt>
                <c:pt idx="362">
                  <c:v>45484</c:v>
                </c:pt>
                <c:pt idx="363">
                  <c:v>45485</c:v>
                </c:pt>
                <c:pt idx="364">
                  <c:v>45488</c:v>
                </c:pt>
                <c:pt idx="365">
                  <c:v>45489</c:v>
                </c:pt>
                <c:pt idx="366">
                  <c:v>45490</c:v>
                </c:pt>
                <c:pt idx="367">
                  <c:v>45491</c:v>
                </c:pt>
                <c:pt idx="368">
                  <c:v>45492</c:v>
                </c:pt>
                <c:pt idx="369">
                  <c:v>45495</c:v>
                </c:pt>
                <c:pt idx="370">
                  <c:v>45496</c:v>
                </c:pt>
                <c:pt idx="371">
                  <c:v>45497</c:v>
                </c:pt>
                <c:pt idx="372">
                  <c:v>45498</c:v>
                </c:pt>
                <c:pt idx="373">
                  <c:v>45499</c:v>
                </c:pt>
                <c:pt idx="374">
                  <c:v>45502</c:v>
                </c:pt>
                <c:pt idx="375">
                  <c:v>45503</c:v>
                </c:pt>
                <c:pt idx="376">
                  <c:v>45504</c:v>
                </c:pt>
                <c:pt idx="377">
                  <c:v>45505</c:v>
                </c:pt>
                <c:pt idx="378">
                  <c:v>45506</c:v>
                </c:pt>
                <c:pt idx="379">
                  <c:v>45509</c:v>
                </c:pt>
                <c:pt idx="380">
                  <c:v>45510</c:v>
                </c:pt>
                <c:pt idx="381">
                  <c:v>45511</c:v>
                </c:pt>
                <c:pt idx="382">
                  <c:v>45512</c:v>
                </c:pt>
                <c:pt idx="383">
                  <c:v>45513</c:v>
                </c:pt>
                <c:pt idx="384">
                  <c:v>45516</c:v>
                </c:pt>
                <c:pt idx="385">
                  <c:v>45517</c:v>
                </c:pt>
                <c:pt idx="386">
                  <c:v>45518</c:v>
                </c:pt>
                <c:pt idx="387">
                  <c:v>45519</c:v>
                </c:pt>
                <c:pt idx="388">
                  <c:v>45520</c:v>
                </c:pt>
                <c:pt idx="389">
                  <c:v>45523</c:v>
                </c:pt>
                <c:pt idx="390">
                  <c:v>45524</c:v>
                </c:pt>
                <c:pt idx="391">
                  <c:v>45525</c:v>
                </c:pt>
                <c:pt idx="392">
                  <c:v>45526</c:v>
                </c:pt>
                <c:pt idx="393">
                  <c:v>45527</c:v>
                </c:pt>
                <c:pt idx="394">
                  <c:v>45530</c:v>
                </c:pt>
                <c:pt idx="395">
                  <c:v>45531</c:v>
                </c:pt>
                <c:pt idx="396">
                  <c:v>45532</c:v>
                </c:pt>
                <c:pt idx="397">
                  <c:v>45533</c:v>
                </c:pt>
                <c:pt idx="398">
                  <c:v>45534</c:v>
                </c:pt>
                <c:pt idx="399">
                  <c:v>45537</c:v>
                </c:pt>
                <c:pt idx="400">
                  <c:v>45538</c:v>
                </c:pt>
                <c:pt idx="401">
                  <c:v>45539</c:v>
                </c:pt>
                <c:pt idx="402">
                  <c:v>45540</c:v>
                </c:pt>
                <c:pt idx="403">
                  <c:v>45541</c:v>
                </c:pt>
                <c:pt idx="404">
                  <c:v>45544</c:v>
                </c:pt>
                <c:pt idx="405">
                  <c:v>45545</c:v>
                </c:pt>
                <c:pt idx="406">
                  <c:v>45546</c:v>
                </c:pt>
                <c:pt idx="407">
                  <c:v>45547</c:v>
                </c:pt>
                <c:pt idx="408">
                  <c:v>45548</c:v>
                </c:pt>
                <c:pt idx="409">
                  <c:v>45553</c:v>
                </c:pt>
                <c:pt idx="410">
                  <c:v>45554</c:v>
                </c:pt>
                <c:pt idx="411">
                  <c:v>45555</c:v>
                </c:pt>
                <c:pt idx="412">
                  <c:v>45558</c:v>
                </c:pt>
                <c:pt idx="413">
                  <c:v>45559</c:v>
                </c:pt>
                <c:pt idx="414">
                  <c:v>45560</c:v>
                </c:pt>
                <c:pt idx="415">
                  <c:v>45561</c:v>
                </c:pt>
                <c:pt idx="416">
                  <c:v>45562</c:v>
                </c:pt>
                <c:pt idx="417">
                  <c:v>45565</c:v>
                </c:pt>
                <c:pt idx="418">
                  <c:v>45573</c:v>
                </c:pt>
                <c:pt idx="419">
                  <c:v>45574</c:v>
                </c:pt>
                <c:pt idx="420">
                  <c:v>45575</c:v>
                </c:pt>
                <c:pt idx="421">
                  <c:v>45576</c:v>
                </c:pt>
                <c:pt idx="422">
                  <c:v>45579</c:v>
                </c:pt>
                <c:pt idx="423">
                  <c:v>45580</c:v>
                </c:pt>
                <c:pt idx="424">
                  <c:v>45581</c:v>
                </c:pt>
                <c:pt idx="425">
                  <c:v>45582</c:v>
                </c:pt>
                <c:pt idx="426">
                  <c:v>45583</c:v>
                </c:pt>
                <c:pt idx="427">
                  <c:v>45586</c:v>
                </c:pt>
                <c:pt idx="428">
                  <c:v>45587</c:v>
                </c:pt>
                <c:pt idx="429">
                  <c:v>45588</c:v>
                </c:pt>
                <c:pt idx="430">
                  <c:v>45589</c:v>
                </c:pt>
                <c:pt idx="431">
                  <c:v>45590</c:v>
                </c:pt>
                <c:pt idx="432">
                  <c:v>45593</c:v>
                </c:pt>
                <c:pt idx="433">
                  <c:v>45594</c:v>
                </c:pt>
                <c:pt idx="434">
                  <c:v>45595</c:v>
                </c:pt>
                <c:pt idx="435">
                  <c:v>45596</c:v>
                </c:pt>
                <c:pt idx="436">
                  <c:v>45597</c:v>
                </c:pt>
                <c:pt idx="437">
                  <c:v>45600</c:v>
                </c:pt>
                <c:pt idx="438">
                  <c:v>45601</c:v>
                </c:pt>
                <c:pt idx="439">
                  <c:v>45602</c:v>
                </c:pt>
                <c:pt idx="440">
                  <c:v>45603</c:v>
                </c:pt>
                <c:pt idx="441">
                  <c:v>45604</c:v>
                </c:pt>
                <c:pt idx="442">
                  <c:v>45607</c:v>
                </c:pt>
                <c:pt idx="443">
                  <c:v>45608</c:v>
                </c:pt>
                <c:pt idx="444">
                  <c:v>45609</c:v>
                </c:pt>
                <c:pt idx="445">
                  <c:v>45610</c:v>
                </c:pt>
                <c:pt idx="446">
                  <c:v>45611</c:v>
                </c:pt>
                <c:pt idx="447">
                  <c:v>45614</c:v>
                </c:pt>
                <c:pt idx="448">
                  <c:v>45615</c:v>
                </c:pt>
                <c:pt idx="449">
                  <c:v>45616</c:v>
                </c:pt>
                <c:pt idx="450">
                  <c:v>45617</c:v>
                </c:pt>
                <c:pt idx="451">
                  <c:v>45618</c:v>
                </c:pt>
                <c:pt idx="452">
                  <c:v>45621</c:v>
                </c:pt>
                <c:pt idx="453">
                  <c:v>45622</c:v>
                </c:pt>
                <c:pt idx="454">
                  <c:v>45623</c:v>
                </c:pt>
                <c:pt idx="455">
                  <c:v>45624</c:v>
                </c:pt>
                <c:pt idx="456">
                  <c:v>45625</c:v>
                </c:pt>
                <c:pt idx="457">
                  <c:v>45628</c:v>
                </c:pt>
                <c:pt idx="458">
                  <c:v>45629</c:v>
                </c:pt>
                <c:pt idx="459">
                  <c:v>45630</c:v>
                </c:pt>
                <c:pt idx="460">
                  <c:v>45631</c:v>
                </c:pt>
                <c:pt idx="461">
                  <c:v>45632</c:v>
                </c:pt>
                <c:pt idx="462">
                  <c:v>45635</c:v>
                </c:pt>
                <c:pt idx="463">
                  <c:v>45636</c:v>
                </c:pt>
                <c:pt idx="464">
                  <c:v>45637</c:v>
                </c:pt>
                <c:pt idx="465">
                  <c:v>45638</c:v>
                </c:pt>
                <c:pt idx="466">
                  <c:v>45639</c:v>
                </c:pt>
                <c:pt idx="467">
                  <c:v>45642</c:v>
                </c:pt>
                <c:pt idx="468">
                  <c:v>45643</c:v>
                </c:pt>
                <c:pt idx="469">
                  <c:v>45644</c:v>
                </c:pt>
                <c:pt idx="470">
                  <c:v>45645</c:v>
                </c:pt>
                <c:pt idx="471">
                  <c:v>45646</c:v>
                </c:pt>
                <c:pt idx="472">
                  <c:v>45649</c:v>
                </c:pt>
                <c:pt idx="473">
                  <c:v>45650</c:v>
                </c:pt>
                <c:pt idx="474">
                  <c:v>45651</c:v>
                </c:pt>
                <c:pt idx="475">
                  <c:v>45652</c:v>
                </c:pt>
                <c:pt idx="476">
                  <c:v>45653</c:v>
                </c:pt>
                <c:pt idx="477">
                  <c:v>45656</c:v>
                </c:pt>
                <c:pt idx="478">
                  <c:v>45657</c:v>
                </c:pt>
                <c:pt idx="479">
                  <c:v>45659</c:v>
                </c:pt>
                <c:pt idx="480">
                  <c:v>45660</c:v>
                </c:pt>
                <c:pt idx="481">
                  <c:v>45663</c:v>
                </c:pt>
                <c:pt idx="482">
                  <c:v>45664</c:v>
                </c:pt>
                <c:pt idx="483">
                  <c:v>45665</c:v>
                </c:pt>
                <c:pt idx="484">
                  <c:v>45666</c:v>
                </c:pt>
                <c:pt idx="485">
                  <c:v>45667</c:v>
                </c:pt>
                <c:pt idx="486">
                  <c:v>45670</c:v>
                </c:pt>
                <c:pt idx="487">
                  <c:v>45671</c:v>
                </c:pt>
                <c:pt idx="488">
                  <c:v>45672</c:v>
                </c:pt>
                <c:pt idx="489">
                  <c:v>45673</c:v>
                </c:pt>
                <c:pt idx="490">
                  <c:v>45674</c:v>
                </c:pt>
                <c:pt idx="491">
                  <c:v>45677</c:v>
                </c:pt>
                <c:pt idx="492">
                  <c:v>45678</c:v>
                </c:pt>
                <c:pt idx="493">
                  <c:v>45679</c:v>
                </c:pt>
                <c:pt idx="494">
                  <c:v>45680</c:v>
                </c:pt>
                <c:pt idx="495">
                  <c:v>45681</c:v>
                </c:pt>
                <c:pt idx="496">
                  <c:v>45684</c:v>
                </c:pt>
                <c:pt idx="497">
                  <c:v>45693</c:v>
                </c:pt>
                <c:pt idx="498">
                  <c:v>45694</c:v>
                </c:pt>
                <c:pt idx="499">
                  <c:v>45695</c:v>
                </c:pt>
                <c:pt idx="500">
                  <c:v>45698</c:v>
                </c:pt>
                <c:pt idx="501">
                  <c:v>45699</c:v>
                </c:pt>
                <c:pt idx="502">
                  <c:v>45700</c:v>
                </c:pt>
                <c:pt idx="503">
                  <c:v>45701</c:v>
                </c:pt>
                <c:pt idx="504">
                  <c:v>45702</c:v>
                </c:pt>
                <c:pt idx="505">
                  <c:v>45705</c:v>
                </c:pt>
                <c:pt idx="506">
                  <c:v>45706</c:v>
                </c:pt>
                <c:pt idx="507">
                  <c:v>45707</c:v>
                </c:pt>
                <c:pt idx="508">
                  <c:v>45708</c:v>
                </c:pt>
                <c:pt idx="509">
                  <c:v>45709</c:v>
                </c:pt>
                <c:pt idx="510">
                  <c:v>45712</c:v>
                </c:pt>
                <c:pt idx="511">
                  <c:v>45713</c:v>
                </c:pt>
                <c:pt idx="512">
                  <c:v>45714</c:v>
                </c:pt>
                <c:pt idx="513">
                  <c:v>45715</c:v>
                </c:pt>
                <c:pt idx="514">
                  <c:v>45716</c:v>
                </c:pt>
                <c:pt idx="515">
                  <c:v>45719</c:v>
                </c:pt>
                <c:pt idx="516">
                  <c:v>45720</c:v>
                </c:pt>
                <c:pt idx="517">
                  <c:v>45721</c:v>
                </c:pt>
                <c:pt idx="518">
                  <c:v>45722</c:v>
                </c:pt>
                <c:pt idx="519">
                  <c:v>45723</c:v>
                </c:pt>
                <c:pt idx="520">
                  <c:v>45726</c:v>
                </c:pt>
                <c:pt idx="521">
                  <c:v>45727</c:v>
                </c:pt>
                <c:pt idx="522">
                  <c:v>45728</c:v>
                </c:pt>
                <c:pt idx="523">
                  <c:v>45729</c:v>
                </c:pt>
                <c:pt idx="524">
                  <c:v>45730</c:v>
                </c:pt>
                <c:pt idx="525">
                  <c:v>45733</c:v>
                </c:pt>
                <c:pt idx="526">
                  <c:v>45734</c:v>
                </c:pt>
                <c:pt idx="527">
                  <c:v>45735</c:v>
                </c:pt>
                <c:pt idx="528">
                  <c:v>45736</c:v>
                </c:pt>
                <c:pt idx="529">
                  <c:v>45737</c:v>
                </c:pt>
                <c:pt idx="530">
                  <c:v>45740</c:v>
                </c:pt>
                <c:pt idx="531">
                  <c:v>45741</c:v>
                </c:pt>
                <c:pt idx="532">
                  <c:v>45742</c:v>
                </c:pt>
                <c:pt idx="533">
                  <c:v>45743</c:v>
                </c:pt>
                <c:pt idx="534">
                  <c:v>45744</c:v>
                </c:pt>
                <c:pt idx="535">
                  <c:v>45747</c:v>
                </c:pt>
                <c:pt idx="536">
                  <c:v>45748</c:v>
                </c:pt>
                <c:pt idx="537">
                  <c:v>45749</c:v>
                </c:pt>
                <c:pt idx="538">
                  <c:v>45750</c:v>
                </c:pt>
                <c:pt idx="539">
                  <c:v>45754</c:v>
                </c:pt>
                <c:pt idx="540">
                  <c:v>45755</c:v>
                </c:pt>
                <c:pt idx="541">
                  <c:v>45756</c:v>
                </c:pt>
                <c:pt idx="542">
                  <c:v>45757</c:v>
                </c:pt>
                <c:pt idx="543">
                  <c:v>45758</c:v>
                </c:pt>
                <c:pt idx="544">
                  <c:v>45761</c:v>
                </c:pt>
                <c:pt idx="545">
                  <c:v>45762</c:v>
                </c:pt>
                <c:pt idx="546">
                  <c:v>45763</c:v>
                </c:pt>
                <c:pt idx="547">
                  <c:v>45764</c:v>
                </c:pt>
                <c:pt idx="548">
                  <c:v>45765</c:v>
                </c:pt>
                <c:pt idx="549">
                  <c:v>45768</c:v>
                </c:pt>
                <c:pt idx="550">
                  <c:v>45769</c:v>
                </c:pt>
                <c:pt idx="551">
                  <c:v>45770</c:v>
                </c:pt>
                <c:pt idx="552">
                  <c:v>45771</c:v>
                </c:pt>
                <c:pt idx="553">
                  <c:v>45772</c:v>
                </c:pt>
                <c:pt idx="554">
                  <c:v>45775</c:v>
                </c:pt>
                <c:pt idx="555">
                  <c:v>45776</c:v>
                </c:pt>
                <c:pt idx="556">
                  <c:v>45777</c:v>
                </c:pt>
                <c:pt idx="557">
                  <c:v>45783</c:v>
                </c:pt>
                <c:pt idx="558">
                  <c:v>45784</c:v>
                </c:pt>
                <c:pt idx="559">
                  <c:v>45785</c:v>
                </c:pt>
                <c:pt idx="560">
                  <c:v>45786</c:v>
                </c:pt>
                <c:pt idx="561">
                  <c:v>45789</c:v>
                </c:pt>
                <c:pt idx="562">
                  <c:v>45790</c:v>
                </c:pt>
                <c:pt idx="563">
                  <c:v>45791</c:v>
                </c:pt>
                <c:pt idx="564">
                  <c:v>45792</c:v>
                </c:pt>
                <c:pt idx="565">
                  <c:v>45793</c:v>
                </c:pt>
                <c:pt idx="566">
                  <c:v>45796</c:v>
                </c:pt>
                <c:pt idx="567">
                  <c:v>45797</c:v>
                </c:pt>
                <c:pt idx="568">
                  <c:v>45798</c:v>
                </c:pt>
                <c:pt idx="569">
                  <c:v>45799</c:v>
                </c:pt>
                <c:pt idx="570">
                  <c:v>45800</c:v>
                </c:pt>
                <c:pt idx="571">
                  <c:v>45803</c:v>
                </c:pt>
                <c:pt idx="572">
                  <c:v>45804</c:v>
                </c:pt>
                <c:pt idx="573">
                  <c:v>45805</c:v>
                </c:pt>
                <c:pt idx="574">
                  <c:v>45806</c:v>
                </c:pt>
                <c:pt idx="575">
                  <c:v>45807</c:v>
                </c:pt>
                <c:pt idx="576">
                  <c:v>45811</c:v>
                </c:pt>
                <c:pt idx="577">
                  <c:v>45812</c:v>
                </c:pt>
                <c:pt idx="578">
                  <c:v>45813</c:v>
                </c:pt>
                <c:pt idx="579">
                  <c:v>45814</c:v>
                </c:pt>
                <c:pt idx="580">
                  <c:v>45817</c:v>
                </c:pt>
                <c:pt idx="581">
                  <c:v>45818</c:v>
                </c:pt>
                <c:pt idx="582">
                  <c:v>45819</c:v>
                </c:pt>
                <c:pt idx="583">
                  <c:v>45820</c:v>
                </c:pt>
                <c:pt idx="584">
                  <c:v>45821</c:v>
                </c:pt>
                <c:pt idx="585">
                  <c:v>45824</c:v>
                </c:pt>
                <c:pt idx="586">
                  <c:v>45825</c:v>
                </c:pt>
                <c:pt idx="587">
                  <c:v>45826</c:v>
                </c:pt>
                <c:pt idx="588">
                  <c:v>45827</c:v>
                </c:pt>
                <c:pt idx="589">
                  <c:v>45828</c:v>
                </c:pt>
                <c:pt idx="590">
                  <c:v>45831</c:v>
                </c:pt>
                <c:pt idx="591">
                  <c:v>45832</c:v>
                </c:pt>
                <c:pt idx="592">
                  <c:v>45833</c:v>
                </c:pt>
                <c:pt idx="593">
                  <c:v>45834</c:v>
                </c:pt>
                <c:pt idx="594">
                  <c:v>45835</c:v>
                </c:pt>
                <c:pt idx="595">
                  <c:v>45838</c:v>
                </c:pt>
                <c:pt idx="596">
                  <c:v>45839</c:v>
                </c:pt>
                <c:pt idx="597">
                  <c:v>45840</c:v>
                </c:pt>
                <c:pt idx="598">
                  <c:v>45841</c:v>
                </c:pt>
                <c:pt idx="599">
                  <c:v>45842</c:v>
                </c:pt>
                <c:pt idx="600">
                  <c:v>45845</c:v>
                </c:pt>
                <c:pt idx="601">
                  <c:v>45846</c:v>
                </c:pt>
                <c:pt idx="602">
                  <c:v>45847</c:v>
                </c:pt>
                <c:pt idx="603">
                  <c:v>45848</c:v>
                </c:pt>
                <c:pt idx="604">
                  <c:v>45849</c:v>
                </c:pt>
                <c:pt idx="605">
                  <c:v>45852</c:v>
                </c:pt>
                <c:pt idx="606">
                  <c:v>45853</c:v>
                </c:pt>
                <c:pt idx="607">
                  <c:v>45854</c:v>
                </c:pt>
                <c:pt idx="608">
                  <c:v>45855</c:v>
                </c:pt>
                <c:pt idx="609">
                  <c:v>45856</c:v>
                </c:pt>
                <c:pt idx="610">
                  <c:v>45859</c:v>
                </c:pt>
                <c:pt idx="611">
                  <c:v>45860</c:v>
                </c:pt>
                <c:pt idx="612">
                  <c:v>45861</c:v>
                </c:pt>
                <c:pt idx="613">
                  <c:v>45862</c:v>
                </c:pt>
                <c:pt idx="614">
                  <c:v>45863</c:v>
                </c:pt>
                <c:pt idx="615">
                  <c:v>45866</c:v>
                </c:pt>
                <c:pt idx="616">
                  <c:v>45867</c:v>
                </c:pt>
                <c:pt idx="617">
                  <c:v>45868</c:v>
                </c:pt>
                <c:pt idx="618">
                  <c:v>45869</c:v>
                </c:pt>
                <c:pt idx="619">
                  <c:v>45870</c:v>
                </c:pt>
                <c:pt idx="620">
                  <c:v>45873</c:v>
                </c:pt>
                <c:pt idx="621">
                  <c:v>45874</c:v>
                </c:pt>
                <c:pt idx="622">
                  <c:v>45875</c:v>
                </c:pt>
                <c:pt idx="623">
                  <c:v>45876</c:v>
                </c:pt>
                <c:pt idx="624">
                  <c:v>45877</c:v>
                </c:pt>
                <c:pt idx="625">
                  <c:v>45880</c:v>
                </c:pt>
                <c:pt idx="626">
                  <c:v>45881</c:v>
                </c:pt>
                <c:pt idx="627">
                  <c:v>45882</c:v>
                </c:pt>
                <c:pt idx="628">
                  <c:v>45883</c:v>
                </c:pt>
                <c:pt idx="629">
                  <c:v>45884</c:v>
                </c:pt>
                <c:pt idx="630">
                  <c:v>45887</c:v>
                </c:pt>
                <c:pt idx="631">
                  <c:v>45888</c:v>
                </c:pt>
                <c:pt idx="632">
                  <c:v>45889</c:v>
                </c:pt>
                <c:pt idx="633">
                  <c:v>45890</c:v>
                </c:pt>
                <c:pt idx="634">
                  <c:v>45891</c:v>
                </c:pt>
                <c:pt idx="635">
                  <c:v>45894</c:v>
                </c:pt>
                <c:pt idx="636">
                  <c:v>45895</c:v>
                </c:pt>
                <c:pt idx="637">
                  <c:v>45896</c:v>
                </c:pt>
                <c:pt idx="638">
                  <c:v>45897</c:v>
                </c:pt>
                <c:pt idx="639">
                  <c:v>45898</c:v>
                </c:pt>
                <c:pt idx="640">
                  <c:v>45901</c:v>
                </c:pt>
                <c:pt idx="641">
                  <c:v>45902</c:v>
                </c:pt>
                <c:pt idx="642">
                  <c:v>45903</c:v>
                </c:pt>
                <c:pt idx="643">
                  <c:v>45904</c:v>
                </c:pt>
                <c:pt idx="644">
                  <c:v>45905</c:v>
                </c:pt>
                <c:pt idx="645">
                  <c:v>45908</c:v>
                </c:pt>
                <c:pt idx="646">
                  <c:v>45909</c:v>
                </c:pt>
                <c:pt idx="647">
                  <c:v>45910</c:v>
                </c:pt>
                <c:pt idx="648">
                  <c:v>45911</c:v>
                </c:pt>
                <c:pt idx="649">
                  <c:v>45912</c:v>
                </c:pt>
                <c:pt idx="650">
                  <c:v>45915</c:v>
                </c:pt>
                <c:pt idx="651">
                  <c:v>45916</c:v>
                </c:pt>
                <c:pt idx="652">
                  <c:v>45917</c:v>
                </c:pt>
                <c:pt idx="653">
                  <c:v>45918</c:v>
                </c:pt>
                <c:pt idx="654">
                  <c:v>45919</c:v>
                </c:pt>
                <c:pt idx="655">
                  <c:v>45922</c:v>
                </c:pt>
                <c:pt idx="656">
                  <c:v>45923</c:v>
                </c:pt>
                <c:pt idx="657">
                  <c:v>45924</c:v>
                </c:pt>
                <c:pt idx="658">
                  <c:v>45925</c:v>
                </c:pt>
                <c:pt idx="659">
                  <c:v>45926</c:v>
                </c:pt>
                <c:pt idx="660">
                  <c:v>45929</c:v>
                </c:pt>
                <c:pt idx="661">
                  <c:v>45930</c:v>
                </c:pt>
                <c:pt idx="662">
                  <c:v>45939</c:v>
                </c:pt>
                <c:pt idx="663">
                  <c:v>45940</c:v>
                </c:pt>
                <c:pt idx="664">
                  <c:v>45943</c:v>
                </c:pt>
                <c:pt idx="665">
                  <c:v>45944</c:v>
                </c:pt>
                <c:pt idx="666">
                  <c:v>45945</c:v>
                </c:pt>
                <c:pt idx="667">
                  <c:v>45946</c:v>
                </c:pt>
                <c:pt idx="668">
                  <c:v>45947</c:v>
                </c:pt>
                <c:pt idx="669">
                  <c:v>45950</c:v>
                </c:pt>
                <c:pt idx="670">
                  <c:v>45951</c:v>
                </c:pt>
                <c:pt idx="671">
                  <c:v>45952</c:v>
                </c:pt>
                <c:pt idx="672">
                  <c:v>45953</c:v>
                </c:pt>
                <c:pt idx="673">
                  <c:v>45954</c:v>
                </c:pt>
                <c:pt idx="674">
                  <c:v>45957</c:v>
                </c:pt>
                <c:pt idx="675">
                  <c:v>45958</c:v>
                </c:pt>
                <c:pt idx="676">
                  <c:v>45959</c:v>
                </c:pt>
                <c:pt idx="677">
                  <c:v>45960</c:v>
                </c:pt>
                <c:pt idx="678">
                  <c:v>45961</c:v>
                </c:pt>
                <c:pt idx="679">
                  <c:v>45964</c:v>
                </c:pt>
                <c:pt idx="680">
                  <c:v>45965</c:v>
                </c:pt>
                <c:pt idx="681">
                  <c:v>45966</c:v>
                </c:pt>
                <c:pt idx="682">
                  <c:v>45967</c:v>
                </c:pt>
                <c:pt idx="683">
                  <c:v>45968</c:v>
                </c:pt>
                <c:pt idx="684">
                  <c:v>45971</c:v>
                </c:pt>
                <c:pt idx="685">
                  <c:v>45972</c:v>
                </c:pt>
                <c:pt idx="686">
                  <c:v>45973</c:v>
                </c:pt>
                <c:pt idx="687">
                  <c:v>45974</c:v>
                </c:pt>
                <c:pt idx="688">
                  <c:v>45975</c:v>
                </c:pt>
                <c:pt idx="689">
                  <c:v>45978</c:v>
                </c:pt>
                <c:pt idx="690">
                  <c:v>45979</c:v>
                </c:pt>
                <c:pt idx="691">
                  <c:v>45980</c:v>
                </c:pt>
                <c:pt idx="692">
                  <c:v>45981</c:v>
                </c:pt>
                <c:pt idx="693">
                  <c:v>45982</c:v>
                </c:pt>
                <c:pt idx="694">
                  <c:v>45985</c:v>
                </c:pt>
                <c:pt idx="695">
                  <c:v>45986</c:v>
                </c:pt>
                <c:pt idx="696">
                  <c:v>45987</c:v>
                </c:pt>
                <c:pt idx="697">
                  <c:v>45988</c:v>
                </c:pt>
                <c:pt idx="698">
                  <c:v>45989</c:v>
                </c:pt>
                <c:pt idx="699">
                  <c:v>45992</c:v>
                </c:pt>
                <c:pt idx="700">
                  <c:v>45993</c:v>
                </c:pt>
                <c:pt idx="701">
                  <c:v>45994</c:v>
                </c:pt>
                <c:pt idx="702">
                  <c:v>45995</c:v>
                </c:pt>
                <c:pt idx="703">
                  <c:v>45996</c:v>
                </c:pt>
                <c:pt idx="704">
                  <c:v>45999</c:v>
                </c:pt>
                <c:pt idx="705">
                  <c:v>46000</c:v>
                </c:pt>
                <c:pt idx="706">
                  <c:v>46001</c:v>
                </c:pt>
                <c:pt idx="707">
                  <c:v>46002</c:v>
                </c:pt>
                <c:pt idx="708">
                  <c:v>46003</c:v>
                </c:pt>
                <c:pt idx="709">
                  <c:v>46006</c:v>
                </c:pt>
                <c:pt idx="710">
                  <c:v>46007</c:v>
                </c:pt>
                <c:pt idx="711">
                  <c:v>46008</c:v>
                </c:pt>
                <c:pt idx="712">
                  <c:v>46009</c:v>
                </c:pt>
                <c:pt idx="713">
                  <c:v>46010</c:v>
                </c:pt>
                <c:pt idx="714">
                  <c:v>46013</c:v>
                </c:pt>
                <c:pt idx="715">
                  <c:v>46014</c:v>
                </c:pt>
                <c:pt idx="716">
                  <c:v>46015</c:v>
                </c:pt>
                <c:pt idx="717">
                  <c:v>46016</c:v>
                </c:pt>
                <c:pt idx="718">
                  <c:v>46017</c:v>
                </c:pt>
                <c:pt idx="719">
                  <c:v>46020</c:v>
                </c:pt>
                <c:pt idx="720">
                  <c:v>46021</c:v>
                </c:pt>
                <c:pt idx="721">
                  <c:v>46022</c:v>
                </c:pt>
                <c:pt idx="722">
                  <c:v>46027</c:v>
                </c:pt>
                <c:pt idx="723">
                  <c:v>46028</c:v>
                </c:pt>
                <c:pt idx="724">
                  <c:v>46029</c:v>
                </c:pt>
                <c:pt idx="725">
                  <c:v>46030</c:v>
                </c:pt>
                <c:pt idx="726">
                  <c:v>46031</c:v>
                </c:pt>
                <c:pt idx="727">
                  <c:v>46034</c:v>
                </c:pt>
                <c:pt idx="728">
                  <c:v>46035</c:v>
                </c:pt>
                <c:pt idx="729">
                  <c:v>46036</c:v>
                </c:pt>
              </c:numCache>
            </c:numRef>
          </c:cat>
          <c:val>
            <c:numRef>
              <c:f>[0]!超额净值</c:f>
              <c:numCache>
                <c:formatCode>0.00</c:formatCode>
                <c:ptCount val="730"/>
                <c:pt idx="0">
                  <c:v>1</c:v>
                </c:pt>
                <c:pt idx="1">
                  <c:v>1.0006635463830633</c:v>
                </c:pt>
                <c:pt idx="2">
                  <c:v>0.99970029792181891</c:v>
                </c:pt>
                <c:pt idx="3">
                  <c:v>1.0021864221078327</c:v>
                </c:pt>
                <c:pt idx="4">
                  <c:v>1.0007133138978541</c:v>
                </c:pt>
                <c:pt idx="5">
                  <c:v>0.99973349727332794</c:v>
                </c:pt>
                <c:pt idx="6">
                  <c:v>1.0005415855960973</c:v>
                </c:pt>
                <c:pt idx="7">
                  <c:v>0.99961853796897149</c:v>
                </c:pt>
                <c:pt idx="8">
                  <c:v>0.99779096458036198</c:v>
                </c:pt>
                <c:pt idx="9">
                  <c:v>1.0002019435465817</c:v>
                </c:pt>
                <c:pt idx="10">
                  <c:v>0.99999115524473026</c:v>
                </c:pt>
                <c:pt idx="11">
                  <c:v>1.0039025214409465</c:v>
                </c:pt>
                <c:pt idx="12">
                  <c:v>1.0031701561641237</c:v>
                </c:pt>
                <c:pt idx="13">
                  <c:v>1.0042726491074823</c:v>
                </c:pt>
                <c:pt idx="14">
                  <c:v>1.0059188817648315</c:v>
                </c:pt>
                <c:pt idx="15">
                  <c:v>1.0059591469153952</c:v>
                </c:pt>
                <c:pt idx="16">
                  <c:v>1.0072930616689935</c:v>
                </c:pt>
                <c:pt idx="17">
                  <c:v>1.0055890177040339</c:v>
                </c:pt>
                <c:pt idx="18">
                  <c:v>1.0069389189894609</c:v>
                </c:pt>
                <c:pt idx="19">
                  <c:v>1.0073983417700816</c:v>
                </c:pt>
                <c:pt idx="20">
                  <c:v>1.0073653771690056</c:v>
                </c:pt>
                <c:pt idx="21">
                  <c:v>1.0073330018076729</c:v>
                </c:pt>
                <c:pt idx="22">
                  <c:v>1.0084359453173024</c:v>
                </c:pt>
                <c:pt idx="23">
                  <c:v>1.0085735565579876</c:v>
                </c:pt>
                <c:pt idx="24">
                  <c:v>1.007903947254579</c:v>
                </c:pt>
                <c:pt idx="25">
                  <c:v>1.006892031396236</c:v>
                </c:pt>
                <c:pt idx="26">
                  <c:v>1.0081031836266441</c:v>
                </c:pt>
                <c:pt idx="27">
                  <c:v>1.0073634871652657</c:v>
                </c:pt>
                <c:pt idx="28">
                  <c:v>1.007053888937705</c:v>
                </c:pt>
                <c:pt idx="29">
                  <c:v>1.0073006437519429</c:v>
                </c:pt>
                <c:pt idx="30">
                  <c:v>1.0076139362118115</c:v>
                </c:pt>
                <c:pt idx="31">
                  <c:v>1.0081513514010054</c:v>
                </c:pt>
                <c:pt idx="32">
                  <c:v>1.0083741424945249</c:v>
                </c:pt>
                <c:pt idx="33">
                  <c:v>1.009103113944404</c:v>
                </c:pt>
                <c:pt idx="34">
                  <c:v>1.0079087816759644</c:v>
                </c:pt>
                <c:pt idx="35">
                  <c:v>1.0089086121882489</c:v>
                </c:pt>
                <c:pt idx="36">
                  <c:v>1.007961823725072</c:v>
                </c:pt>
                <c:pt idx="37">
                  <c:v>1.0083665369059709</c:v>
                </c:pt>
                <c:pt idx="38">
                  <c:v>1.0091129122826321</c:v>
                </c:pt>
                <c:pt idx="39">
                  <c:v>1.0083769683911588</c:v>
                </c:pt>
                <c:pt idx="40">
                  <c:v>1.0070636115573623</c:v>
                </c:pt>
                <c:pt idx="41">
                  <c:v>1.006505981721713</c:v>
                </c:pt>
                <c:pt idx="42">
                  <c:v>1.0101742806385805</c:v>
                </c:pt>
                <c:pt idx="43">
                  <c:v>1.0105868735056542</c:v>
                </c:pt>
                <c:pt idx="44">
                  <c:v>1.0120069584145015</c:v>
                </c:pt>
                <c:pt idx="45">
                  <c:v>1.0114923995352212</c:v>
                </c:pt>
                <c:pt idx="46">
                  <c:v>1.0122555941468023</c:v>
                </c:pt>
                <c:pt idx="47">
                  <c:v>1.0134672008680508</c:v>
                </c:pt>
                <c:pt idx="48">
                  <c:v>1.0146167569356233</c:v>
                </c:pt>
                <c:pt idx="49">
                  <c:v>1.0152232121324032</c:v>
                </c:pt>
                <c:pt idx="50">
                  <c:v>1.015626084676259</c:v>
                </c:pt>
                <c:pt idx="51">
                  <c:v>1.0136440907358766</c:v>
                </c:pt>
                <c:pt idx="52">
                  <c:v>1.0152871775136267</c:v>
                </c:pt>
                <c:pt idx="53">
                  <c:v>1.0153237959842856</c:v>
                </c:pt>
                <c:pt idx="54">
                  <c:v>1.0136418184791878</c:v>
                </c:pt>
                <c:pt idx="55">
                  <c:v>1.012383827266278</c:v>
                </c:pt>
                <c:pt idx="56">
                  <c:v>1.0117478225731886</c:v>
                </c:pt>
                <c:pt idx="57">
                  <c:v>1.0096380139282812</c:v>
                </c:pt>
                <c:pt idx="58">
                  <c:v>1.0089473865562553</c:v>
                </c:pt>
                <c:pt idx="59">
                  <c:v>1.0082513722285231</c:v>
                </c:pt>
                <c:pt idx="60">
                  <c:v>1.0068190229998097</c:v>
                </c:pt>
                <c:pt idx="61">
                  <c:v>1.0109581139692787</c:v>
                </c:pt>
                <c:pt idx="62">
                  <c:v>1.0077819208278924</c:v>
                </c:pt>
                <c:pt idx="63">
                  <c:v>1.0087254928555047</c:v>
                </c:pt>
                <c:pt idx="64">
                  <c:v>1.0079527855283614</c:v>
                </c:pt>
                <c:pt idx="65">
                  <c:v>1.0089949274372405</c:v>
                </c:pt>
                <c:pt idx="66">
                  <c:v>1.0077649321166746</c:v>
                </c:pt>
                <c:pt idx="67">
                  <c:v>1.0114132892983134</c:v>
                </c:pt>
                <c:pt idx="68">
                  <c:v>1.0126837816429526</c:v>
                </c:pt>
                <c:pt idx="69">
                  <c:v>1.0120674734559272</c:v>
                </c:pt>
                <c:pt idx="70">
                  <c:v>1.0139487257339865</c:v>
                </c:pt>
                <c:pt idx="71">
                  <c:v>1.0153200089524179</c:v>
                </c:pt>
                <c:pt idx="72">
                  <c:v>1.0151456000994574</c:v>
                </c:pt>
                <c:pt idx="73">
                  <c:v>1.0182114710845678</c:v>
                </c:pt>
                <c:pt idx="74">
                  <c:v>1.0181329739971459</c:v>
                </c:pt>
                <c:pt idx="75">
                  <c:v>1.0187148174496969</c:v>
                </c:pt>
                <c:pt idx="76">
                  <c:v>1.0183271393527016</c:v>
                </c:pt>
                <c:pt idx="77">
                  <c:v>1.0190517894573494</c:v>
                </c:pt>
                <c:pt idx="78">
                  <c:v>1.0194391342081979</c:v>
                </c:pt>
                <c:pt idx="79">
                  <c:v>1.0206863628948739</c:v>
                </c:pt>
                <c:pt idx="80">
                  <c:v>1.0175770531369817</c:v>
                </c:pt>
                <c:pt idx="81">
                  <c:v>1.0180629586872527</c:v>
                </c:pt>
                <c:pt idx="82">
                  <c:v>1.0177779317665145</c:v>
                </c:pt>
                <c:pt idx="83">
                  <c:v>1.0177249306000733</c:v>
                </c:pt>
                <c:pt idx="84">
                  <c:v>1.0175725858390909</c:v>
                </c:pt>
                <c:pt idx="85">
                  <c:v>1.0171306701175655</c:v>
                </c:pt>
                <c:pt idx="86">
                  <c:v>1.0187833498847134</c:v>
                </c:pt>
                <c:pt idx="87">
                  <c:v>1.018527659967051</c:v>
                </c:pt>
                <c:pt idx="88">
                  <c:v>1.0157429049091493</c:v>
                </c:pt>
                <c:pt idx="89">
                  <c:v>1.0136601144894908</c:v>
                </c:pt>
                <c:pt idx="90">
                  <c:v>1.0154505766230031</c:v>
                </c:pt>
                <c:pt idx="91">
                  <c:v>1.0140258800360349</c:v>
                </c:pt>
                <c:pt idx="92">
                  <c:v>1.0152609254454312</c:v>
                </c:pt>
                <c:pt idx="93">
                  <c:v>1.0168074612302651</c:v>
                </c:pt>
                <c:pt idx="94">
                  <c:v>1.0158202210827054</c:v>
                </c:pt>
                <c:pt idx="95">
                  <c:v>1.015499491115933</c:v>
                </c:pt>
                <c:pt idx="96">
                  <c:v>1.0160261139513282</c:v>
                </c:pt>
                <c:pt idx="97">
                  <c:v>1.0163452509645092</c:v>
                </c:pt>
                <c:pt idx="98">
                  <c:v>1.0173137040816693</c:v>
                </c:pt>
                <c:pt idx="99">
                  <c:v>1.0179156369335391</c:v>
                </c:pt>
                <c:pt idx="100">
                  <c:v>1.0172132135644565</c:v>
                </c:pt>
                <c:pt idx="101">
                  <c:v>1.0166607220288024</c:v>
                </c:pt>
                <c:pt idx="102">
                  <c:v>1.0191581105859597</c:v>
                </c:pt>
                <c:pt idx="103">
                  <c:v>1.0160231479483766</c:v>
                </c:pt>
                <c:pt idx="104">
                  <c:v>1.0158562486076852</c:v>
                </c:pt>
                <c:pt idx="105">
                  <c:v>1.0177461367539367</c:v>
                </c:pt>
                <c:pt idx="106">
                  <c:v>1.0183596015571075</c:v>
                </c:pt>
                <c:pt idx="107">
                  <c:v>1.0200914166075803</c:v>
                </c:pt>
                <c:pt idx="108">
                  <c:v>1.0210489361814992</c:v>
                </c:pt>
                <c:pt idx="109">
                  <c:v>1.0214975613568689</c:v>
                </c:pt>
                <c:pt idx="110">
                  <c:v>1.0223148486657632</c:v>
                </c:pt>
                <c:pt idx="111">
                  <c:v>1.0238378087317379</c:v>
                </c:pt>
                <c:pt idx="112">
                  <c:v>1.024147356708172</c:v>
                </c:pt>
                <c:pt idx="113">
                  <c:v>1.0250998517579097</c:v>
                </c:pt>
                <c:pt idx="114">
                  <c:v>1.0238941972717812</c:v>
                </c:pt>
                <c:pt idx="115">
                  <c:v>1.0264181046531295</c:v>
                </c:pt>
                <c:pt idx="116">
                  <c:v>1.026850124338434</c:v>
                </c:pt>
                <c:pt idx="117">
                  <c:v>1.0283014211242101</c:v>
                </c:pt>
                <c:pt idx="118">
                  <c:v>1.0273506245781854</c:v>
                </c:pt>
                <c:pt idx="119">
                  <c:v>1.0265266829891129</c:v>
                </c:pt>
                <c:pt idx="120">
                  <c:v>1.0295297687041833</c:v>
                </c:pt>
                <c:pt idx="121">
                  <c:v>1.0291904425149665</c:v>
                </c:pt>
                <c:pt idx="122">
                  <c:v>1.0319707641766325</c:v>
                </c:pt>
                <c:pt idx="123">
                  <c:v>1.033890241443493</c:v>
                </c:pt>
                <c:pt idx="124">
                  <c:v>1.0350008497164407</c:v>
                </c:pt>
                <c:pt idx="125">
                  <c:v>1.0364040302975746</c:v>
                </c:pt>
                <c:pt idx="126">
                  <c:v>1.0373110468782336</c:v>
                </c:pt>
                <c:pt idx="127">
                  <c:v>1.0395640945241431</c:v>
                </c:pt>
                <c:pt idx="128">
                  <c:v>1.0399394364009222</c:v>
                </c:pt>
                <c:pt idx="129">
                  <c:v>1.0393916312174312</c:v>
                </c:pt>
                <c:pt idx="130">
                  <c:v>1.0397134978400022</c:v>
                </c:pt>
                <c:pt idx="131">
                  <c:v>1.0386132993217523</c:v>
                </c:pt>
                <c:pt idx="132">
                  <c:v>1.038208937862412</c:v>
                </c:pt>
                <c:pt idx="133">
                  <c:v>1.0372993505108412</c:v>
                </c:pt>
                <c:pt idx="134">
                  <c:v>1.0373345934325897</c:v>
                </c:pt>
                <c:pt idx="135">
                  <c:v>1.0374620568272155</c:v>
                </c:pt>
                <c:pt idx="136">
                  <c:v>1.0345057394045214</c:v>
                </c:pt>
                <c:pt idx="137">
                  <c:v>1.0360403287374091</c:v>
                </c:pt>
                <c:pt idx="138">
                  <c:v>1.038042417840604</c:v>
                </c:pt>
                <c:pt idx="139">
                  <c:v>1.0370642920975086</c:v>
                </c:pt>
                <c:pt idx="140">
                  <c:v>1.0370358829896897</c:v>
                </c:pt>
                <c:pt idx="141">
                  <c:v>1.0354066540710938</c:v>
                </c:pt>
                <c:pt idx="142">
                  <c:v>1.0363109193900708</c:v>
                </c:pt>
                <c:pt idx="143">
                  <c:v>1.0358850719093342</c:v>
                </c:pt>
                <c:pt idx="144">
                  <c:v>1.0378865408813664</c:v>
                </c:pt>
                <c:pt idx="145">
                  <c:v>1.038773349274174</c:v>
                </c:pt>
                <c:pt idx="146">
                  <c:v>1.0374880895031564</c:v>
                </c:pt>
                <c:pt idx="147">
                  <c:v>1.0391311540740982</c:v>
                </c:pt>
                <c:pt idx="148">
                  <c:v>1.0411521070486052</c:v>
                </c:pt>
                <c:pt idx="149">
                  <c:v>1.0409344382435883</c:v>
                </c:pt>
                <c:pt idx="150">
                  <c:v>1.0426458747496177</c:v>
                </c:pt>
                <c:pt idx="151">
                  <c:v>1.0407915564805754</c:v>
                </c:pt>
                <c:pt idx="152">
                  <c:v>1.0425389568003141</c:v>
                </c:pt>
                <c:pt idx="153">
                  <c:v>1.0427619433096662</c:v>
                </c:pt>
                <c:pt idx="154">
                  <c:v>1.0407194523570003</c:v>
                </c:pt>
                <c:pt idx="155">
                  <c:v>1.0405282487508345</c:v>
                </c:pt>
                <c:pt idx="156">
                  <c:v>1.0423968172192983</c:v>
                </c:pt>
                <c:pt idx="157">
                  <c:v>1.0425321243081151</c:v>
                </c:pt>
                <c:pt idx="158">
                  <c:v>1.0437285218092829</c:v>
                </c:pt>
                <c:pt idx="159">
                  <c:v>1.0432253713889341</c:v>
                </c:pt>
                <c:pt idx="160">
                  <c:v>1.0445517781399001</c:v>
                </c:pt>
                <c:pt idx="161">
                  <c:v>1.046704124957019</c:v>
                </c:pt>
                <c:pt idx="162">
                  <c:v>1.0471945147479407</c:v>
                </c:pt>
                <c:pt idx="163">
                  <c:v>1.0471398656331938</c:v>
                </c:pt>
                <c:pt idx="164">
                  <c:v>1.0483275258809288</c:v>
                </c:pt>
                <c:pt idx="165">
                  <c:v>1.0493989098657324</c:v>
                </c:pt>
                <c:pt idx="166">
                  <c:v>1.0511333686227715</c:v>
                </c:pt>
                <c:pt idx="167">
                  <c:v>1.0511710090917061</c:v>
                </c:pt>
                <c:pt idx="168">
                  <c:v>1.0495582697417429</c:v>
                </c:pt>
                <c:pt idx="169">
                  <c:v>1.0511611533991132</c:v>
                </c:pt>
                <c:pt idx="170">
                  <c:v>1.0522456481656133</c:v>
                </c:pt>
                <c:pt idx="171">
                  <c:v>1.0526692124865773</c:v>
                </c:pt>
                <c:pt idx="172">
                  <c:v>1.0518072821557998</c:v>
                </c:pt>
                <c:pt idx="173">
                  <c:v>1.0503534633614853</c:v>
                </c:pt>
                <c:pt idx="174">
                  <c:v>1.0496393508172233</c:v>
                </c:pt>
                <c:pt idx="175">
                  <c:v>1.0483402445903516</c:v>
                </c:pt>
                <c:pt idx="176">
                  <c:v>1.049085467635255</c:v>
                </c:pt>
                <c:pt idx="177">
                  <c:v>1.0474288260668365</c:v>
                </c:pt>
                <c:pt idx="178">
                  <c:v>1.0462071203479777</c:v>
                </c:pt>
                <c:pt idx="179">
                  <c:v>1.0445307227462748</c:v>
                </c:pt>
                <c:pt idx="180">
                  <c:v>1.044370803680297</c:v>
                </c:pt>
                <c:pt idx="181">
                  <c:v>1.0473064669389163</c:v>
                </c:pt>
                <c:pt idx="182">
                  <c:v>1.0486019274422493</c:v>
                </c:pt>
                <c:pt idx="183">
                  <c:v>1.0486285258601458</c:v>
                </c:pt>
                <c:pt idx="184">
                  <c:v>1.0491744395681415</c:v>
                </c:pt>
                <c:pt idx="185">
                  <c:v>1.0478740956451744</c:v>
                </c:pt>
                <c:pt idx="186">
                  <c:v>1.0471396865427907</c:v>
                </c:pt>
                <c:pt idx="187">
                  <c:v>1.047556905792129</c:v>
                </c:pt>
                <c:pt idx="188">
                  <c:v>1.0476784359247537</c:v>
                </c:pt>
                <c:pt idx="189">
                  <c:v>1.0496586029194377</c:v>
                </c:pt>
                <c:pt idx="190">
                  <c:v>1.0493676095737503</c:v>
                </c:pt>
                <c:pt idx="191">
                  <c:v>1.0478659047970127</c:v>
                </c:pt>
                <c:pt idx="192">
                  <c:v>1.0431382107889122</c:v>
                </c:pt>
                <c:pt idx="193">
                  <c:v>1.0438648632745999</c:v>
                </c:pt>
                <c:pt idx="194">
                  <c:v>1.045076295797595</c:v>
                </c:pt>
                <c:pt idx="195">
                  <c:v>1.0468853460843408</c:v>
                </c:pt>
                <c:pt idx="196">
                  <c:v>1.0434358305361926</c:v>
                </c:pt>
                <c:pt idx="197">
                  <c:v>1.0393115194706812</c:v>
                </c:pt>
                <c:pt idx="198">
                  <c:v>1.0366377764650594</c:v>
                </c:pt>
                <c:pt idx="199">
                  <c:v>1.0347307254457472</c:v>
                </c:pt>
                <c:pt idx="200">
                  <c:v>1.0351092180114156</c:v>
                </c:pt>
                <c:pt idx="201">
                  <c:v>1.0354996333975648</c:v>
                </c:pt>
                <c:pt idx="202">
                  <c:v>1.0359899285833047</c:v>
                </c:pt>
                <c:pt idx="203">
                  <c:v>1.035335698787228</c:v>
                </c:pt>
                <c:pt idx="204">
                  <c:v>1.0349395395736869</c:v>
                </c:pt>
                <c:pt idx="205">
                  <c:v>1.0367885063513511</c:v>
                </c:pt>
                <c:pt idx="206">
                  <c:v>1.0368105986382525</c:v>
                </c:pt>
                <c:pt idx="207">
                  <c:v>1.0371984419655604</c:v>
                </c:pt>
                <c:pt idx="208">
                  <c:v>1.039158683086856</c:v>
                </c:pt>
                <c:pt idx="209">
                  <c:v>1.0410206858842679</c:v>
                </c:pt>
                <c:pt idx="210">
                  <c:v>1.0408217933776367</c:v>
                </c:pt>
                <c:pt idx="211">
                  <c:v>1.0428913132546485</c:v>
                </c:pt>
                <c:pt idx="212">
                  <c:v>1.0410204170248165</c:v>
                </c:pt>
                <c:pt idx="213">
                  <c:v>1.0416742494579767</c:v>
                </c:pt>
                <c:pt idx="214">
                  <c:v>1.0415774881915632</c:v>
                </c:pt>
                <c:pt idx="215">
                  <c:v>1.0419561552708692</c:v>
                </c:pt>
                <c:pt idx="216">
                  <c:v>1.0430825297123376</c:v>
                </c:pt>
                <c:pt idx="217">
                  <c:v>1.0439562495786925</c:v>
                </c:pt>
                <c:pt idx="218">
                  <c:v>1.0446389628594679</c:v>
                </c:pt>
                <c:pt idx="219">
                  <c:v>1.042526554106344</c:v>
                </c:pt>
                <c:pt idx="220">
                  <c:v>1.0450766609324988</c:v>
                </c:pt>
                <c:pt idx="221">
                  <c:v>1.0479502668060339</c:v>
                </c:pt>
                <c:pt idx="222">
                  <c:v>1.0481042171957604</c:v>
                </c:pt>
                <c:pt idx="223">
                  <c:v>1.0479453223109014</c:v>
                </c:pt>
                <c:pt idx="224">
                  <c:v>1.0496539459980812</c:v>
                </c:pt>
                <c:pt idx="225">
                  <c:v>1.0503105172191638</c:v>
                </c:pt>
                <c:pt idx="226">
                  <c:v>1.0481157039237996</c:v>
                </c:pt>
                <c:pt idx="227">
                  <c:v>1.0492007654645632</c:v>
                </c:pt>
                <c:pt idx="228">
                  <c:v>1.0478467947510395</c:v>
                </c:pt>
                <c:pt idx="229">
                  <c:v>1.0505040541740758</c:v>
                </c:pt>
                <c:pt idx="230">
                  <c:v>1.0477126303535425</c:v>
                </c:pt>
                <c:pt idx="231">
                  <c:v>1.0489360147188507</c:v>
                </c:pt>
                <c:pt idx="232">
                  <c:v>1.048940111206673</c:v>
                </c:pt>
                <c:pt idx="233">
                  <c:v>1.0514080034386513</c:v>
                </c:pt>
                <c:pt idx="234">
                  <c:v>1.0527733586732648</c:v>
                </c:pt>
                <c:pt idx="235">
                  <c:v>1.0489606309609396</c:v>
                </c:pt>
                <c:pt idx="236">
                  <c:v>1.0491105278756423</c:v>
                </c:pt>
                <c:pt idx="237">
                  <c:v>1.0507437479931572</c:v>
                </c:pt>
                <c:pt idx="238">
                  <c:v>1.0517167566731083</c:v>
                </c:pt>
                <c:pt idx="239">
                  <c:v>1.0540291320443327</c:v>
                </c:pt>
                <c:pt idx="240">
                  <c:v>1.0557587329236289</c:v>
                </c:pt>
                <c:pt idx="241">
                  <c:v>1.0563948949025648</c:v>
                </c:pt>
                <c:pt idx="242">
                  <c:v>1.0552915606319431</c:v>
                </c:pt>
                <c:pt idx="243">
                  <c:v>1.05526696737436</c:v>
                </c:pt>
                <c:pt idx="244">
                  <c:v>1.0541489579023335</c:v>
                </c:pt>
                <c:pt idx="245">
                  <c:v>1.0551748596366008</c:v>
                </c:pt>
                <c:pt idx="246">
                  <c:v>1.0568234665305309</c:v>
                </c:pt>
                <c:pt idx="247">
                  <c:v>1.0566966100840358</c:v>
                </c:pt>
                <c:pt idx="248">
                  <c:v>1.061010255604439</c:v>
                </c:pt>
                <c:pt idx="249">
                  <c:v>1.0577076992562331</c:v>
                </c:pt>
                <c:pt idx="250">
                  <c:v>1.0596714299464485</c:v>
                </c:pt>
                <c:pt idx="251">
                  <c:v>1.0625422339946784</c:v>
                </c:pt>
                <c:pt idx="252">
                  <c:v>1.062562960854853</c:v>
                </c:pt>
                <c:pt idx="253">
                  <c:v>1.0640689179618668</c:v>
                </c:pt>
                <c:pt idx="254">
                  <c:v>1.0656268239774116</c:v>
                </c:pt>
                <c:pt idx="255">
                  <c:v>1.0663863490813688</c:v>
                </c:pt>
                <c:pt idx="256">
                  <c:v>1.0693795860348982</c:v>
                </c:pt>
                <c:pt idx="257">
                  <c:v>1.0704029506300972</c:v>
                </c:pt>
                <c:pt idx="258">
                  <c:v>1.0726004355523238</c:v>
                </c:pt>
                <c:pt idx="259">
                  <c:v>1.072678868971602</c:v>
                </c:pt>
                <c:pt idx="260">
                  <c:v>1.0728972677127178</c:v>
                </c:pt>
                <c:pt idx="261">
                  <c:v>1.0766321858276067</c:v>
                </c:pt>
                <c:pt idx="262">
                  <c:v>1.0729849548797898</c:v>
                </c:pt>
                <c:pt idx="263">
                  <c:v>1.0728388009975036</c:v>
                </c:pt>
                <c:pt idx="264">
                  <c:v>1.0696897626965383</c:v>
                </c:pt>
                <c:pt idx="265">
                  <c:v>1.0755210575319487</c:v>
                </c:pt>
                <c:pt idx="266">
                  <c:v>1.0769146687644766</c:v>
                </c:pt>
                <c:pt idx="267">
                  <c:v>1.0725242969677327</c:v>
                </c:pt>
                <c:pt idx="268">
                  <c:v>1.0722458972252416</c:v>
                </c:pt>
                <c:pt idx="269">
                  <c:v>1.0699347919071251</c:v>
                </c:pt>
                <c:pt idx="270">
                  <c:v>1.0690167137874846</c:v>
                </c:pt>
                <c:pt idx="271">
                  <c:v>1.070464014439932</c:v>
                </c:pt>
                <c:pt idx="272">
                  <c:v>1.0706823467411311</c:v>
                </c:pt>
                <c:pt idx="273">
                  <c:v>1.0682276862175637</c:v>
                </c:pt>
                <c:pt idx="274">
                  <c:v>1.0699934850211379</c:v>
                </c:pt>
                <c:pt idx="275">
                  <c:v>1.0712011438039879</c:v>
                </c:pt>
                <c:pt idx="276">
                  <c:v>1.0733986988492921</c:v>
                </c:pt>
                <c:pt idx="277">
                  <c:v>1.072848823800856</c:v>
                </c:pt>
                <c:pt idx="278">
                  <c:v>1.0744796685173761</c:v>
                </c:pt>
                <c:pt idx="279">
                  <c:v>1.0760488594127144</c:v>
                </c:pt>
                <c:pt idx="280">
                  <c:v>1.0726765425229505</c:v>
                </c:pt>
                <c:pt idx="281">
                  <c:v>1.0667840877128165</c:v>
                </c:pt>
                <c:pt idx="282">
                  <c:v>1.0682710211903981</c:v>
                </c:pt>
                <c:pt idx="283">
                  <c:v>1.0675200246337144</c:v>
                </c:pt>
                <c:pt idx="284">
                  <c:v>1.0684270815495323</c:v>
                </c:pt>
                <c:pt idx="285">
                  <c:v>1.0687443535872767</c:v>
                </c:pt>
                <c:pt idx="286">
                  <c:v>1.0689252050838953</c:v>
                </c:pt>
                <c:pt idx="287">
                  <c:v>1.0686082647911879</c:v>
                </c:pt>
                <c:pt idx="288">
                  <c:v>1.0666732609442764</c:v>
                </c:pt>
                <c:pt idx="289">
                  <c:v>1.0671009305149612</c:v>
                </c:pt>
                <c:pt idx="290">
                  <c:v>1.0687439216676995</c:v>
                </c:pt>
                <c:pt idx="291">
                  <c:v>1.0668999436260074</c:v>
                </c:pt>
                <c:pt idx="292">
                  <c:v>1.070483778103239</c:v>
                </c:pt>
                <c:pt idx="293">
                  <c:v>1.0706012931129756</c:v>
                </c:pt>
                <c:pt idx="294">
                  <c:v>1.0703189653542702</c:v>
                </c:pt>
                <c:pt idx="295">
                  <c:v>1.0703593879059461</c:v>
                </c:pt>
                <c:pt idx="296">
                  <c:v>1.0718316229229821</c:v>
                </c:pt>
                <c:pt idx="297">
                  <c:v>1.0714673137762365</c:v>
                </c:pt>
                <c:pt idx="298">
                  <c:v>1.0744351839254509</c:v>
                </c:pt>
                <c:pt idx="299">
                  <c:v>1.0712769566969771</c:v>
                </c:pt>
                <c:pt idx="300">
                  <c:v>1.0729163648433766</c:v>
                </c:pt>
                <c:pt idx="301">
                  <c:v>1.071811067721445</c:v>
                </c:pt>
                <c:pt idx="302">
                  <c:v>1.0731278228849668</c:v>
                </c:pt>
                <c:pt idx="303">
                  <c:v>1.0749839108499772</c:v>
                </c:pt>
                <c:pt idx="304">
                  <c:v>1.0772999008847268</c:v>
                </c:pt>
                <c:pt idx="305">
                  <c:v>1.0758096904901595</c:v>
                </c:pt>
                <c:pt idx="306">
                  <c:v>1.0762657714017494</c:v>
                </c:pt>
                <c:pt idx="307">
                  <c:v>1.0777364024699834</c:v>
                </c:pt>
                <c:pt idx="308">
                  <c:v>1.0773071153267919</c:v>
                </c:pt>
                <c:pt idx="309">
                  <c:v>1.0766210719114986</c:v>
                </c:pt>
                <c:pt idx="310">
                  <c:v>1.0772202724400333</c:v>
                </c:pt>
                <c:pt idx="311">
                  <c:v>1.0773925998273752</c:v>
                </c:pt>
                <c:pt idx="312">
                  <c:v>1.0761131693290411</c:v>
                </c:pt>
                <c:pt idx="313">
                  <c:v>1.0719717850182926</c:v>
                </c:pt>
                <c:pt idx="314">
                  <c:v>1.0742364293422439</c:v>
                </c:pt>
                <c:pt idx="315">
                  <c:v>1.0738414681664821</c:v>
                </c:pt>
                <c:pt idx="316">
                  <c:v>1.0740526374410462</c:v>
                </c:pt>
                <c:pt idx="317">
                  <c:v>1.0745740929527512</c:v>
                </c:pt>
                <c:pt idx="318">
                  <c:v>1.0711964222433608</c:v>
                </c:pt>
                <c:pt idx="319">
                  <c:v>1.0725381233381122</c:v>
                </c:pt>
                <c:pt idx="320">
                  <c:v>1.0723519252927574</c:v>
                </c:pt>
                <c:pt idx="321">
                  <c:v>1.0727457981032602</c:v>
                </c:pt>
                <c:pt idx="322">
                  <c:v>1.0739043792920506</c:v>
                </c:pt>
                <c:pt idx="323">
                  <c:v>1.0741611332148735</c:v>
                </c:pt>
                <c:pt idx="324">
                  <c:v>1.0741968945949332</c:v>
                </c:pt>
                <c:pt idx="325">
                  <c:v>1.0745075631974403</c:v>
                </c:pt>
                <c:pt idx="326">
                  <c:v>1.0749408761105412</c:v>
                </c:pt>
                <c:pt idx="327">
                  <c:v>1.073705812931288</c:v>
                </c:pt>
                <c:pt idx="328">
                  <c:v>1.0753528805216377</c:v>
                </c:pt>
                <c:pt idx="329">
                  <c:v>1.0763468867617236</c:v>
                </c:pt>
                <c:pt idx="330">
                  <c:v>1.0748318733214595</c:v>
                </c:pt>
                <c:pt idx="331">
                  <c:v>1.0756822878261545</c:v>
                </c:pt>
                <c:pt idx="332">
                  <c:v>1.0764775343410944</c:v>
                </c:pt>
                <c:pt idx="333">
                  <c:v>1.0765925028404713</c:v>
                </c:pt>
                <c:pt idx="334">
                  <c:v>1.076701224020328</c:v>
                </c:pt>
                <c:pt idx="335">
                  <c:v>1.0770441249839779</c:v>
                </c:pt>
                <c:pt idx="336">
                  <c:v>1.0768248746496953</c:v>
                </c:pt>
                <c:pt idx="337">
                  <c:v>1.0776580596574268</c:v>
                </c:pt>
                <c:pt idx="338">
                  <c:v>1.0794167280192144</c:v>
                </c:pt>
                <c:pt idx="339">
                  <c:v>1.0803299563219595</c:v>
                </c:pt>
                <c:pt idx="340">
                  <c:v>1.0798779252942439</c:v>
                </c:pt>
                <c:pt idx="341">
                  <c:v>1.079946918223549</c:v>
                </c:pt>
                <c:pt idx="342">
                  <c:v>1.0808328452360421</c:v>
                </c:pt>
                <c:pt idx="343">
                  <c:v>1.0807315634143013</c:v>
                </c:pt>
                <c:pt idx="344">
                  <c:v>1.0798912433122607</c:v>
                </c:pt>
                <c:pt idx="345">
                  <c:v>1.0800569361261201</c:v>
                </c:pt>
                <c:pt idx="346">
                  <c:v>1.0847388495020223</c:v>
                </c:pt>
                <c:pt idx="347">
                  <c:v>1.0872755494105963</c:v>
                </c:pt>
                <c:pt idx="348">
                  <c:v>1.0878389070593535</c:v>
                </c:pt>
                <c:pt idx="349">
                  <c:v>1.0903963283646954</c:v>
                </c:pt>
                <c:pt idx="350">
                  <c:v>1.0919838317510695</c:v>
                </c:pt>
                <c:pt idx="351">
                  <c:v>1.0907816564042716</c:v>
                </c:pt>
                <c:pt idx="352">
                  <c:v>1.094182076459405</c:v>
                </c:pt>
                <c:pt idx="353">
                  <c:v>1.0953593522298966</c:v>
                </c:pt>
                <c:pt idx="354">
                  <c:v>1.093802807418822</c:v>
                </c:pt>
                <c:pt idx="355">
                  <c:v>1.0972994099505855</c:v>
                </c:pt>
                <c:pt idx="356">
                  <c:v>1.0983432902911772</c:v>
                </c:pt>
                <c:pt idx="357">
                  <c:v>1.1002544402625789</c:v>
                </c:pt>
                <c:pt idx="358">
                  <c:v>1.0979319188300782</c:v>
                </c:pt>
                <c:pt idx="359">
                  <c:v>1.1025604491208918</c:v>
                </c:pt>
                <c:pt idx="360">
                  <c:v>1.1026067934230532</c:v>
                </c:pt>
                <c:pt idx="361">
                  <c:v>1.1040043438553939</c:v>
                </c:pt>
                <c:pt idx="362">
                  <c:v>1.1033155863993467</c:v>
                </c:pt>
                <c:pt idx="363">
                  <c:v>1.106207383580305</c:v>
                </c:pt>
                <c:pt idx="364">
                  <c:v>1.1070417187666977</c:v>
                </c:pt>
                <c:pt idx="365">
                  <c:v>1.106081060475324</c:v>
                </c:pt>
                <c:pt idx="366">
                  <c:v>1.1060594336948948</c:v>
                </c:pt>
                <c:pt idx="367">
                  <c:v>1.1059611342377422</c:v>
                </c:pt>
                <c:pt idx="368">
                  <c:v>1.1047937788545008</c:v>
                </c:pt>
                <c:pt idx="369">
                  <c:v>1.1041198367421783</c:v>
                </c:pt>
                <c:pt idx="370">
                  <c:v>1.1089320620735696</c:v>
                </c:pt>
                <c:pt idx="371">
                  <c:v>1.1109658083150153</c:v>
                </c:pt>
                <c:pt idx="372">
                  <c:v>1.1102505482695881</c:v>
                </c:pt>
                <c:pt idx="373">
                  <c:v>1.108613370044766</c:v>
                </c:pt>
                <c:pt idx="374">
                  <c:v>1.1120824369601756</c:v>
                </c:pt>
                <c:pt idx="375">
                  <c:v>1.1112390831798404</c:v>
                </c:pt>
                <c:pt idx="376">
                  <c:v>1.10706716227513</c:v>
                </c:pt>
                <c:pt idx="377">
                  <c:v>1.1090979677316499</c:v>
                </c:pt>
                <c:pt idx="378">
                  <c:v>1.1104203962688819</c:v>
                </c:pt>
                <c:pt idx="379">
                  <c:v>1.1118082943627341</c:v>
                </c:pt>
                <c:pt idx="380">
                  <c:v>1.1093083882768191</c:v>
                </c:pt>
                <c:pt idx="381">
                  <c:v>1.109565169634146</c:v>
                </c:pt>
                <c:pt idx="382">
                  <c:v>1.1105107132371645</c:v>
                </c:pt>
                <c:pt idx="383">
                  <c:v>1.1120103083323831</c:v>
                </c:pt>
                <c:pt idx="384">
                  <c:v>1.1123840569295196</c:v>
                </c:pt>
                <c:pt idx="385">
                  <c:v>1.1125179427998615</c:v>
                </c:pt>
                <c:pt idx="386">
                  <c:v>1.1143584671385969</c:v>
                </c:pt>
                <c:pt idx="387">
                  <c:v>1.1151039406842431</c:v>
                </c:pt>
                <c:pt idx="388">
                  <c:v>1.1177975267428739</c:v>
                </c:pt>
                <c:pt idx="389">
                  <c:v>1.1188780809597079</c:v>
                </c:pt>
                <c:pt idx="390">
                  <c:v>1.1202215845232024</c:v>
                </c:pt>
                <c:pt idx="391">
                  <c:v>1.1216777281134085</c:v>
                </c:pt>
                <c:pt idx="392">
                  <c:v>1.1247869816377207</c:v>
                </c:pt>
                <c:pt idx="393">
                  <c:v>1.1254098471738989</c:v>
                </c:pt>
                <c:pt idx="394">
                  <c:v>1.1242649192899492</c:v>
                </c:pt>
                <c:pt idx="395">
                  <c:v>1.1258743305535579</c:v>
                </c:pt>
                <c:pt idx="396">
                  <c:v>1.1243606791343086</c:v>
                </c:pt>
                <c:pt idx="397">
                  <c:v>1.120004552654652</c:v>
                </c:pt>
                <c:pt idx="398">
                  <c:v>1.1198376621643986</c:v>
                </c:pt>
                <c:pt idx="399">
                  <c:v>1.1206846995027042</c:v>
                </c:pt>
                <c:pt idx="400">
                  <c:v>1.1188903488077213</c:v>
                </c:pt>
                <c:pt idx="401">
                  <c:v>1.1179080263940502</c:v>
                </c:pt>
                <c:pt idx="402">
                  <c:v>1.1174509759500044</c:v>
                </c:pt>
                <c:pt idx="403">
                  <c:v>1.1179767683135577</c:v>
                </c:pt>
                <c:pt idx="404">
                  <c:v>1.1178632698162916</c:v>
                </c:pt>
                <c:pt idx="405">
                  <c:v>1.1192450671660594</c:v>
                </c:pt>
                <c:pt idx="406">
                  <c:v>1.119509180324298</c:v>
                </c:pt>
                <c:pt idx="407">
                  <c:v>1.1199443451622599</c:v>
                </c:pt>
                <c:pt idx="408">
                  <c:v>1.1229865145089111</c:v>
                </c:pt>
                <c:pt idx="409">
                  <c:v>1.1238336507488491</c:v>
                </c:pt>
                <c:pt idx="410">
                  <c:v>1.1226044102358821</c:v>
                </c:pt>
                <c:pt idx="411">
                  <c:v>1.1223344202070737</c:v>
                </c:pt>
                <c:pt idx="412">
                  <c:v>1.1226937607615319</c:v>
                </c:pt>
                <c:pt idx="413">
                  <c:v>1.1216625123596793</c:v>
                </c:pt>
                <c:pt idx="414">
                  <c:v>1.1217625017371335</c:v>
                </c:pt>
                <c:pt idx="415">
                  <c:v>1.1192939758510092</c:v>
                </c:pt>
                <c:pt idx="416">
                  <c:v>1.1183560983232845</c:v>
                </c:pt>
                <c:pt idx="417">
                  <c:v>1.1198761525151981</c:v>
                </c:pt>
                <c:pt idx="418">
                  <c:v>1.1212776425430837</c:v>
                </c:pt>
                <c:pt idx="419">
                  <c:v>1.1138395094830649</c:v>
                </c:pt>
                <c:pt idx="420">
                  <c:v>1.1203503230637277</c:v>
                </c:pt>
                <c:pt idx="421">
                  <c:v>1.1188468325498619</c:v>
                </c:pt>
                <c:pt idx="422">
                  <c:v>1.1168190496968202</c:v>
                </c:pt>
                <c:pt idx="423">
                  <c:v>1.1166254161679157</c:v>
                </c:pt>
                <c:pt idx="424">
                  <c:v>1.1141085920652165</c:v>
                </c:pt>
                <c:pt idx="425">
                  <c:v>1.1130280677819058</c:v>
                </c:pt>
                <c:pt idx="426">
                  <c:v>1.1126354979493025</c:v>
                </c:pt>
                <c:pt idx="427">
                  <c:v>1.1099125420671196</c:v>
                </c:pt>
                <c:pt idx="428">
                  <c:v>1.1102093740504089</c:v>
                </c:pt>
                <c:pt idx="429">
                  <c:v>1.1082898852408722</c:v>
                </c:pt>
                <c:pt idx="430">
                  <c:v>1.1079658443714</c:v>
                </c:pt>
                <c:pt idx="431">
                  <c:v>1.10493981252457</c:v>
                </c:pt>
                <c:pt idx="432">
                  <c:v>1.1036833083255611</c:v>
                </c:pt>
                <c:pt idx="433">
                  <c:v>1.1040570920182353</c:v>
                </c:pt>
                <c:pt idx="434">
                  <c:v>1.1041379237059297</c:v>
                </c:pt>
                <c:pt idx="435">
                  <c:v>1.0993952100698792</c:v>
                </c:pt>
                <c:pt idx="436">
                  <c:v>1.1009087303939513</c:v>
                </c:pt>
                <c:pt idx="437">
                  <c:v>1.0998200429416825</c:v>
                </c:pt>
                <c:pt idx="438">
                  <c:v>1.0990899303807724</c:v>
                </c:pt>
                <c:pt idx="439">
                  <c:v>1.0965472017914684</c:v>
                </c:pt>
                <c:pt idx="440">
                  <c:v>1.0966423499029991</c:v>
                </c:pt>
                <c:pt idx="441">
                  <c:v>1.093185716429556</c:v>
                </c:pt>
                <c:pt idx="442">
                  <c:v>1.0886825373763918</c:v>
                </c:pt>
                <c:pt idx="443">
                  <c:v>1.0897742393961143</c:v>
                </c:pt>
                <c:pt idx="444">
                  <c:v>1.0920145742826632</c:v>
                </c:pt>
                <c:pt idx="445">
                  <c:v>1.0953840398631063</c:v>
                </c:pt>
                <c:pt idx="446">
                  <c:v>1.0953979870902888</c:v>
                </c:pt>
                <c:pt idx="447">
                  <c:v>1.0926809919396097</c:v>
                </c:pt>
                <c:pt idx="448">
                  <c:v>1.0920874778122973</c:v>
                </c:pt>
                <c:pt idx="449">
                  <c:v>1.0914470410882973</c:v>
                </c:pt>
                <c:pt idx="450">
                  <c:v>1.0921765088582092</c:v>
                </c:pt>
                <c:pt idx="451">
                  <c:v>1.0938423843894585</c:v>
                </c:pt>
                <c:pt idx="452">
                  <c:v>1.0913214280268784</c:v>
                </c:pt>
                <c:pt idx="453">
                  <c:v>1.0936668890291514</c:v>
                </c:pt>
                <c:pt idx="454">
                  <c:v>1.0963539506717117</c:v>
                </c:pt>
                <c:pt idx="455">
                  <c:v>1.095964794999539</c:v>
                </c:pt>
                <c:pt idx="456">
                  <c:v>1.095816223906094</c:v>
                </c:pt>
                <c:pt idx="457">
                  <c:v>1.0961586178741924</c:v>
                </c:pt>
                <c:pt idx="458">
                  <c:v>1.0983982947580815</c:v>
                </c:pt>
                <c:pt idx="459">
                  <c:v>1.0992000262586898</c:v>
                </c:pt>
                <c:pt idx="460">
                  <c:v>1.0980687679957819</c:v>
                </c:pt>
                <c:pt idx="461">
                  <c:v>1.09893398993856</c:v>
                </c:pt>
                <c:pt idx="462">
                  <c:v>1.100751108319775</c:v>
                </c:pt>
                <c:pt idx="463">
                  <c:v>1.1021017538238951</c:v>
                </c:pt>
                <c:pt idx="464">
                  <c:v>1.1015922620375969</c:v>
                </c:pt>
                <c:pt idx="465">
                  <c:v>1.1020917654317182</c:v>
                </c:pt>
                <c:pt idx="466">
                  <c:v>1.1022278613950565</c:v>
                </c:pt>
                <c:pt idx="467">
                  <c:v>1.1013379411406945</c:v>
                </c:pt>
                <c:pt idx="468">
                  <c:v>1.1028365168979744</c:v>
                </c:pt>
                <c:pt idx="469">
                  <c:v>1.1016096746610371</c:v>
                </c:pt>
                <c:pt idx="470">
                  <c:v>1.1007118222619485</c:v>
                </c:pt>
                <c:pt idx="471">
                  <c:v>1.0988066042963867</c:v>
                </c:pt>
                <c:pt idx="472">
                  <c:v>1.1012230724414827</c:v>
                </c:pt>
                <c:pt idx="473">
                  <c:v>1.1019417102202689</c:v>
                </c:pt>
                <c:pt idx="474">
                  <c:v>1.1030008361997121</c:v>
                </c:pt>
                <c:pt idx="475">
                  <c:v>1.1016909679030584</c:v>
                </c:pt>
                <c:pt idx="476">
                  <c:v>1.1017787140012114</c:v>
                </c:pt>
                <c:pt idx="477">
                  <c:v>1.1034781186776046</c:v>
                </c:pt>
                <c:pt idx="478">
                  <c:v>1.1048813757548868</c:v>
                </c:pt>
                <c:pt idx="479">
                  <c:v>1.106033652498108</c:v>
                </c:pt>
                <c:pt idx="480">
                  <c:v>1.1075831801830114</c:v>
                </c:pt>
                <c:pt idx="481">
                  <c:v>1.1070851619360771</c:v>
                </c:pt>
                <c:pt idx="482">
                  <c:v>1.1055454035541847</c:v>
                </c:pt>
                <c:pt idx="483">
                  <c:v>1.1089127823418192</c:v>
                </c:pt>
                <c:pt idx="484">
                  <c:v>1.1078705231543693</c:v>
                </c:pt>
                <c:pt idx="485">
                  <c:v>1.1091478280912186</c:v>
                </c:pt>
                <c:pt idx="486">
                  <c:v>1.1064677301801376</c:v>
                </c:pt>
                <c:pt idx="487">
                  <c:v>1.1054032928000579</c:v>
                </c:pt>
                <c:pt idx="488">
                  <c:v>1.1054239073930034</c:v>
                </c:pt>
                <c:pt idx="489">
                  <c:v>1.1062483576558317</c:v>
                </c:pt>
                <c:pt idx="490">
                  <c:v>1.1071582607946935</c:v>
                </c:pt>
                <c:pt idx="491">
                  <c:v>1.1079608413419826</c:v>
                </c:pt>
                <c:pt idx="492">
                  <c:v>1.1067995677091558</c:v>
                </c:pt>
                <c:pt idx="493">
                  <c:v>1.1055721247021435</c:v>
                </c:pt>
                <c:pt idx="494">
                  <c:v>1.1090548746500242</c:v>
                </c:pt>
                <c:pt idx="495">
                  <c:v>1.1103837025414538</c:v>
                </c:pt>
                <c:pt idx="496">
                  <c:v>1.1128828431376201</c:v>
                </c:pt>
                <c:pt idx="497">
                  <c:v>1.1124253878135253</c:v>
                </c:pt>
                <c:pt idx="498">
                  <c:v>1.1109936401622635</c:v>
                </c:pt>
                <c:pt idx="499">
                  <c:v>1.1105339205252494</c:v>
                </c:pt>
                <c:pt idx="500">
                  <c:v>1.1090678543782024</c:v>
                </c:pt>
                <c:pt idx="501">
                  <c:v>1.110090283066655</c:v>
                </c:pt>
                <c:pt idx="502">
                  <c:v>1.1102325817674676</c:v>
                </c:pt>
                <c:pt idx="503">
                  <c:v>1.1104491336636322</c:v>
                </c:pt>
                <c:pt idx="504">
                  <c:v>1.1104841841291262</c:v>
                </c:pt>
                <c:pt idx="505">
                  <c:v>1.1105398278916336</c:v>
                </c:pt>
                <c:pt idx="506">
                  <c:v>1.1125278113214609</c:v>
                </c:pt>
                <c:pt idx="507">
                  <c:v>1.1131718208812236</c:v>
                </c:pt>
                <c:pt idx="508">
                  <c:v>1.1125222877495471</c:v>
                </c:pt>
                <c:pt idx="509">
                  <c:v>1.1108298063419462</c:v>
                </c:pt>
                <c:pt idx="510">
                  <c:v>1.1103703515884398</c:v>
                </c:pt>
                <c:pt idx="511">
                  <c:v>1.1093845406057394</c:v>
                </c:pt>
                <c:pt idx="512">
                  <c:v>1.1080945925559242</c:v>
                </c:pt>
                <c:pt idx="513">
                  <c:v>1.1107235189777163</c:v>
                </c:pt>
                <c:pt idx="514">
                  <c:v>1.1129503183300926</c:v>
                </c:pt>
                <c:pt idx="515">
                  <c:v>1.1139115684298866</c:v>
                </c:pt>
                <c:pt idx="516">
                  <c:v>1.1129021144997793</c:v>
                </c:pt>
                <c:pt idx="517">
                  <c:v>1.1137612050738579</c:v>
                </c:pt>
                <c:pt idx="518">
                  <c:v>1.1140216570695369</c:v>
                </c:pt>
                <c:pt idx="519">
                  <c:v>1.1147518800195497</c:v>
                </c:pt>
                <c:pt idx="520">
                  <c:v>1.1142162418103707</c:v>
                </c:pt>
                <c:pt idx="521">
                  <c:v>1.1133693403617637</c:v>
                </c:pt>
                <c:pt idx="522">
                  <c:v>1.1148560113554618</c:v>
                </c:pt>
                <c:pt idx="523">
                  <c:v>1.1141398351501595</c:v>
                </c:pt>
                <c:pt idx="524">
                  <c:v>1.1152226654213115</c:v>
                </c:pt>
                <c:pt idx="525">
                  <c:v>1.1146694052056809</c:v>
                </c:pt>
                <c:pt idx="526">
                  <c:v>1.1144030875877309</c:v>
                </c:pt>
                <c:pt idx="527">
                  <c:v>1.1143180177015408</c:v>
                </c:pt>
                <c:pt idx="528">
                  <c:v>1.1134913097573815</c:v>
                </c:pt>
                <c:pt idx="529">
                  <c:v>1.1137893133310615</c:v>
                </c:pt>
                <c:pt idx="530">
                  <c:v>1.1150585333714726</c:v>
                </c:pt>
                <c:pt idx="531">
                  <c:v>1.1147724025384378</c:v>
                </c:pt>
                <c:pt idx="532">
                  <c:v>1.1147018842883802</c:v>
                </c:pt>
                <c:pt idx="533">
                  <c:v>1.1157534407516687</c:v>
                </c:pt>
                <c:pt idx="534">
                  <c:v>1.1155946931263918</c:v>
                </c:pt>
                <c:pt idx="535">
                  <c:v>1.1176473718005615</c:v>
                </c:pt>
                <c:pt idx="536">
                  <c:v>1.1165164658285702</c:v>
                </c:pt>
                <c:pt idx="537">
                  <c:v>1.1167483270598026</c:v>
                </c:pt>
                <c:pt idx="538">
                  <c:v>1.1162692734858886</c:v>
                </c:pt>
                <c:pt idx="539">
                  <c:v>1.1203198954869442</c:v>
                </c:pt>
                <c:pt idx="540">
                  <c:v>1.1223174983248065</c:v>
                </c:pt>
                <c:pt idx="541">
                  <c:v>1.1154828869089606</c:v>
                </c:pt>
                <c:pt idx="542">
                  <c:v>1.1144374071993413</c:v>
                </c:pt>
                <c:pt idx="543">
                  <c:v>1.1122878757318548</c:v>
                </c:pt>
                <c:pt idx="544">
                  <c:v>1.1126950715654842</c:v>
                </c:pt>
                <c:pt idx="545">
                  <c:v>1.116302028641287</c:v>
                </c:pt>
                <c:pt idx="546">
                  <c:v>1.1169819388854436</c:v>
                </c:pt>
                <c:pt idx="547">
                  <c:v>1.1186329404217832</c:v>
                </c:pt>
                <c:pt idx="548">
                  <c:v>1.1203336912575981</c:v>
                </c:pt>
                <c:pt idx="549">
                  <c:v>1.1175061070976697</c:v>
                </c:pt>
                <c:pt idx="550">
                  <c:v>1.1196691422100831</c:v>
                </c:pt>
                <c:pt idx="551">
                  <c:v>1.1199567205427543</c:v>
                </c:pt>
                <c:pt idx="552">
                  <c:v>1.1232207081914884</c:v>
                </c:pt>
                <c:pt idx="553">
                  <c:v>1.1223332837477853</c:v>
                </c:pt>
                <c:pt idx="554">
                  <c:v>1.1240310984168864</c:v>
                </c:pt>
                <c:pt idx="555">
                  <c:v>1.1237700122624694</c:v>
                </c:pt>
                <c:pt idx="556">
                  <c:v>1.1222706984434425</c:v>
                </c:pt>
                <c:pt idx="557">
                  <c:v>1.1198171505261418</c:v>
                </c:pt>
                <c:pt idx="558">
                  <c:v>1.1201210480680814</c:v>
                </c:pt>
                <c:pt idx="559">
                  <c:v>1.1201227135695131</c:v>
                </c:pt>
                <c:pt idx="560">
                  <c:v>1.1237314559991811</c:v>
                </c:pt>
                <c:pt idx="561">
                  <c:v>1.1226191175911548</c:v>
                </c:pt>
                <c:pt idx="562">
                  <c:v>1.123847564333565</c:v>
                </c:pt>
                <c:pt idx="563">
                  <c:v>1.1268181333383165</c:v>
                </c:pt>
                <c:pt idx="564">
                  <c:v>1.1297558905929348</c:v>
                </c:pt>
                <c:pt idx="565">
                  <c:v>1.128691046742671</c:v>
                </c:pt>
                <c:pt idx="566">
                  <c:v>1.1297052926133346</c:v>
                </c:pt>
                <c:pt idx="567">
                  <c:v>1.130340085561115</c:v>
                </c:pt>
                <c:pt idx="568">
                  <c:v>1.1322937453878674</c:v>
                </c:pt>
                <c:pt idx="569">
                  <c:v>1.1334267073863213</c:v>
                </c:pt>
                <c:pt idx="570">
                  <c:v>1.1337464965155353</c:v>
                </c:pt>
                <c:pt idx="571">
                  <c:v>1.1334679317373781</c:v>
                </c:pt>
                <c:pt idx="572">
                  <c:v>1.1354333682977822</c:v>
                </c:pt>
                <c:pt idx="573">
                  <c:v>1.1370920992559781</c:v>
                </c:pt>
                <c:pt idx="574">
                  <c:v>1.133953910354411</c:v>
                </c:pt>
                <c:pt idx="575">
                  <c:v>1.1358814039808829</c:v>
                </c:pt>
                <c:pt idx="576">
                  <c:v>1.1348790663103527</c:v>
                </c:pt>
                <c:pt idx="577">
                  <c:v>1.1325276490570557</c:v>
                </c:pt>
                <c:pt idx="578">
                  <c:v>1.1306664174589989</c:v>
                </c:pt>
                <c:pt idx="579">
                  <c:v>1.1314005953268316</c:v>
                </c:pt>
                <c:pt idx="580">
                  <c:v>1.130572034330932</c:v>
                </c:pt>
                <c:pt idx="581">
                  <c:v>1.1325458392602596</c:v>
                </c:pt>
                <c:pt idx="582">
                  <c:v>1.1339683835935941</c:v>
                </c:pt>
                <c:pt idx="583">
                  <c:v>1.1347767191271729</c:v>
                </c:pt>
                <c:pt idx="584">
                  <c:v>1.135700343586477</c:v>
                </c:pt>
                <c:pt idx="585">
                  <c:v>1.1351361923565846</c:v>
                </c:pt>
                <c:pt idx="586">
                  <c:v>1.1358297581839263</c:v>
                </c:pt>
                <c:pt idx="587">
                  <c:v>1.1353030060807665</c:v>
                </c:pt>
                <c:pt idx="588">
                  <c:v>1.1358289017862109</c:v>
                </c:pt>
                <c:pt idx="589">
                  <c:v>1.1397391828425099</c:v>
                </c:pt>
                <c:pt idx="590">
                  <c:v>1.1397075989406518</c:v>
                </c:pt>
                <c:pt idx="591">
                  <c:v>1.1386383594273415</c:v>
                </c:pt>
                <c:pt idx="592">
                  <c:v>1.1377588554971001</c:v>
                </c:pt>
                <c:pt idx="593">
                  <c:v>1.1384851060706542</c:v>
                </c:pt>
                <c:pt idx="594">
                  <c:v>1.1366282926956908</c:v>
                </c:pt>
                <c:pt idx="595">
                  <c:v>1.1346042252586601</c:v>
                </c:pt>
                <c:pt idx="596">
                  <c:v>1.1362092787197087</c:v>
                </c:pt>
                <c:pt idx="597">
                  <c:v>1.137051326615808</c:v>
                </c:pt>
                <c:pt idx="598">
                  <c:v>1.1375740728527974</c:v>
                </c:pt>
                <c:pt idx="599">
                  <c:v>1.1390263051271021</c:v>
                </c:pt>
                <c:pt idx="600">
                  <c:v>1.1396086109805426</c:v>
                </c:pt>
                <c:pt idx="601">
                  <c:v>1.135553081376204</c:v>
                </c:pt>
                <c:pt idx="602">
                  <c:v>1.1365626405022315</c:v>
                </c:pt>
                <c:pt idx="603">
                  <c:v>1.1372293532816513</c:v>
                </c:pt>
                <c:pt idx="604">
                  <c:v>1.1382498575458624</c:v>
                </c:pt>
                <c:pt idx="605">
                  <c:v>1.1383290459781006</c:v>
                </c:pt>
                <c:pt idx="606">
                  <c:v>1.1339794418848486</c:v>
                </c:pt>
                <c:pt idx="607">
                  <c:v>1.1339668011962769</c:v>
                </c:pt>
                <c:pt idx="608">
                  <c:v>1.1309024370594685</c:v>
                </c:pt>
                <c:pt idx="609">
                  <c:v>1.1322304320848882</c:v>
                </c:pt>
                <c:pt idx="610">
                  <c:v>1.1307485235474242</c:v>
                </c:pt>
                <c:pt idx="611">
                  <c:v>1.1297803240842523</c:v>
                </c:pt>
                <c:pt idx="612">
                  <c:v>1.1313899363511239</c:v>
                </c:pt>
                <c:pt idx="613">
                  <c:v>1.1275935268625634</c:v>
                </c:pt>
                <c:pt idx="614">
                  <c:v>1.1274124876270835</c:v>
                </c:pt>
                <c:pt idx="615">
                  <c:v>1.1262974898829423</c:v>
                </c:pt>
                <c:pt idx="616">
                  <c:v>1.1229418567762846</c:v>
                </c:pt>
                <c:pt idx="617">
                  <c:v>1.1249718646928561</c:v>
                </c:pt>
                <c:pt idx="618">
                  <c:v>1.1235655325690321</c:v>
                </c:pt>
                <c:pt idx="619">
                  <c:v>1.1237078260262967</c:v>
                </c:pt>
                <c:pt idx="620">
                  <c:v>1.1232540005974629</c:v>
                </c:pt>
                <c:pt idx="621">
                  <c:v>1.1254366079297045</c:v>
                </c:pt>
                <c:pt idx="622">
                  <c:v>1.124329527948337</c:v>
                </c:pt>
                <c:pt idx="623">
                  <c:v>1.1241033246972931</c:v>
                </c:pt>
                <c:pt idx="624">
                  <c:v>1.1254983762758566</c:v>
                </c:pt>
                <c:pt idx="625">
                  <c:v>1.1243644531634769</c:v>
                </c:pt>
                <c:pt idx="626">
                  <c:v>1.1270282013725528</c:v>
                </c:pt>
                <c:pt idx="627">
                  <c:v>1.1242537645418924</c:v>
                </c:pt>
                <c:pt idx="628">
                  <c:v>1.1304571165642996</c:v>
                </c:pt>
                <c:pt idx="629">
                  <c:v>1.1309645327471762</c:v>
                </c:pt>
                <c:pt idx="630">
                  <c:v>1.1291178384618552</c:v>
                </c:pt>
                <c:pt idx="631">
                  <c:v>1.1250527032036313</c:v>
                </c:pt>
                <c:pt idx="632">
                  <c:v>1.1275870067827667</c:v>
                </c:pt>
                <c:pt idx="633">
                  <c:v>1.12829863565718</c:v>
                </c:pt>
                <c:pt idx="634">
                  <c:v>1.1301050429692452</c:v>
                </c:pt>
                <c:pt idx="635">
                  <c:v>1.1277840202077201</c:v>
                </c:pt>
                <c:pt idx="636">
                  <c:v>1.1290485043962788</c:v>
                </c:pt>
                <c:pt idx="637">
                  <c:v>1.1265477342035635</c:v>
                </c:pt>
                <c:pt idx="638">
                  <c:v>1.123805805180512</c:v>
                </c:pt>
                <c:pt idx="639">
                  <c:v>1.1231544500633499</c:v>
                </c:pt>
                <c:pt idx="640">
                  <c:v>1.1159810944816788</c:v>
                </c:pt>
                <c:pt idx="641">
                  <c:v>1.1204989093902433</c:v>
                </c:pt>
                <c:pt idx="642">
                  <c:v>1.1173518078136626</c:v>
                </c:pt>
                <c:pt idx="643">
                  <c:v>1.1218254352547321</c:v>
                </c:pt>
                <c:pt idx="644">
                  <c:v>1.1180294527551353</c:v>
                </c:pt>
                <c:pt idx="645">
                  <c:v>1.1195951348242075</c:v>
                </c:pt>
                <c:pt idx="646">
                  <c:v>1.1182890989130152</c:v>
                </c:pt>
                <c:pt idx="647">
                  <c:v>1.1170675255138762</c:v>
                </c:pt>
                <c:pt idx="648">
                  <c:v>1.113239456397384</c:v>
                </c:pt>
                <c:pt idx="649">
                  <c:v>1.1127164117465591</c:v>
                </c:pt>
                <c:pt idx="650">
                  <c:v>1.113682870517072</c:v>
                </c:pt>
                <c:pt idx="651">
                  <c:v>1.1138811075294697</c:v>
                </c:pt>
                <c:pt idx="652">
                  <c:v>1.1157524662291893</c:v>
                </c:pt>
                <c:pt idx="653">
                  <c:v>1.1124991830960258</c:v>
                </c:pt>
                <c:pt idx="654">
                  <c:v>1.1127924653896339</c:v>
                </c:pt>
                <c:pt idx="655">
                  <c:v>1.1131464794530266</c:v>
                </c:pt>
                <c:pt idx="656">
                  <c:v>1.1135796381138638</c:v>
                </c:pt>
                <c:pt idx="657">
                  <c:v>1.116228879738937</c:v>
                </c:pt>
                <c:pt idx="658">
                  <c:v>1.1141351135291691</c:v>
                </c:pt>
                <c:pt idx="659">
                  <c:v>1.1148175664273889</c:v>
                </c:pt>
                <c:pt idx="660">
                  <c:v>1.1138958302095656</c:v>
                </c:pt>
                <c:pt idx="661">
                  <c:v>1.1108958688102577</c:v>
                </c:pt>
                <c:pt idx="662">
                  <c:v>1.1082030900197273</c:v>
                </c:pt>
                <c:pt idx="663">
                  <c:v>1.1089294496798667</c:v>
                </c:pt>
                <c:pt idx="664">
                  <c:v>1.1064221086049482</c:v>
                </c:pt>
                <c:pt idx="665">
                  <c:v>1.1103144709205921</c:v>
                </c:pt>
                <c:pt idx="666">
                  <c:v>1.1124124074808754</c:v>
                </c:pt>
                <c:pt idx="667">
                  <c:v>1.1132743038391859</c:v>
                </c:pt>
                <c:pt idx="668">
                  <c:v>1.1156951673096542</c:v>
                </c:pt>
                <c:pt idx="669">
                  <c:v>1.1139882365205116</c:v>
                </c:pt>
                <c:pt idx="670">
                  <c:v>1.1106245425477881</c:v>
                </c:pt>
                <c:pt idx="671">
                  <c:v>1.1121589186998064</c:v>
                </c:pt>
                <c:pt idx="672">
                  <c:v>1.1141821397694018</c:v>
                </c:pt>
                <c:pt idx="673">
                  <c:v>1.1100872595341396</c:v>
                </c:pt>
                <c:pt idx="674">
                  <c:v>1.1066166961882253</c:v>
                </c:pt>
                <c:pt idx="675">
                  <c:v>1.1056940505507034</c:v>
                </c:pt>
                <c:pt idx="676">
                  <c:v>1.1049650315858586</c:v>
                </c:pt>
                <c:pt idx="677">
                  <c:v>1.106100375778984</c:v>
                </c:pt>
                <c:pt idx="678">
                  <c:v>1.1096364400947158</c:v>
                </c:pt>
                <c:pt idx="679">
                  <c:v>1.1086439737428333</c:v>
                </c:pt>
                <c:pt idx="680">
                  <c:v>1.1078708326636442</c:v>
                </c:pt>
                <c:pt idx="681">
                  <c:v>1.1081382940946831</c:v>
                </c:pt>
                <c:pt idx="682">
                  <c:v>1.1075656647799956</c:v>
                </c:pt>
                <c:pt idx="683">
                  <c:v>1.1079687112898917</c:v>
                </c:pt>
                <c:pt idx="684">
                  <c:v>1.109717915153857</c:v>
                </c:pt>
                <c:pt idx="685">
                  <c:v>1.1119922759649812</c:v>
                </c:pt>
                <c:pt idx="686">
                  <c:v>1.1154502490673261</c:v>
                </c:pt>
                <c:pt idx="687">
                  <c:v>1.1137544483304986</c:v>
                </c:pt>
                <c:pt idx="688">
                  <c:v>1.1161578812752504</c:v>
                </c:pt>
                <c:pt idx="689">
                  <c:v>1.113552399522207</c:v>
                </c:pt>
                <c:pt idx="690">
                  <c:v>1.1151733079631745</c:v>
                </c:pt>
                <c:pt idx="691">
                  <c:v>1.1152187820905164</c:v>
                </c:pt>
                <c:pt idx="692">
                  <c:v>1.1164812935445452</c:v>
                </c:pt>
                <c:pt idx="693">
                  <c:v>1.1218907690333721</c:v>
                </c:pt>
                <c:pt idx="694">
                  <c:v>1.1215983670798417</c:v>
                </c:pt>
                <c:pt idx="695">
                  <c:v>1.1185902583570122</c:v>
                </c:pt>
                <c:pt idx="696">
                  <c:v>1.115874402673378</c:v>
                </c:pt>
                <c:pt idx="697">
                  <c:v>1.1178288279375066</c:v>
                </c:pt>
                <c:pt idx="698">
                  <c:v>1.1167991777834883</c:v>
                </c:pt>
                <c:pt idx="699">
                  <c:v>1.1130099091847956</c:v>
                </c:pt>
                <c:pt idx="700">
                  <c:v>1.1142352926642698</c:v>
                </c:pt>
                <c:pt idx="701">
                  <c:v>1.115053353253642</c:v>
                </c:pt>
                <c:pt idx="702">
                  <c:v>1.1146498569858703</c:v>
                </c:pt>
                <c:pt idx="703">
                  <c:v>1.1157263984454935</c:v>
                </c:pt>
                <c:pt idx="704">
                  <c:v>1.1104770621539439</c:v>
                </c:pt>
                <c:pt idx="705">
                  <c:v>1.1065157055748371</c:v>
                </c:pt>
                <c:pt idx="706">
                  <c:v>1.1058112353453602</c:v>
                </c:pt>
                <c:pt idx="707">
                  <c:v>1.1092227713100571</c:v>
                </c:pt>
                <c:pt idx="708">
                  <c:v>1.1102325041253496</c:v>
                </c:pt>
                <c:pt idx="709">
                  <c:v>1.1129901997550296</c:v>
                </c:pt>
                <c:pt idx="710">
                  <c:v>1.1160315478440754</c:v>
                </c:pt>
                <c:pt idx="711">
                  <c:v>1.1117480718295216</c:v>
                </c:pt>
                <c:pt idx="712">
                  <c:v>1.1158100949837821</c:v>
                </c:pt>
                <c:pt idx="713">
                  <c:v>1.114740674536959</c:v>
                </c:pt>
                <c:pt idx="714">
                  <c:v>1.1089154637868037</c:v>
                </c:pt>
                <c:pt idx="715">
                  <c:v>1.1094774386172266</c:v>
                </c:pt>
                <c:pt idx="716">
                  <c:v>1.1069649366380137</c:v>
                </c:pt>
                <c:pt idx="717">
                  <c:v>1.1087922099655227</c:v>
                </c:pt>
                <c:pt idx="718">
                  <c:v>1.1081856148770071</c:v>
                </c:pt>
                <c:pt idx="719">
                  <c:v>1.1097115190814841</c:v>
                </c:pt>
                <c:pt idx="720">
                  <c:v>1.1101975643510251</c:v>
                </c:pt>
                <c:pt idx="721">
                  <c:v>1.1110272663549545</c:v>
                </c:pt>
                <c:pt idx="722">
                  <c:v>1.1092350340369737</c:v>
                </c:pt>
                <c:pt idx="723">
                  <c:v>1.1107501269969535</c:v>
                </c:pt>
                <c:pt idx="724">
                  <c:v>1.1086202564210845</c:v>
                </c:pt>
                <c:pt idx="725">
                  <c:v>1.1084561977198784</c:v>
                </c:pt>
                <c:pt idx="726">
                  <c:v>1.108336571902887</c:v>
                </c:pt>
                <c:pt idx="727">
                  <c:v>1.1052028894627111</c:v>
                </c:pt>
                <c:pt idx="728">
                  <c:v>1.107809172205003</c:v>
                </c:pt>
                <c:pt idx="729">
                  <c:v>1.1072546889259682</c:v>
                </c:pt>
              </c:numCache>
            </c:numRef>
          </c:val>
          <c:extLst>
            <c:ext xmlns:c16="http://schemas.microsoft.com/office/drawing/2014/chart" uri="{C3380CC4-5D6E-409C-BE32-E72D297353CC}">
              <c16:uniqueId val="{00000000-83BF-45A9-8FF8-3D99A3E70A66}"/>
            </c:ext>
          </c:extLst>
        </c:ser>
        <c:dLbls>
          <c:showLegendKey val="0"/>
          <c:showVal val="0"/>
          <c:showCatName val="0"/>
          <c:showSerName val="0"/>
          <c:showPercent val="0"/>
          <c:showBubbleSize val="0"/>
        </c:dLbls>
        <c:axId val="810360144"/>
        <c:axId val="810345168"/>
      </c:areaChart>
      <c:lineChart>
        <c:grouping val="standard"/>
        <c:varyColors val="0"/>
        <c:ser>
          <c:idx val="3"/>
          <c:order val="2"/>
          <c:tx>
            <c:strRef>
              <c:f>'3.file'!$I$2</c:f>
              <c:strCache>
                <c:ptCount val="1"/>
                <c:pt idx="0">
                  <c:v>沪深300</c:v>
                </c:pt>
              </c:strCache>
            </c:strRef>
          </c:tx>
          <c:spPr>
            <a:ln w="28575" cap="rnd">
              <a:solidFill>
                <a:srgbClr val="0070C0"/>
              </a:solidFill>
              <a:prstDash val="solid"/>
              <a:round/>
            </a:ln>
          </c:spPr>
          <c:marker>
            <c:symbol val="none"/>
          </c:marker>
          <c:cat>
            <c:numRef>
              <c:f>[0]!日期</c:f>
              <c:numCache>
                <c:formatCode>yyyy\-mm\-dd</c:formatCode>
                <c:ptCount val="730"/>
                <c:pt idx="0">
                  <c:v>44936</c:v>
                </c:pt>
                <c:pt idx="1">
                  <c:v>44937</c:v>
                </c:pt>
                <c:pt idx="2">
                  <c:v>44938</c:v>
                </c:pt>
                <c:pt idx="3">
                  <c:v>44939</c:v>
                </c:pt>
                <c:pt idx="4">
                  <c:v>44942</c:v>
                </c:pt>
                <c:pt idx="5">
                  <c:v>44943</c:v>
                </c:pt>
                <c:pt idx="6">
                  <c:v>44944</c:v>
                </c:pt>
                <c:pt idx="7">
                  <c:v>44945</c:v>
                </c:pt>
                <c:pt idx="8">
                  <c:v>44946</c:v>
                </c:pt>
                <c:pt idx="9">
                  <c:v>44956</c:v>
                </c:pt>
                <c:pt idx="10">
                  <c:v>44957</c:v>
                </c:pt>
                <c:pt idx="11">
                  <c:v>44958</c:v>
                </c:pt>
                <c:pt idx="12">
                  <c:v>44959</c:v>
                </c:pt>
                <c:pt idx="13">
                  <c:v>44960</c:v>
                </c:pt>
                <c:pt idx="14">
                  <c:v>44963</c:v>
                </c:pt>
                <c:pt idx="15">
                  <c:v>44964</c:v>
                </c:pt>
                <c:pt idx="16">
                  <c:v>44965</c:v>
                </c:pt>
                <c:pt idx="17">
                  <c:v>44966</c:v>
                </c:pt>
                <c:pt idx="18">
                  <c:v>44967</c:v>
                </c:pt>
                <c:pt idx="19">
                  <c:v>44970</c:v>
                </c:pt>
                <c:pt idx="20">
                  <c:v>44971</c:v>
                </c:pt>
                <c:pt idx="21">
                  <c:v>44972</c:v>
                </c:pt>
                <c:pt idx="22">
                  <c:v>44973</c:v>
                </c:pt>
                <c:pt idx="23">
                  <c:v>44974</c:v>
                </c:pt>
                <c:pt idx="24">
                  <c:v>44977</c:v>
                </c:pt>
                <c:pt idx="25">
                  <c:v>44978</c:v>
                </c:pt>
                <c:pt idx="26">
                  <c:v>44979</c:v>
                </c:pt>
                <c:pt idx="27">
                  <c:v>44980</c:v>
                </c:pt>
                <c:pt idx="28">
                  <c:v>44981</c:v>
                </c:pt>
                <c:pt idx="29">
                  <c:v>44984</c:v>
                </c:pt>
                <c:pt idx="30">
                  <c:v>44985</c:v>
                </c:pt>
                <c:pt idx="31">
                  <c:v>44986</c:v>
                </c:pt>
                <c:pt idx="32">
                  <c:v>44987</c:v>
                </c:pt>
                <c:pt idx="33">
                  <c:v>44988</c:v>
                </c:pt>
                <c:pt idx="34">
                  <c:v>44991</c:v>
                </c:pt>
                <c:pt idx="35">
                  <c:v>44992</c:v>
                </c:pt>
                <c:pt idx="36">
                  <c:v>44993</c:v>
                </c:pt>
                <c:pt idx="37">
                  <c:v>44994</c:v>
                </c:pt>
                <c:pt idx="38">
                  <c:v>44995</c:v>
                </c:pt>
                <c:pt idx="39">
                  <c:v>44998</c:v>
                </c:pt>
                <c:pt idx="40">
                  <c:v>44999</c:v>
                </c:pt>
                <c:pt idx="41">
                  <c:v>45000</c:v>
                </c:pt>
                <c:pt idx="42">
                  <c:v>45001</c:v>
                </c:pt>
                <c:pt idx="43">
                  <c:v>45002</c:v>
                </c:pt>
                <c:pt idx="44">
                  <c:v>45005</c:v>
                </c:pt>
                <c:pt idx="45">
                  <c:v>45006</c:v>
                </c:pt>
                <c:pt idx="46">
                  <c:v>45007</c:v>
                </c:pt>
                <c:pt idx="47">
                  <c:v>45008</c:v>
                </c:pt>
                <c:pt idx="48">
                  <c:v>45009</c:v>
                </c:pt>
                <c:pt idx="49">
                  <c:v>45012</c:v>
                </c:pt>
                <c:pt idx="50">
                  <c:v>45013</c:v>
                </c:pt>
                <c:pt idx="51">
                  <c:v>45014</c:v>
                </c:pt>
                <c:pt idx="52">
                  <c:v>45015</c:v>
                </c:pt>
                <c:pt idx="53">
                  <c:v>45016</c:v>
                </c:pt>
                <c:pt idx="54">
                  <c:v>45019</c:v>
                </c:pt>
                <c:pt idx="55">
                  <c:v>45020</c:v>
                </c:pt>
                <c:pt idx="56">
                  <c:v>45022</c:v>
                </c:pt>
                <c:pt idx="57">
                  <c:v>45023</c:v>
                </c:pt>
                <c:pt idx="58">
                  <c:v>45026</c:v>
                </c:pt>
                <c:pt idx="59">
                  <c:v>45027</c:v>
                </c:pt>
                <c:pt idx="60">
                  <c:v>45028</c:v>
                </c:pt>
                <c:pt idx="61">
                  <c:v>45029</c:v>
                </c:pt>
                <c:pt idx="62">
                  <c:v>45030</c:v>
                </c:pt>
                <c:pt idx="63">
                  <c:v>45033</c:v>
                </c:pt>
                <c:pt idx="64">
                  <c:v>45034</c:v>
                </c:pt>
                <c:pt idx="65">
                  <c:v>45035</c:v>
                </c:pt>
                <c:pt idx="66">
                  <c:v>45036</c:v>
                </c:pt>
                <c:pt idx="67">
                  <c:v>45037</c:v>
                </c:pt>
                <c:pt idx="68">
                  <c:v>45040</c:v>
                </c:pt>
                <c:pt idx="69">
                  <c:v>45041</c:v>
                </c:pt>
                <c:pt idx="70">
                  <c:v>45042</c:v>
                </c:pt>
                <c:pt idx="71">
                  <c:v>45043</c:v>
                </c:pt>
                <c:pt idx="72">
                  <c:v>45044</c:v>
                </c:pt>
                <c:pt idx="73">
                  <c:v>45050</c:v>
                </c:pt>
                <c:pt idx="74">
                  <c:v>45051</c:v>
                </c:pt>
                <c:pt idx="75">
                  <c:v>45054</c:v>
                </c:pt>
                <c:pt idx="76">
                  <c:v>45055</c:v>
                </c:pt>
                <c:pt idx="77">
                  <c:v>45056</c:v>
                </c:pt>
                <c:pt idx="78">
                  <c:v>45057</c:v>
                </c:pt>
                <c:pt idx="79">
                  <c:v>45058</c:v>
                </c:pt>
                <c:pt idx="80">
                  <c:v>45061</c:v>
                </c:pt>
                <c:pt idx="81">
                  <c:v>45062</c:v>
                </c:pt>
                <c:pt idx="82">
                  <c:v>45063</c:v>
                </c:pt>
                <c:pt idx="83">
                  <c:v>45064</c:v>
                </c:pt>
                <c:pt idx="84">
                  <c:v>45065</c:v>
                </c:pt>
                <c:pt idx="85">
                  <c:v>45068</c:v>
                </c:pt>
                <c:pt idx="86">
                  <c:v>45069</c:v>
                </c:pt>
                <c:pt idx="87">
                  <c:v>45070</c:v>
                </c:pt>
                <c:pt idx="88">
                  <c:v>45071</c:v>
                </c:pt>
                <c:pt idx="89">
                  <c:v>45072</c:v>
                </c:pt>
                <c:pt idx="90">
                  <c:v>45075</c:v>
                </c:pt>
                <c:pt idx="91">
                  <c:v>45076</c:v>
                </c:pt>
                <c:pt idx="92">
                  <c:v>45077</c:v>
                </c:pt>
                <c:pt idx="93">
                  <c:v>45078</c:v>
                </c:pt>
                <c:pt idx="94">
                  <c:v>45079</c:v>
                </c:pt>
                <c:pt idx="95">
                  <c:v>45082</c:v>
                </c:pt>
                <c:pt idx="96">
                  <c:v>45083</c:v>
                </c:pt>
                <c:pt idx="97">
                  <c:v>45084</c:v>
                </c:pt>
                <c:pt idx="98">
                  <c:v>45085</c:v>
                </c:pt>
                <c:pt idx="99">
                  <c:v>45086</c:v>
                </c:pt>
                <c:pt idx="100">
                  <c:v>45089</c:v>
                </c:pt>
                <c:pt idx="101">
                  <c:v>45090</c:v>
                </c:pt>
                <c:pt idx="102">
                  <c:v>45091</c:v>
                </c:pt>
                <c:pt idx="103">
                  <c:v>45092</c:v>
                </c:pt>
                <c:pt idx="104">
                  <c:v>45093</c:v>
                </c:pt>
                <c:pt idx="105">
                  <c:v>45096</c:v>
                </c:pt>
                <c:pt idx="106">
                  <c:v>45097</c:v>
                </c:pt>
                <c:pt idx="107">
                  <c:v>45098</c:v>
                </c:pt>
                <c:pt idx="108">
                  <c:v>45103</c:v>
                </c:pt>
                <c:pt idx="109">
                  <c:v>45104</c:v>
                </c:pt>
                <c:pt idx="110">
                  <c:v>45105</c:v>
                </c:pt>
                <c:pt idx="111">
                  <c:v>45106</c:v>
                </c:pt>
                <c:pt idx="112">
                  <c:v>45107</c:v>
                </c:pt>
                <c:pt idx="113">
                  <c:v>45110</c:v>
                </c:pt>
                <c:pt idx="114">
                  <c:v>45111</c:v>
                </c:pt>
                <c:pt idx="115">
                  <c:v>45112</c:v>
                </c:pt>
                <c:pt idx="116">
                  <c:v>45113</c:v>
                </c:pt>
                <c:pt idx="117">
                  <c:v>45114</c:v>
                </c:pt>
                <c:pt idx="118">
                  <c:v>45117</c:v>
                </c:pt>
                <c:pt idx="119">
                  <c:v>45118</c:v>
                </c:pt>
                <c:pt idx="120">
                  <c:v>45119</c:v>
                </c:pt>
                <c:pt idx="121">
                  <c:v>45120</c:v>
                </c:pt>
                <c:pt idx="122">
                  <c:v>45121</c:v>
                </c:pt>
                <c:pt idx="123">
                  <c:v>45124</c:v>
                </c:pt>
                <c:pt idx="124">
                  <c:v>45125</c:v>
                </c:pt>
                <c:pt idx="125">
                  <c:v>45126</c:v>
                </c:pt>
                <c:pt idx="126">
                  <c:v>45127</c:v>
                </c:pt>
                <c:pt idx="127">
                  <c:v>45128</c:v>
                </c:pt>
                <c:pt idx="128">
                  <c:v>45131</c:v>
                </c:pt>
                <c:pt idx="129">
                  <c:v>45132</c:v>
                </c:pt>
                <c:pt idx="130">
                  <c:v>45133</c:v>
                </c:pt>
                <c:pt idx="131">
                  <c:v>45134</c:v>
                </c:pt>
                <c:pt idx="132">
                  <c:v>45135</c:v>
                </c:pt>
                <c:pt idx="133">
                  <c:v>45138</c:v>
                </c:pt>
                <c:pt idx="134">
                  <c:v>45139</c:v>
                </c:pt>
                <c:pt idx="135">
                  <c:v>45140</c:v>
                </c:pt>
                <c:pt idx="136">
                  <c:v>45141</c:v>
                </c:pt>
                <c:pt idx="137">
                  <c:v>45142</c:v>
                </c:pt>
                <c:pt idx="138">
                  <c:v>45145</c:v>
                </c:pt>
                <c:pt idx="139">
                  <c:v>45146</c:v>
                </c:pt>
                <c:pt idx="140">
                  <c:v>45147</c:v>
                </c:pt>
                <c:pt idx="141">
                  <c:v>45148</c:v>
                </c:pt>
                <c:pt idx="142">
                  <c:v>45149</c:v>
                </c:pt>
                <c:pt idx="143">
                  <c:v>45152</c:v>
                </c:pt>
                <c:pt idx="144">
                  <c:v>45153</c:v>
                </c:pt>
                <c:pt idx="145">
                  <c:v>45154</c:v>
                </c:pt>
                <c:pt idx="146">
                  <c:v>45155</c:v>
                </c:pt>
                <c:pt idx="147">
                  <c:v>45156</c:v>
                </c:pt>
                <c:pt idx="148">
                  <c:v>45159</c:v>
                </c:pt>
                <c:pt idx="149">
                  <c:v>45160</c:v>
                </c:pt>
                <c:pt idx="150">
                  <c:v>45161</c:v>
                </c:pt>
                <c:pt idx="151">
                  <c:v>45162</c:v>
                </c:pt>
                <c:pt idx="152">
                  <c:v>45163</c:v>
                </c:pt>
                <c:pt idx="153">
                  <c:v>45166</c:v>
                </c:pt>
                <c:pt idx="154">
                  <c:v>45167</c:v>
                </c:pt>
                <c:pt idx="155">
                  <c:v>45168</c:v>
                </c:pt>
                <c:pt idx="156">
                  <c:v>45169</c:v>
                </c:pt>
                <c:pt idx="157">
                  <c:v>45170</c:v>
                </c:pt>
                <c:pt idx="158">
                  <c:v>45173</c:v>
                </c:pt>
                <c:pt idx="159">
                  <c:v>45174</c:v>
                </c:pt>
                <c:pt idx="160">
                  <c:v>45175</c:v>
                </c:pt>
                <c:pt idx="161">
                  <c:v>45176</c:v>
                </c:pt>
                <c:pt idx="162">
                  <c:v>45177</c:v>
                </c:pt>
                <c:pt idx="163">
                  <c:v>45180</c:v>
                </c:pt>
                <c:pt idx="164">
                  <c:v>45181</c:v>
                </c:pt>
                <c:pt idx="165">
                  <c:v>45182</c:v>
                </c:pt>
                <c:pt idx="166">
                  <c:v>45183</c:v>
                </c:pt>
                <c:pt idx="167">
                  <c:v>45184</c:v>
                </c:pt>
                <c:pt idx="168">
                  <c:v>45187</c:v>
                </c:pt>
                <c:pt idx="169">
                  <c:v>45188</c:v>
                </c:pt>
                <c:pt idx="170">
                  <c:v>45189</c:v>
                </c:pt>
                <c:pt idx="171">
                  <c:v>45190</c:v>
                </c:pt>
                <c:pt idx="172">
                  <c:v>45191</c:v>
                </c:pt>
                <c:pt idx="173">
                  <c:v>45194</c:v>
                </c:pt>
                <c:pt idx="174">
                  <c:v>45195</c:v>
                </c:pt>
                <c:pt idx="175">
                  <c:v>45196</c:v>
                </c:pt>
                <c:pt idx="176">
                  <c:v>45197</c:v>
                </c:pt>
                <c:pt idx="177">
                  <c:v>45208</c:v>
                </c:pt>
                <c:pt idx="178">
                  <c:v>45209</c:v>
                </c:pt>
                <c:pt idx="179">
                  <c:v>45210</c:v>
                </c:pt>
                <c:pt idx="180">
                  <c:v>45211</c:v>
                </c:pt>
                <c:pt idx="181">
                  <c:v>45212</c:v>
                </c:pt>
                <c:pt idx="182">
                  <c:v>45215</c:v>
                </c:pt>
                <c:pt idx="183">
                  <c:v>45216</c:v>
                </c:pt>
                <c:pt idx="184">
                  <c:v>45217</c:v>
                </c:pt>
                <c:pt idx="185">
                  <c:v>45218</c:v>
                </c:pt>
                <c:pt idx="186">
                  <c:v>45219</c:v>
                </c:pt>
                <c:pt idx="187">
                  <c:v>45222</c:v>
                </c:pt>
                <c:pt idx="188">
                  <c:v>45223</c:v>
                </c:pt>
                <c:pt idx="189">
                  <c:v>45224</c:v>
                </c:pt>
                <c:pt idx="190">
                  <c:v>45225</c:v>
                </c:pt>
                <c:pt idx="191">
                  <c:v>45226</c:v>
                </c:pt>
                <c:pt idx="192">
                  <c:v>45229</c:v>
                </c:pt>
                <c:pt idx="193">
                  <c:v>45230</c:v>
                </c:pt>
                <c:pt idx="194">
                  <c:v>45231</c:v>
                </c:pt>
                <c:pt idx="195">
                  <c:v>45232</c:v>
                </c:pt>
                <c:pt idx="196">
                  <c:v>45233</c:v>
                </c:pt>
                <c:pt idx="197">
                  <c:v>45236</c:v>
                </c:pt>
                <c:pt idx="198">
                  <c:v>45237</c:v>
                </c:pt>
                <c:pt idx="199">
                  <c:v>45238</c:v>
                </c:pt>
                <c:pt idx="200">
                  <c:v>45239</c:v>
                </c:pt>
                <c:pt idx="201">
                  <c:v>45240</c:v>
                </c:pt>
                <c:pt idx="202">
                  <c:v>45243</c:v>
                </c:pt>
                <c:pt idx="203">
                  <c:v>45244</c:v>
                </c:pt>
                <c:pt idx="204">
                  <c:v>45245</c:v>
                </c:pt>
                <c:pt idx="205">
                  <c:v>45246</c:v>
                </c:pt>
                <c:pt idx="206">
                  <c:v>45247</c:v>
                </c:pt>
                <c:pt idx="207">
                  <c:v>45250</c:v>
                </c:pt>
                <c:pt idx="208">
                  <c:v>45251</c:v>
                </c:pt>
                <c:pt idx="209">
                  <c:v>45252</c:v>
                </c:pt>
                <c:pt idx="210">
                  <c:v>45253</c:v>
                </c:pt>
                <c:pt idx="211">
                  <c:v>45254</c:v>
                </c:pt>
                <c:pt idx="212">
                  <c:v>45257</c:v>
                </c:pt>
                <c:pt idx="213">
                  <c:v>45258</c:v>
                </c:pt>
                <c:pt idx="214">
                  <c:v>45259</c:v>
                </c:pt>
                <c:pt idx="215">
                  <c:v>45260</c:v>
                </c:pt>
                <c:pt idx="216">
                  <c:v>45261</c:v>
                </c:pt>
                <c:pt idx="217">
                  <c:v>45264</c:v>
                </c:pt>
                <c:pt idx="218">
                  <c:v>45265</c:v>
                </c:pt>
                <c:pt idx="219">
                  <c:v>45266</c:v>
                </c:pt>
                <c:pt idx="220">
                  <c:v>45267</c:v>
                </c:pt>
                <c:pt idx="221">
                  <c:v>45268</c:v>
                </c:pt>
                <c:pt idx="222">
                  <c:v>45271</c:v>
                </c:pt>
                <c:pt idx="223">
                  <c:v>45272</c:v>
                </c:pt>
                <c:pt idx="224">
                  <c:v>45273</c:v>
                </c:pt>
                <c:pt idx="225">
                  <c:v>45274</c:v>
                </c:pt>
                <c:pt idx="226">
                  <c:v>45275</c:v>
                </c:pt>
                <c:pt idx="227">
                  <c:v>45278</c:v>
                </c:pt>
                <c:pt idx="228">
                  <c:v>45279</c:v>
                </c:pt>
                <c:pt idx="229">
                  <c:v>45280</c:v>
                </c:pt>
                <c:pt idx="230">
                  <c:v>45281</c:v>
                </c:pt>
                <c:pt idx="231">
                  <c:v>45282</c:v>
                </c:pt>
                <c:pt idx="232">
                  <c:v>45285</c:v>
                </c:pt>
                <c:pt idx="233">
                  <c:v>45286</c:v>
                </c:pt>
                <c:pt idx="234">
                  <c:v>45287</c:v>
                </c:pt>
                <c:pt idx="235">
                  <c:v>45288</c:v>
                </c:pt>
                <c:pt idx="236">
                  <c:v>45289</c:v>
                </c:pt>
                <c:pt idx="237">
                  <c:v>45293</c:v>
                </c:pt>
                <c:pt idx="238">
                  <c:v>45294</c:v>
                </c:pt>
                <c:pt idx="239">
                  <c:v>45295</c:v>
                </c:pt>
                <c:pt idx="240">
                  <c:v>45296</c:v>
                </c:pt>
                <c:pt idx="241">
                  <c:v>45299</c:v>
                </c:pt>
                <c:pt idx="242">
                  <c:v>45300</c:v>
                </c:pt>
                <c:pt idx="243">
                  <c:v>45301</c:v>
                </c:pt>
                <c:pt idx="244">
                  <c:v>45302</c:v>
                </c:pt>
                <c:pt idx="245">
                  <c:v>45303</c:v>
                </c:pt>
                <c:pt idx="246">
                  <c:v>45306</c:v>
                </c:pt>
                <c:pt idx="247">
                  <c:v>45307</c:v>
                </c:pt>
                <c:pt idx="248">
                  <c:v>45308</c:v>
                </c:pt>
                <c:pt idx="249">
                  <c:v>45309</c:v>
                </c:pt>
                <c:pt idx="250">
                  <c:v>45310</c:v>
                </c:pt>
                <c:pt idx="251">
                  <c:v>45313</c:v>
                </c:pt>
                <c:pt idx="252">
                  <c:v>45314</c:v>
                </c:pt>
                <c:pt idx="253">
                  <c:v>45315</c:v>
                </c:pt>
                <c:pt idx="254">
                  <c:v>45316</c:v>
                </c:pt>
                <c:pt idx="255">
                  <c:v>45317</c:v>
                </c:pt>
                <c:pt idx="256">
                  <c:v>45320</c:v>
                </c:pt>
                <c:pt idx="257">
                  <c:v>45321</c:v>
                </c:pt>
                <c:pt idx="258">
                  <c:v>45322</c:v>
                </c:pt>
                <c:pt idx="259">
                  <c:v>45323</c:v>
                </c:pt>
                <c:pt idx="260">
                  <c:v>45324</c:v>
                </c:pt>
                <c:pt idx="261">
                  <c:v>45327</c:v>
                </c:pt>
                <c:pt idx="262">
                  <c:v>45328</c:v>
                </c:pt>
                <c:pt idx="263">
                  <c:v>45329</c:v>
                </c:pt>
                <c:pt idx="264">
                  <c:v>45330</c:v>
                </c:pt>
                <c:pt idx="265">
                  <c:v>45341</c:v>
                </c:pt>
                <c:pt idx="266">
                  <c:v>45342</c:v>
                </c:pt>
                <c:pt idx="267">
                  <c:v>45343</c:v>
                </c:pt>
                <c:pt idx="268">
                  <c:v>45344</c:v>
                </c:pt>
                <c:pt idx="269">
                  <c:v>45345</c:v>
                </c:pt>
                <c:pt idx="270">
                  <c:v>45348</c:v>
                </c:pt>
                <c:pt idx="271">
                  <c:v>45349</c:v>
                </c:pt>
                <c:pt idx="272">
                  <c:v>45350</c:v>
                </c:pt>
                <c:pt idx="273">
                  <c:v>45351</c:v>
                </c:pt>
                <c:pt idx="274">
                  <c:v>45352</c:v>
                </c:pt>
                <c:pt idx="275">
                  <c:v>45355</c:v>
                </c:pt>
                <c:pt idx="276">
                  <c:v>45356</c:v>
                </c:pt>
                <c:pt idx="277">
                  <c:v>45357</c:v>
                </c:pt>
                <c:pt idx="278">
                  <c:v>45358</c:v>
                </c:pt>
                <c:pt idx="279">
                  <c:v>45359</c:v>
                </c:pt>
                <c:pt idx="280">
                  <c:v>45362</c:v>
                </c:pt>
                <c:pt idx="281">
                  <c:v>45363</c:v>
                </c:pt>
                <c:pt idx="282">
                  <c:v>45364</c:v>
                </c:pt>
                <c:pt idx="283">
                  <c:v>45365</c:v>
                </c:pt>
                <c:pt idx="284">
                  <c:v>45366</c:v>
                </c:pt>
                <c:pt idx="285">
                  <c:v>45369</c:v>
                </c:pt>
                <c:pt idx="286">
                  <c:v>45370</c:v>
                </c:pt>
                <c:pt idx="287">
                  <c:v>45371</c:v>
                </c:pt>
                <c:pt idx="288">
                  <c:v>45372</c:v>
                </c:pt>
                <c:pt idx="289">
                  <c:v>45373</c:v>
                </c:pt>
                <c:pt idx="290">
                  <c:v>45376</c:v>
                </c:pt>
                <c:pt idx="291">
                  <c:v>45377</c:v>
                </c:pt>
                <c:pt idx="292">
                  <c:v>45378</c:v>
                </c:pt>
                <c:pt idx="293">
                  <c:v>45379</c:v>
                </c:pt>
                <c:pt idx="294">
                  <c:v>45380</c:v>
                </c:pt>
                <c:pt idx="295">
                  <c:v>45383</c:v>
                </c:pt>
                <c:pt idx="296">
                  <c:v>45384</c:v>
                </c:pt>
                <c:pt idx="297">
                  <c:v>45385</c:v>
                </c:pt>
                <c:pt idx="298">
                  <c:v>45390</c:v>
                </c:pt>
                <c:pt idx="299">
                  <c:v>45391</c:v>
                </c:pt>
                <c:pt idx="300">
                  <c:v>45392</c:v>
                </c:pt>
                <c:pt idx="301">
                  <c:v>45393</c:v>
                </c:pt>
                <c:pt idx="302">
                  <c:v>45394</c:v>
                </c:pt>
                <c:pt idx="303">
                  <c:v>45397</c:v>
                </c:pt>
                <c:pt idx="304">
                  <c:v>45398</c:v>
                </c:pt>
                <c:pt idx="305">
                  <c:v>45399</c:v>
                </c:pt>
                <c:pt idx="306">
                  <c:v>45400</c:v>
                </c:pt>
                <c:pt idx="307">
                  <c:v>45401</c:v>
                </c:pt>
                <c:pt idx="308">
                  <c:v>45404</c:v>
                </c:pt>
                <c:pt idx="309">
                  <c:v>45405</c:v>
                </c:pt>
                <c:pt idx="310">
                  <c:v>45406</c:v>
                </c:pt>
                <c:pt idx="311">
                  <c:v>45407</c:v>
                </c:pt>
                <c:pt idx="312">
                  <c:v>45408</c:v>
                </c:pt>
                <c:pt idx="313">
                  <c:v>45411</c:v>
                </c:pt>
                <c:pt idx="314">
                  <c:v>45412</c:v>
                </c:pt>
                <c:pt idx="315">
                  <c:v>45418</c:v>
                </c:pt>
                <c:pt idx="316">
                  <c:v>45419</c:v>
                </c:pt>
                <c:pt idx="317">
                  <c:v>45420</c:v>
                </c:pt>
                <c:pt idx="318">
                  <c:v>45421</c:v>
                </c:pt>
                <c:pt idx="319">
                  <c:v>45422</c:v>
                </c:pt>
                <c:pt idx="320">
                  <c:v>45425</c:v>
                </c:pt>
                <c:pt idx="321">
                  <c:v>45426</c:v>
                </c:pt>
                <c:pt idx="322">
                  <c:v>45427</c:v>
                </c:pt>
                <c:pt idx="323">
                  <c:v>45428</c:v>
                </c:pt>
                <c:pt idx="324">
                  <c:v>45429</c:v>
                </c:pt>
                <c:pt idx="325">
                  <c:v>45432</c:v>
                </c:pt>
                <c:pt idx="326">
                  <c:v>45433</c:v>
                </c:pt>
                <c:pt idx="327">
                  <c:v>45434</c:v>
                </c:pt>
                <c:pt idx="328">
                  <c:v>45435</c:v>
                </c:pt>
                <c:pt idx="329">
                  <c:v>45436</c:v>
                </c:pt>
                <c:pt idx="330">
                  <c:v>45439</c:v>
                </c:pt>
                <c:pt idx="331">
                  <c:v>45440</c:v>
                </c:pt>
                <c:pt idx="332">
                  <c:v>45441</c:v>
                </c:pt>
                <c:pt idx="333">
                  <c:v>45442</c:v>
                </c:pt>
                <c:pt idx="334">
                  <c:v>45443</c:v>
                </c:pt>
                <c:pt idx="335">
                  <c:v>45446</c:v>
                </c:pt>
                <c:pt idx="336">
                  <c:v>45447</c:v>
                </c:pt>
                <c:pt idx="337">
                  <c:v>45448</c:v>
                </c:pt>
                <c:pt idx="338">
                  <c:v>45449</c:v>
                </c:pt>
                <c:pt idx="339">
                  <c:v>45450</c:v>
                </c:pt>
                <c:pt idx="340">
                  <c:v>45454</c:v>
                </c:pt>
                <c:pt idx="341">
                  <c:v>45455</c:v>
                </c:pt>
                <c:pt idx="342">
                  <c:v>45456</c:v>
                </c:pt>
                <c:pt idx="343">
                  <c:v>45457</c:v>
                </c:pt>
                <c:pt idx="344">
                  <c:v>45460</c:v>
                </c:pt>
                <c:pt idx="345">
                  <c:v>45461</c:v>
                </c:pt>
                <c:pt idx="346">
                  <c:v>45462</c:v>
                </c:pt>
                <c:pt idx="347">
                  <c:v>45463</c:v>
                </c:pt>
                <c:pt idx="348">
                  <c:v>45464</c:v>
                </c:pt>
                <c:pt idx="349">
                  <c:v>45467</c:v>
                </c:pt>
                <c:pt idx="350">
                  <c:v>45468</c:v>
                </c:pt>
                <c:pt idx="351">
                  <c:v>45469</c:v>
                </c:pt>
                <c:pt idx="352">
                  <c:v>45470</c:v>
                </c:pt>
                <c:pt idx="353">
                  <c:v>45471</c:v>
                </c:pt>
                <c:pt idx="354">
                  <c:v>45474</c:v>
                </c:pt>
                <c:pt idx="355">
                  <c:v>45475</c:v>
                </c:pt>
                <c:pt idx="356">
                  <c:v>45476</c:v>
                </c:pt>
                <c:pt idx="357">
                  <c:v>45477</c:v>
                </c:pt>
                <c:pt idx="358">
                  <c:v>45478</c:v>
                </c:pt>
                <c:pt idx="359">
                  <c:v>45481</c:v>
                </c:pt>
                <c:pt idx="360">
                  <c:v>45482</c:v>
                </c:pt>
                <c:pt idx="361">
                  <c:v>45483</c:v>
                </c:pt>
                <c:pt idx="362">
                  <c:v>45484</c:v>
                </c:pt>
                <c:pt idx="363">
                  <c:v>45485</c:v>
                </c:pt>
                <c:pt idx="364">
                  <c:v>45488</c:v>
                </c:pt>
                <c:pt idx="365">
                  <c:v>45489</c:v>
                </c:pt>
                <c:pt idx="366">
                  <c:v>45490</c:v>
                </c:pt>
                <c:pt idx="367">
                  <c:v>45491</c:v>
                </c:pt>
                <c:pt idx="368">
                  <c:v>45492</c:v>
                </c:pt>
                <c:pt idx="369">
                  <c:v>45495</c:v>
                </c:pt>
                <c:pt idx="370">
                  <c:v>45496</c:v>
                </c:pt>
                <c:pt idx="371">
                  <c:v>45497</c:v>
                </c:pt>
                <c:pt idx="372">
                  <c:v>45498</c:v>
                </c:pt>
                <c:pt idx="373">
                  <c:v>45499</c:v>
                </c:pt>
                <c:pt idx="374">
                  <c:v>45502</c:v>
                </c:pt>
                <c:pt idx="375">
                  <c:v>45503</c:v>
                </c:pt>
                <c:pt idx="376">
                  <c:v>45504</c:v>
                </c:pt>
                <c:pt idx="377">
                  <c:v>45505</c:v>
                </c:pt>
                <c:pt idx="378">
                  <c:v>45506</c:v>
                </c:pt>
                <c:pt idx="379">
                  <c:v>45509</c:v>
                </c:pt>
                <c:pt idx="380">
                  <c:v>45510</c:v>
                </c:pt>
                <c:pt idx="381">
                  <c:v>45511</c:v>
                </c:pt>
                <c:pt idx="382">
                  <c:v>45512</c:v>
                </c:pt>
                <c:pt idx="383">
                  <c:v>45513</c:v>
                </c:pt>
                <c:pt idx="384">
                  <c:v>45516</c:v>
                </c:pt>
                <c:pt idx="385">
                  <c:v>45517</c:v>
                </c:pt>
                <c:pt idx="386">
                  <c:v>45518</c:v>
                </c:pt>
                <c:pt idx="387">
                  <c:v>45519</c:v>
                </c:pt>
                <c:pt idx="388">
                  <c:v>45520</c:v>
                </c:pt>
                <c:pt idx="389">
                  <c:v>45523</c:v>
                </c:pt>
                <c:pt idx="390">
                  <c:v>45524</c:v>
                </c:pt>
                <c:pt idx="391">
                  <c:v>45525</c:v>
                </c:pt>
                <c:pt idx="392">
                  <c:v>45526</c:v>
                </c:pt>
                <c:pt idx="393">
                  <c:v>45527</c:v>
                </c:pt>
                <c:pt idx="394">
                  <c:v>45530</c:v>
                </c:pt>
                <c:pt idx="395">
                  <c:v>45531</c:v>
                </c:pt>
                <c:pt idx="396">
                  <c:v>45532</c:v>
                </c:pt>
                <c:pt idx="397">
                  <c:v>45533</c:v>
                </c:pt>
                <c:pt idx="398">
                  <c:v>45534</c:v>
                </c:pt>
                <c:pt idx="399">
                  <c:v>45537</c:v>
                </c:pt>
                <c:pt idx="400">
                  <c:v>45538</c:v>
                </c:pt>
                <c:pt idx="401">
                  <c:v>45539</c:v>
                </c:pt>
                <c:pt idx="402">
                  <c:v>45540</c:v>
                </c:pt>
                <c:pt idx="403">
                  <c:v>45541</c:v>
                </c:pt>
                <c:pt idx="404">
                  <c:v>45544</c:v>
                </c:pt>
                <c:pt idx="405">
                  <c:v>45545</c:v>
                </c:pt>
                <c:pt idx="406">
                  <c:v>45546</c:v>
                </c:pt>
                <c:pt idx="407">
                  <c:v>45547</c:v>
                </c:pt>
                <c:pt idx="408">
                  <c:v>45548</c:v>
                </c:pt>
                <c:pt idx="409">
                  <c:v>45553</c:v>
                </c:pt>
                <c:pt idx="410">
                  <c:v>45554</c:v>
                </c:pt>
                <c:pt idx="411">
                  <c:v>45555</c:v>
                </c:pt>
                <c:pt idx="412">
                  <c:v>45558</c:v>
                </c:pt>
                <c:pt idx="413">
                  <c:v>45559</c:v>
                </c:pt>
                <c:pt idx="414">
                  <c:v>45560</c:v>
                </c:pt>
                <c:pt idx="415">
                  <c:v>45561</c:v>
                </c:pt>
                <c:pt idx="416">
                  <c:v>45562</c:v>
                </c:pt>
                <c:pt idx="417">
                  <c:v>45565</c:v>
                </c:pt>
                <c:pt idx="418">
                  <c:v>45573</c:v>
                </c:pt>
                <c:pt idx="419">
                  <c:v>45574</c:v>
                </c:pt>
                <c:pt idx="420">
                  <c:v>45575</c:v>
                </c:pt>
                <c:pt idx="421">
                  <c:v>45576</c:v>
                </c:pt>
                <c:pt idx="422">
                  <c:v>45579</c:v>
                </c:pt>
                <c:pt idx="423">
                  <c:v>45580</c:v>
                </c:pt>
                <c:pt idx="424">
                  <c:v>45581</c:v>
                </c:pt>
                <c:pt idx="425">
                  <c:v>45582</c:v>
                </c:pt>
                <c:pt idx="426">
                  <c:v>45583</c:v>
                </c:pt>
                <c:pt idx="427">
                  <c:v>45586</c:v>
                </c:pt>
                <c:pt idx="428">
                  <c:v>45587</c:v>
                </c:pt>
                <c:pt idx="429">
                  <c:v>45588</c:v>
                </c:pt>
                <c:pt idx="430">
                  <c:v>45589</c:v>
                </c:pt>
                <c:pt idx="431">
                  <c:v>45590</c:v>
                </c:pt>
                <c:pt idx="432">
                  <c:v>45593</c:v>
                </c:pt>
                <c:pt idx="433">
                  <c:v>45594</c:v>
                </c:pt>
                <c:pt idx="434">
                  <c:v>45595</c:v>
                </c:pt>
                <c:pt idx="435">
                  <c:v>45596</c:v>
                </c:pt>
                <c:pt idx="436">
                  <c:v>45597</c:v>
                </c:pt>
                <c:pt idx="437">
                  <c:v>45600</c:v>
                </c:pt>
                <c:pt idx="438">
                  <c:v>45601</c:v>
                </c:pt>
                <c:pt idx="439">
                  <c:v>45602</c:v>
                </c:pt>
                <c:pt idx="440">
                  <c:v>45603</c:v>
                </c:pt>
                <c:pt idx="441">
                  <c:v>45604</c:v>
                </c:pt>
                <c:pt idx="442">
                  <c:v>45607</c:v>
                </c:pt>
                <c:pt idx="443">
                  <c:v>45608</c:v>
                </c:pt>
                <c:pt idx="444">
                  <c:v>45609</c:v>
                </c:pt>
                <c:pt idx="445">
                  <c:v>45610</c:v>
                </c:pt>
                <c:pt idx="446">
                  <c:v>45611</c:v>
                </c:pt>
                <c:pt idx="447">
                  <c:v>45614</c:v>
                </c:pt>
                <c:pt idx="448">
                  <c:v>45615</c:v>
                </c:pt>
                <c:pt idx="449">
                  <c:v>45616</c:v>
                </c:pt>
                <c:pt idx="450">
                  <c:v>45617</c:v>
                </c:pt>
                <c:pt idx="451">
                  <c:v>45618</c:v>
                </c:pt>
                <c:pt idx="452">
                  <c:v>45621</c:v>
                </c:pt>
                <c:pt idx="453">
                  <c:v>45622</c:v>
                </c:pt>
                <c:pt idx="454">
                  <c:v>45623</c:v>
                </c:pt>
                <c:pt idx="455">
                  <c:v>45624</c:v>
                </c:pt>
                <c:pt idx="456">
                  <c:v>45625</c:v>
                </c:pt>
                <c:pt idx="457">
                  <c:v>45628</c:v>
                </c:pt>
                <c:pt idx="458">
                  <c:v>45629</c:v>
                </c:pt>
                <c:pt idx="459">
                  <c:v>45630</c:v>
                </c:pt>
                <c:pt idx="460">
                  <c:v>45631</c:v>
                </c:pt>
                <c:pt idx="461">
                  <c:v>45632</c:v>
                </c:pt>
                <c:pt idx="462">
                  <c:v>45635</c:v>
                </c:pt>
                <c:pt idx="463">
                  <c:v>45636</c:v>
                </c:pt>
                <c:pt idx="464">
                  <c:v>45637</c:v>
                </c:pt>
                <c:pt idx="465">
                  <c:v>45638</c:v>
                </c:pt>
                <c:pt idx="466">
                  <c:v>45639</c:v>
                </c:pt>
                <c:pt idx="467">
                  <c:v>45642</c:v>
                </c:pt>
                <c:pt idx="468">
                  <c:v>45643</c:v>
                </c:pt>
                <c:pt idx="469">
                  <c:v>45644</c:v>
                </c:pt>
                <c:pt idx="470">
                  <c:v>45645</c:v>
                </c:pt>
                <c:pt idx="471">
                  <c:v>45646</c:v>
                </c:pt>
                <c:pt idx="472">
                  <c:v>45649</c:v>
                </c:pt>
                <c:pt idx="473">
                  <c:v>45650</c:v>
                </c:pt>
                <c:pt idx="474">
                  <c:v>45651</c:v>
                </c:pt>
                <c:pt idx="475">
                  <c:v>45652</c:v>
                </c:pt>
                <c:pt idx="476">
                  <c:v>45653</c:v>
                </c:pt>
                <c:pt idx="477">
                  <c:v>45656</c:v>
                </c:pt>
                <c:pt idx="478">
                  <c:v>45657</c:v>
                </c:pt>
                <c:pt idx="479">
                  <c:v>45659</c:v>
                </c:pt>
                <c:pt idx="480">
                  <c:v>45660</c:v>
                </c:pt>
                <c:pt idx="481">
                  <c:v>45663</c:v>
                </c:pt>
                <c:pt idx="482">
                  <c:v>45664</c:v>
                </c:pt>
                <c:pt idx="483">
                  <c:v>45665</c:v>
                </c:pt>
                <c:pt idx="484">
                  <c:v>45666</c:v>
                </c:pt>
                <c:pt idx="485">
                  <c:v>45667</c:v>
                </c:pt>
                <c:pt idx="486">
                  <c:v>45670</c:v>
                </c:pt>
                <c:pt idx="487">
                  <c:v>45671</c:v>
                </c:pt>
                <c:pt idx="488">
                  <c:v>45672</c:v>
                </c:pt>
                <c:pt idx="489">
                  <c:v>45673</c:v>
                </c:pt>
                <c:pt idx="490">
                  <c:v>45674</c:v>
                </c:pt>
                <c:pt idx="491">
                  <c:v>45677</c:v>
                </c:pt>
                <c:pt idx="492">
                  <c:v>45678</c:v>
                </c:pt>
                <c:pt idx="493">
                  <c:v>45679</c:v>
                </c:pt>
                <c:pt idx="494">
                  <c:v>45680</c:v>
                </c:pt>
                <c:pt idx="495">
                  <c:v>45681</c:v>
                </c:pt>
                <c:pt idx="496">
                  <c:v>45684</c:v>
                </c:pt>
                <c:pt idx="497">
                  <c:v>45693</c:v>
                </c:pt>
                <c:pt idx="498">
                  <c:v>45694</c:v>
                </c:pt>
                <c:pt idx="499">
                  <c:v>45695</c:v>
                </c:pt>
                <c:pt idx="500">
                  <c:v>45698</c:v>
                </c:pt>
                <c:pt idx="501">
                  <c:v>45699</c:v>
                </c:pt>
                <c:pt idx="502">
                  <c:v>45700</c:v>
                </c:pt>
                <c:pt idx="503">
                  <c:v>45701</c:v>
                </c:pt>
                <c:pt idx="504">
                  <c:v>45702</c:v>
                </c:pt>
                <c:pt idx="505">
                  <c:v>45705</c:v>
                </c:pt>
                <c:pt idx="506">
                  <c:v>45706</c:v>
                </c:pt>
                <c:pt idx="507">
                  <c:v>45707</c:v>
                </c:pt>
                <c:pt idx="508">
                  <c:v>45708</c:v>
                </c:pt>
                <c:pt idx="509">
                  <c:v>45709</c:v>
                </c:pt>
                <c:pt idx="510">
                  <c:v>45712</c:v>
                </c:pt>
                <c:pt idx="511">
                  <c:v>45713</c:v>
                </c:pt>
                <c:pt idx="512">
                  <c:v>45714</c:v>
                </c:pt>
                <c:pt idx="513">
                  <c:v>45715</c:v>
                </c:pt>
                <c:pt idx="514">
                  <c:v>45716</c:v>
                </c:pt>
                <c:pt idx="515">
                  <c:v>45719</c:v>
                </c:pt>
                <c:pt idx="516">
                  <c:v>45720</c:v>
                </c:pt>
                <c:pt idx="517">
                  <c:v>45721</c:v>
                </c:pt>
                <c:pt idx="518">
                  <c:v>45722</c:v>
                </c:pt>
                <c:pt idx="519">
                  <c:v>45723</c:v>
                </c:pt>
                <c:pt idx="520">
                  <c:v>45726</c:v>
                </c:pt>
                <c:pt idx="521">
                  <c:v>45727</c:v>
                </c:pt>
                <c:pt idx="522">
                  <c:v>45728</c:v>
                </c:pt>
                <c:pt idx="523">
                  <c:v>45729</c:v>
                </c:pt>
                <c:pt idx="524">
                  <c:v>45730</c:v>
                </c:pt>
                <c:pt idx="525">
                  <c:v>45733</c:v>
                </c:pt>
                <c:pt idx="526">
                  <c:v>45734</c:v>
                </c:pt>
                <c:pt idx="527">
                  <c:v>45735</c:v>
                </c:pt>
                <c:pt idx="528">
                  <c:v>45736</c:v>
                </c:pt>
                <c:pt idx="529">
                  <c:v>45737</c:v>
                </c:pt>
                <c:pt idx="530">
                  <c:v>45740</c:v>
                </c:pt>
                <c:pt idx="531">
                  <c:v>45741</c:v>
                </c:pt>
                <c:pt idx="532">
                  <c:v>45742</c:v>
                </c:pt>
                <c:pt idx="533">
                  <c:v>45743</c:v>
                </c:pt>
                <c:pt idx="534">
                  <c:v>45744</c:v>
                </c:pt>
                <c:pt idx="535">
                  <c:v>45747</c:v>
                </c:pt>
                <c:pt idx="536">
                  <c:v>45748</c:v>
                </c:pt>
                <c:pt idx="537">
                  <c:v>45749</c:v>
                </c:pt>
                <c:pt idx="538">
                  <c:v>45750</c:v>
                </c:pt>
                <c:pt idx="539">
                  <c:v>45754</c:v>
                </c:pt>
                <c:pt idx="540">
                  <c:v>45755</c:v>
                </c:pt>
                <c:pt idx="541">
                  <c:v>45756</c:v>
                </c:pt>
                <c:pt idx="542">
                  <c:v>45757</c:v>
                </c:pt>
                <c:pt idx="543">
                  <c:v>45758</c:v>
                </c:pt>
                <c:pt idx="544">
                  <c:v>45761</c:v>
                </c:pt>
                <c:pt idx="545">
                  <c:v>45762</c:v>
                </c:pt>
                <c:pt idx="546">
                  <c:v>45763</c:v>
                </c:pt>
                <c:pt idx="547">
                  <c:v>45764</c:v>
                </c:pt>
                <c:pt idx="548">
                  <c:v>45765</c:v>
                </c:pt>
                <c:pt idx="549">
                  <c:v>45768</c:v>
                </c:pt>
                <c:pt idx="550">
                  <c:v>45769</c:v>
                </c:pt>
                <c:pt idx="551">
                  <c:v>45770</c:v>
                </c:pt>
                <c:pt idx="552">
                  <c:v>45771</c:v>
                </c:pt>
                <c:pt idx="553">
                  <c:v>45772</c:v>
                </c:pt>
                <c:pt idx="554">
                  <c:v>45775</c:v>
                </c:pt>
                <c:pt idx="555">
                  <c:v>45776</c:v>
                </c:pt>
                <c:pt idx="556">
                  <c:v>45777</c:v>
                </c:pt>
                <c:pt idx="557">
                  <c:v>45783</c:v>
                </c:pt>
                <c:pt idx="558">
                  <c:v>45784</c:v>
                </c:pt>
                <c:pt idx="559">
                  <c:v>45785</c:v>
                </c:pt>
                <c:pt idx="560">
                  <c:v>45786</c:v>
                </c:pt>
                <c:pt idx="561">
                  <c:v>45789</c:v>
                </c:pt>
                <c:pt idx="562">
                  <c:v>45790</c:v>
                </c:pt>
                <c:pt idx="563">
                  <c:v>45791</c:v>
                </c:pt>
                <c:pt idx="564">
                  <c:v>45792</c:v>
                </c:pt>
                <c:pt idx="565">
                  <c:v>45793</c:v>
                </c:pt>
                <c:pt idx="566">
                  <c:v>45796</c:v>
                </c:pt>
                <c:pt idx="567">
                  <c:v>45797</c:v>
                </c:pt>
                <c:pt idx="568">
                  <c:v>45798</c:v>
                </c:pt>
                <c:pt idx="569">
                  <c:v>45799</c:v>
                </c:pt>
                <c:pt idx="570">
                  <c:v>45800</c:v>
                </c:pt>
                <c:pt idx="571">
                  <c:v>45803</c:v>
                </c:pt>
                <c:pt idx="572">
                  <c:v>45804</c:v>
                </c:pt>
                <c:pt idx="573">
                  <c:v>45805</c:v>
                </c:pt>
                <c:pt idx="574">
                  <c:v>45806</c:v>
                </c:pt>
                <c:pt idx="575">
                  <c:v>45807</c:v>
                </c:pt>
                <c:pt idx="576">
                  <c:v>45811</c:v>
                </c:pt>
                <c:pt idx="577">
                  <c:v>45812</c:v>
                </c:pt>
                <c:pt idx="578">
                  <c:v>45813</c:v>
                </c:pt>
                <c:pt idx="579">
                  <c:v>45814</c:v>
                </c:pt>
                <c:pt idx="580">
                  <c:v>45817</c:v>
                </c:pt>
                <c:pt idx="581">
                  <c:v>45818</c:v>
                </c:pt>
                <c:pt idx="582">
                  <c:v>45819</c:v>
                </c:pt>
                <c:pt idx="583">
                  <c:v>45820</c:v>
                </c:pt>
                <c:pt idx="584">
                  <c:v>45821</c:v>
                </c:pt>
                <c:pt idx="585">
                  <c:v>45824</c:v>
                </c:pt>
                <c:pt idx="586">
                  <c:v>45825</c:v>
                </c:pt>
                <c:pt idx="587">
                  <c:v>45826</c:v>
                </c:pt>
                <c:pt idx="588">
                  <c:v>45827</c:v>
                </c:pt>
                <c:pt idx="589">
                  <c:v>45828</c:v>
                </c:pt>
                <c:pt idx="590">
                  <c:v>45831</c:v>
                </c:pt>
                <c:pt idx="591">
                  <c:v>45832</c:v>
                </c:pt>
                <c:pt idx="592">
                  <c:v>45833</c:v>
                </c:pt>
                <c:pt idx="593">
                  <c:v>45834</c:v>
                </c:pt>
                <c:pt idx="594">
                  <c:v>45835</c:v>
                </c:pt>
                <c:pt idx="595">
                  <c:v>45838</c:v>
                </c:pt>
                <c:pt idx="596">
                  <c:v>45839</c:v>
                </c:pt>
                <c:pt idx="597">
                  <c:v>45840</c:v>
                </c:pt>
                <c:pt idx="598">
                  <c:v>45841</c:v>
                </c:pt>
                <c:pt idx="599">
                  <c:v>45842</c:v>
                </c:pt>
                <c:pt idx="600">
                  <c:v>45845</c:v>
                </c:pt>
                <c:pt idx="601">
                  <c:v>45846</c:v>
                </c:pt>
                <c:pt idx="602">
                  <c:v>45847</c:v>
                </c:pt>
                <c:pt idx="603">
                  <c:v>45848</c:v>
                </c:pt>
                <c:pt idx="604">
                  <c:v>45849</c:v>
                </c:pt>
                <c:pt idx="605">
                  <c:v>45852</c:v>
                </c:pt>
                <c:pt idx="606">
                  <c:v>45853</c:v>
                </c:pt>
                <c:pt idx="607">
                  <c:v>45854</c:v>
                </c:pt>
                <c:pt idx="608">
                  <c:v>45855</c:v>
                </c:pt>
                <c:pt idx="609">
                  <c:v>45856</c:v>
                </c:pt>
                <c:pt idx="610">
                  <c:v>45859</c:v>
                </c:pt>
                <c:pt idx="611">
                  <c:v>45860</c:v>
                </c:pt>
                <c:pt idx="612">
                  <c:v>45861</c:v>
                </c:pt>
                <c:pt idx="613">
                  <c:v>45862</c:v>
                </c:pt>
                <c:pt idx="614">
                  <c:v>45863</c:v>
                </c:pt>
                <c:pt idx="615">
                  <c:v>45866</c:v>
                </c:pt>
                <c:pt idx="616">
                  <c:v>45867</c:v>
                </c:pt>
                <c:pt idx="617">
                  <c:v>45868</c:v>
                </c:pt>
                <c:pt idx="618">
                  <c:v>45869</c:v>
                </c:pt>
                <c:pt idx="619">
                  <c:v>45870</c:v>
                </c:pt>
                <c:pt idx="620">
                  <c:v>45873</c:v>
                </c:pt>
                <c:pt idx="621">
                  <c:v>45874</c:v>
                </c:pt>
                <c:pt idx="622">
                  <c:v>45875</c:v>
                </c:pt>
                <c:pt idx="623">
                  <c:v>45876</c:v>
                </c:pt>
                <c:pt idx="624">
                  <c:v>45877</c:v>
                </c:pt>
                <c:pt idx="625">
                  <c:v>45880</c:v>
                </c:pt>
                <c:pt idx="626">
                  <c:v>45881</c:v>
                </c:pt>
                <c:pt idx="627">
                  <c:v>45882</c:v>
                </c:pt>
                <c:pt idx="628">
                  <c:v>45883</c:v>
                </c:pt>
                <c:pt idx="629">
                  <c:v>45884</c:v>
                </c:pt>
                <c:pt idx="630">
                  <c:v>45887</c:v>
                </c:pt>
                <c:pt idx="631">
                  <c:v>45888</c:v>
                </c:pt>
                <c:pt idx="632">
                  <c:v>45889</c:v>
                </c:pt>
                <c:pt idx="633">
                  <c:v>45890</c:v>
                </c:pt>
                <c:pt idx="634">
                  <c:v>45891</c:v>
                </c:pt>
                <c:pt idx="635">
                  <c:v>45894</c:v>
                </c:pt>
                <c:pt idx="636">
                  <c:v>45895</c:v>
                </c:pt>
                <c:pt idx="637">
                  <c:v>45896</c:v>
                </c:pt>
                <c:pt idx="638">
                  <c:v>45897</c:v>
                </c:pt>
                <c:pt idx="639">
                  <c:v>45898</c:v>
                </c:pt>
                <c:pt idx="640">
                  <c:v>45901</c:v>
                </c:pt>
                <c:pt idx="641">
                  <c:v>45902</c:v>
                </c:pt>
                <c:pt idx="642">
                  <c:v>45903</c:v>
                </c:pt>
                <c:pt idx="643">
                  <c:v>45904</c:v>
                </c:pt>
                <c:pt idx="644">
                  <c:v>45905</c:v>
                </c:pt>
                <c:pt idx="645">
                  <c:v>45908</c:v>
                </c:pt>
                <c:pt idx="646">
                  <c:v>45909</c:v>
                </c:pt>
                <c:pt idx="647">
                  <c:v>45910</c:v>
                </c:pt>
                <c:pt idx="648">
                  <c:v>45911</c:v>
                </c:pt>
                <c:pt idx="649">
                  <c:v>45912</c:v>
                </c:pt>
                <c:pt idx="650">
                  <c:v>45915</c:v>
                </c:pt>
                <c:pt idx="651">
                  <c:v>45916</c:v>
                </c:pt>
                <c:pt idx="652">
                  <c:v>45917</c:v>
                </c:pt>
                <c:pt idx="653">
                  <c:v>45918</c:v>
                </c:pt>
                <c:pt idx="654">
                  <c:v>45919</c:v>
                </c:pt>
                <c:pt idx="655">
                  <c:v>45922</c:v>
                </c:pt>
                <c:pt idx="656">
                  <c:v>45923</c:v>
                </c:pt>
                <c:pt idx="657">
                  <c:v>45924</c:v>
                </c:pt>
                <c:pt idx="658">
                  <c:v>45925</c:v>
                </c:pt>
                <c:pt idx="659">
                  <c:v>45926</c:v>
                </c:pt>
                <c:pt idx="660">
                  <c:v>45929</c:v>
                </c:pt>
                <c:pt idx="661">
                  <c:v>45930</c:v>
                </c:pt>
                <c:pt idx="662">
                  <c:v>45939</c:v>
                </c:pt>
                <c:pt idx="663">
                  <c:v>45940</c:v>
                </c:pt>
                <c:pt idx="664">
                  <c:v>45943</c:v>
                </c:pt>
                <c:pt idx="665">
                  <c:v>45944</c:v>
                </c:pt>
                <c:pt idx="666">
                  <c:v>45945</c:v>
                </c:pt>
                <c:pt idx="667">
                  <c:v>45946</c:v>
                </c:pt>
                <c:pt idx="668">
                  <c:v>45947</c:v>
                </c:pt>
                <c:pt idx="669">
                  <c:v>45950</c:v>
                </c:pt>
                <c:pt idx="670">
                  <c:v>45951</c:v>
                </c:pt>
                <c:pt idx="671">
                  <c:v>45952</c:v>
                </c:pt>
                <c:pt idx="672">
                  <c:v>45953</c:v>
                </c:pt>
                <c:pt idx="673">
                  <c:v>45954</c:v>
                </c:pt>
                <c:pt idx="674">
                  <c:v>45957</c:v>
                </c:pt>
                <c:pt idx="675">
                  <c:v>45958</c:v>
                </c:pt>
                <c:pt idx="676">
                  <c:v>45959</c:v>
                </c:pt>
                <c:pt idx="677">
                  <c:v>45960</c:v>
                </c:pt>
                <c:pt idx="678">
                  <c:v>45961</c:v>
                </c:pt>
                <c:pt idx="679">
                  <c:v>45964</c:v>
                </c:pt>
                <c:pt idx="680">
                  <c:v>45965</c:v>
                </c:pt>
                <c:pt idx="681">
                  <c:v>45966</c:v>
                </c:pt>
                <c:pt idx="682">
                  <c:v>45967</c:v>
                </c:pt>
                <c:pt idx="683">
                  <c:v>45968</c:v>
                </c:pt>
                <c:pt idx="684">
                  <c:v>45971</c:v>
                </c:pt>
                <c:pt idx="685">
                  <c:v>45972</c:v>
                </c:pt>
                <c:pt idx="686">
                  <c:v>45973</c:v>
                </c:pt>
                <c:pt idx="687">
                  <c:v>45974</c:v>
                </c:pt>
                <c:pt idx="688">
                  <c:v>45975</c:v>
                </c:pt>
                <c:pt idx="689">
                  <c:v>45978</c:v>
                </c:pt>
                <c:pt idx="690">
                  <c:v>45979</c:v>
                </c:pt>
                <c:pt idx="691">
                  <c:v>45980</c:v>
                </c:pt>
                <c:pt idx="692">
                  <c:v>45981</c:v>
                </c:pt>
                <c:pt idx="693">
                  <c:v>45982</c:v>
                </c:pt>
                <c:pt idx="694">
                  <c:v>45985</c:v>
                </c:pt>
                <c:pt idx="695">
                  <c:v>45986</c:v>
                </c:pt>
                <c:pt idx="696">
                  <c:v>45987</c:v>
                </c:pt>
                <c:pt idx="697">
                  <c:v>45988</c:v>
                </c:pt>
                <c:pt idx="698">
                  <c:v>45989</c:v>
                </c:pt>
                <c:pt idx="699">
                  <c:v>45992</c:v>
                </c:pt>
                <c:pt idx="700">
                  <c:v>45993</c:v>
                </c:pt>
                <c:pt idx="701">
                  <c:v>45994</c:v>
                </c:pt>
                <c:pt idx="702">
                  <c:v>45995</c:v>
                </c:pt>
                <c:pt idx="703">
                  <c:v>45996</c:v>
                </c:pt>
                <c:pt idx="704">
                  <c:v>45999</c:v>
                </c:pt>
                <c:pt idx="705">
                  <c:v>46000</c:v>
                </c:pt>
                <c:pt idx="706">
                  <c:v>46001</c:v>
                </c:pt>
                <c:pt idx="707">
                  <c:v>46002</c:v>
                </c:pt>
                <c:pt idx="708">
                  <c:v>46003</c:v>
                </c:pt>
                <c:pt idx="709">
                  <c:v>46006</c:v>
                </c:pt>
                <c:pt idx="710">
                  <c:v>46007</c:v>
                </c:pt>
                <c:pt idx="711">
                  <c:v>46008</c:v>
                </c:pt>
                <c:pt idx="712">
                  <c:v>46009</c:v>
                </c:pt>
                <c:pt idx="713">
                  <c:v>46010</c:v>
                </c:pt>
                <c:pt idx="714">
                  <c:v>46013</c:v>
                </c:pt>
                <c:pt idx="715">
                  <c:v>46014</c:v>
                </c:pt>
                <c:pt idx="716">
                  <c:v>46015</c:v>
                </c:pt>
                <c:pt idx="717">
                  <c:v>46016</c:v>
                </c:pt>
                <c:pt idx="718">
                  <c:v>46017</c:v>
                </c:pt>
                <c:pt idx="719">
                  <c:v>46020</c:v>
                </c:pt>
                <c:pt idx="720">
                  <c:v>46021</c:v>
                </c:pt>
                <c:pt idx="721">
                  <c:v>46022</c:v>
                </c:pt>
                <c:pt idx="722">
                  <c:v>46027</c:v>
                </c:pt>
                <c:pt idx="723">
                  <c:v>46028</c:v>
                </c:pt>
                <c:pt idx="724">
                  <c:v>46029</c:v>
                </c:pt>
                <c:pt idx="725">
                  <c:v>46030</c:v>
                </c:pt>
                <c:pt idx="726">
                  <c:v>46031</c:v>
                </c:pt>
                <c:pt idx="727">
                  <c:v>46034</c:v>
                </c:pt>
                <c:pt idx="728">
                  <c:v>46035</c:v>
                </c:pt>
                <c:pt idx="729">
                  <c:v>46036</c:v>
                </c:pt>
              </c:numCache>
            </c:numRef>
          </c:cat>
          <c:val>
            <c:numRef>
              <c:f>[0]!基准净值</c:f>
              <c:numCache>
                <c:formatCode>General</c:formatCode>
                <c:ptCount val="730"/>
                <c:pt idx="0">
                  <c:v>1</c:v>
                </c:pt>
                <c:pt idx="1">
                  <c:v>0.99814739297484389</c:v>
                </c:pt>
                <c:pt idx="2">
                  <c:v>1.0000984449506165</c:v>
                </c:pt>
                <c:pt idx="3">
                  <c:v>1.0141640006255672</c:v>
                </c:pt>
                <c:pt idx="4">
                  <c:v>1.0299916337971298</c:v>
                </c:pt>
                <c:pt idx="5">
                  <c:v>1.0298118939770533</c:v>
                </c:pt>
                <c:pt idx="6">
                  <c:v>1.0280874520721817</c:v>
                </c:pt>
                <c:pt idx="7">
                  <c:v>1.0344828641939834</c:v>
                </c:pt>
                <c:pt idx="8">
                  <c:v>1.0408348659507092</c:v>
                </c:pt>
                <c:pt idx="9">
                  <c:v>1.0457678913990152</c:v>
                </c:pt>
                <c:pt idx="10">
                  <c:v>1.0346944648324641</c:v>
                </c:pt>
                <c:pt idx="11">
                  <c:v>1.0444208259533847</c:v>
                </c:pt>
                <c:pt idx="12">
                  <c:v>1.0407409263189451</c:v>
                </c:pt>
                <c:pt idx="13">
                  <c:v>1.0309045458094723</c:v>
                </c:pt>
                <c:pt idx="14">
                  <c:v>1.0172755829117188</c:v>
                </c:pt>
                <c:pt idx="15">
                  <c:v>1.019106484754337</c:v>
                </c:pt>
                <c:pt idx="16">
                  <c:v>1.0146030576379379</c:v>
                </c:pt>
                <c:pt idx="17">
                  <c:v>1.0282224125076411</c:v>
                </c:pt>
                <c:pt idx="18">
                  <c:v>1.0221124036232021</c:v>
                </c:pt>
                <c:pt idx="19">
                  <c:v>1.0313879590549651</c:v>
                </c:pt>
                <c:pt idx="20">
                  <c:v>1.0318151429342275</c:v>
                </c:pt>
                <c:pt idx="21">
                  <c:v>1.0264384058071119</c:v>
                </c:pt>
                <c:pt idx="22">
                  <c:v>1.0189208208133382</c:v>
                </c:pt>
                <c:pt idx="23">
                  <c:v>1.004239803735367</c:v>
                </c:pt>
                <c:pt idx="24">
                  <c:v>1.0288778243899888</c:v>
                </c:pt>
                <c:pt idx="25">
                  <c:v>1.0315820113520591</c:v>
                </c:pt>
                <c:pt idx="26">
                  <c:v>1.0222719317366031</c:v>
                </c:pt>
                <c:pt idx="27">
                  <c:v>1.0214494496877475</c:v>
                </c:pt>
                <c:pt idx="28">
                  <c:v>1.0108456217149595</c:v>
                </c:pt>
                <c:pt idx="29">
                  <c:v>1.0065640006554364</c:v>
                </c:pt>
                <c:pt idx="30">
                  <c:v>1.0129397237871149</c:v>
                </c:pt>
                <c:pt idx="31">
                  <c:v>1.0272479195072262</c:v>
                </c:pt>
                <c:pt idx="32">
                  <c:v>1.0249569773163663</c:v>
                </c:pt>
                <c:pt idx="33">
                  <c:v>1.028146444368758</c:v>
                </c:pt>
                <c:pt idx="34">
                  <c:v>1.0227845922177408</c:v>
                </c:pt>
                <c:pt idx="35">
                  <c:v>1.0078104307191853</c:v>
                </c:pt>
                <c:pt idx="36">
                  <c:v>1.004140412916704</c:v>
                </c:pt>
                <c:pt idx="37">
                  <c:v>1.0005916155717456</c:v>
                </c:pt>
                <c:pt idx="38">
                  <c:v>0.98747011088087489</c:v>
                </c:pt>
                <c:pt idx="39">
                  <c:v>0.99781263036021828</c:v>
                </c:pt>
                <c:pt idx="40">
                  <c:v>0.99184111647078066</c:v>
                </c:pt>
                <c:pt idx="41">
                  <c:v>0.99239031732802585</c:v>
                </c:pt>
                <c:pt idx="42">
                  <c:v>0.98050436521837048</c:v>
                </c:pt>
                <c:pt idx="43">
                  <c:v>0.98540020311769505</c:v>
                </c:pt>
                <c:pt idx="44">
                  <c:v>0.98048607013905231</c:v>
                </c:pt>
                <c:pt idx="45">
                  <c:v>0.99126428631007535</c:v>
                </c:pt>
                <c:pt idx="46">
                  <c:v>0.99551185611992865</c:v>
                </c:pt>
                <c:pt idx="47">
                  <c:v>1.0053804459255073</c:v>
                </c:pt>
                <c:pt idx="48">
                  <c:v>1.0023825918263007</c:v>
                </c:pt>
                <c:pt idx="49">
                  <c:v>0.99875628308406805</c:v>
                </c:pt>
                <c:pt idx="50">
                  <c:v>0.9955297778302814</c:v>
                </c:pt>
                <c:pt idx="51">
                  <c:v>0.9971798944197191</c:v>
                </c:pt>
                <c:pt idx="52">
                  <c:v>1.005240108976942</c:v>
                </c:pt>
                <c:pt idx="53">
                  <c:v>1.0083266257598644</c:v>
                </c:pt>
                <c:pt idx="54">
                  <c:v>1.0181939958934885</c:v>
                </c:pt>
                <c:pt idx="55">
                  <c:v>1.0213147630561956</c:v>
                </c:pt>
                <c:pt idx="56">
                  <c:v>1.019705493031603</c:v>
                </c:pt>
                <c:pt idx="57">
                  <c:v>1.0263365009707464</c:v>
                </c:pt>
                <c:pt idx="58">
                  <c:v>1.0217395573740777</c:v>
                </c:pt>
                <c:pt idx="59">
                  <c:v>1.020578653694733</c:v>
                </c:pt>
                <c:pt idx="60">
                  <c:v>1.0198666888597174</c:v>
                </c:pt>
                <c:pt idx="61">
                  <c:v>1.0128202208268342</c:v>
                </c:pt>
                <c:pt idx="62">
                  <c:v>1.0185502396692723</c:v>
                </c:pt>
                <c:pt idx="63">
                  <c:v>1.032834041950293</c:v>
                </c:pt>
                <c:pt idx="64">
                  <c:v>1.0359823886339317</c:v>
                </c:pt>
                <c:pt idx="65">
                  <c:v>1.0266548602421464</c:v>
                </c:pt>
                <c:pt idx="66">
                  <c:v>1.0237824830066713</c:v>
                </c:pt>
                <c:pt idx="67">
                  <c:v>1.0037569629889547</c:v>
                </c:pt>
                <c:pt idx="68">
                  <c:v>0.99133017348688524</c:v>
                </c:pt>
                <c:pt idx="69">
                  <c:v>0.9863576207107464</c:v>
                </c:pt>
                <c:pt idx="70">
                  <c:v>0.98550297914831375</c:v>
                </c:pt>
                <c:pt idx="71">
                  <c:v>0.99276779335232468</c:v>
                </c:pt>
                <c:pt idx="72">
                  <c:v>1.0028903985108848</c:v>
                </c:pt>
                <c:pt idx="73">
                  <c:v>1.0031794607641111</c:v>
                </c:pt>
                <c:pt idx="74">
                  <c:v>0.99985157339051101</c:v>
                </c:pt>
                <c:pt idx="75">
                  <c:v>1.0112480387861651</c:v>
                </c:pt>
                <c:pt idx="76">
                  <c:v>1.0025891146468484</c:v>
                </c:pt>
                <c:pt idx="77">
                  <c:v>0.99487135410494365</c:v>
                </c:pt>
                <c:pt idx="78">
                  <c:v>0.99332665202014847</c:v>
                </c:pt>
                <c:pt idx="79">
                  <c:v>0.98015879979500509</c:v>
                </c:pt>
                <c:pt idx="80">
                  <c:v>0.99537358514630681</c:v>
                </c:pt>
                <c:pt idx="81">
                  <c:v>0.99022562363009325</c:v>
                </c:pt>
                <c:pt idx="82">
                  <c:v>0.98573513997117101</c:v>
                </c:pt>
                <c:pt idx="83">
                  <c:v>0.9847158675861396</c:v>
                </c:pt>
                <c:pt idx="84">
                  <c:v>0.98184595458583801</c:v>
                </c:pt>
                <c:pt idx="85">
                  <c:v>0.98801585185237129</c:v>
                </c:pt>
                <c:pt idx="86">
                  <c:v>0.97404202048665511</c:v>
                </c:pt>
                <c:pt idx="87">
                  <c:v>0.96057716569494855</c:v>
                </c:pt>
                <c:pt idx="88">
                  <c:v>0.95843803532553262</c:v>
                </c:pt>
                <c:pt idx="89">
                  <c:v>0.95855041938420116</c:v>
                </c:pt>
                <c:pt idx="90">
                  <c:v>0.95431653976975583</c:v>
                </c:pt>
                <c:pt idx="91">
                  <c:v>0.95526527031153874</c:v>
                </c:pt>
                <c:pt idx="92">
                  <c:v>0.9455054802225582</c:v>
                </c:pt>
                <c:pt idx="93">
                  <c:v>0.9475775535257388</c:v>
                </c:pt>
                <c:pt idx="94">
                  <c:v>0.96125923612144559</c:v>
                </c:pt>
                <c:pt idx="95">
                  <c:v>0.95688223173682441</c:v>
                </c:pt>
                <c:pt idx="96">
                  <c:v>0.94789989539943897</c:v>
                </c:pt>
                <c:pt idx="97">
                  <c:v>0.94321508563951462</c:v>
                </c:pt>
                <c:pt idx="98">
                  <c:v>0.95089277124577021</c:v>
                </c:pt>
                <c:pt idx="99">
                  <c:v>0.95500378757924365</c:v>
                </c:pt>
                <c:pt idx="100">
                  <c:v>0.95692783253316593</c:v>
                </c:pt>
                <c:pt idx="101">
                  <c:v>0.96202431891464479</c:v>
                </c:pt>
                <c:pt idx="102">
                  <c:v>0.96180460372397658</c:v>
                </c:pt>
                <c:pt idx="103">
                  <c:v>0.97710643382680973</c:v>
                </c:pt>
                <c:pt idx="104">
                  <c:v>0.98652815076300271</c:v>
                </c:pt>
                <c:pt idx="105">
                  <c:v>0.97845267786071599</c:v>
                </c:pt>
                <c:pt idx="106">
                  <c:v>0.97679238074414743</c:v>
                </c:pt>
                <c:pt idx="107">
                  <c:v>0.96180649546006947</c:v>
                </c:pt>
                <c:pt idx="108">
                  <c:v>0.94828155315615348</c:v>
                </c:pt>
                <c:pt idx="109">
                  <c:v>0.95717699408959378</c:v>
                </c:pt>
                <c:pt idx="110">
                  <c:v>0.95602333376818338</c:v>
                </c:pt>
                <c:pt idx="111">
                  <c:v>0.95130516971399182</c:v>
                </c:pt>
                <c:pt idx="112">
                  <c:v>0.95643478636835844</c:v>
                </c:pt>
                <c:pt idx="113">
                  <c:v>0.96898757545071146</c:v>
                </c:pt>
                <c:pt idx="114">
                  <c:v>0.97051370865228048</c:v>
                </c:pt>
                <c:pt idx="115">
                  <c:v>0.96299458040011554</c:v>
                </c:pt>
                <c:pt idx="116">
                  <c:v>0.95651023179068961</c:v>
                </c:pt>
                <c:pt idx="117">
                  <c:v>0.9522648026295728</c:v>
                </c:pt>
                <c:pt idx="118">
                  <c:v>0.95690157224924699</c:v>
                </c:pt>
                <c:pt idx="119">
                  <c:v>0.96316401523673933</c:v>
                </c:pt>
                <c:pt idx="120">
                  <c:v>0.95668003999627915</c:v>
                </c:pt>
                <c:pt idx="121">
                  <c:v>0.97036675062739031</c:v>
                </c:pt>
                <c:pt idx="122">
                  <c:v>0.97053596144263465</c:v>
                </c:pt>
                <c:pt idx="123">
                  <c:v>0.96258872833442544</c:v>
                </c:pt>
                <c:pt idx="124">
                  <c:v>0.95954313279014092</c:v>
                </c:pt>
                <c:pt idx="125">
                  <c:v>0.95852931159200838</c:v>
                </c:pt>
                <c:pt idx="126">
                  <c:v>0.95176593190890046</c:v>
                </c:pt>
                <c:pt idx="127">
                  <c:v>0.95132172240480339</c:v>
                </c:pt>
                <c:pt idx="128">
                  <c:v>0.94716761929269089</c:v>
                </c:pt>
                <c:pt idx="129">
                  <c:v>0.9745217000424915</c:v>
                </c:pt>
                <c:pt idx="130">
                  <c:v>0.97250488534623103</c:v>
                </c:pt>
                <c:pt idx="131">
                  <c:v>0.97134321003769075</c:v>
                </c:pt>
                <c:pt idx="132">
                  <c:v>0.99384287195209242</c:v>
                </c:pt>
                <c:pt idx="133">
                  <c:v>0.99929219200613528</c:v>
                </c:pt>
                <c:pt idx="134">
                  <c:v>0.99515299876138552</c:v>
                </c:pt>
                <c:pt idx="135">
                  <c:v>0.9881570599951901</c:v>
                </c:pt>
                <c:pt idx="136">
                  <c:v>0.99689113086166525</c:v>
                </c:pt>
                <c:pt idx="137">
                  <c:v>1.0007729982152711</c:v>
                </c:pt>
                <c:pt idx="138">
                  <c:v>0.99319955722423237</c:v>
                </c:pt>
                <c:pt idx="139">
                  <c:v>0.99060566345462275</c:v>
                </c:pt>
                <c:pt idx="140">
                  <c:v>0.98757714331770197</c:v>
                </c:pt>
                <c:pt idx="141">
                  <c:v>0.9896061298422435</c:v>
                </c:pt>
                <c:pt idx="142">
                  <c:v>0.96683988248634911</c:v>
                </c:pt>
                <c:pt idx="143">
                  <c:v>0.95978378153415123</c:v>
                </c:pt>
                <c:pt idx="144">
                  <c:v>0.95745137049683693</c:v>
                </c:pt>
                <c:pt idx="145">
                  <c:v>0.95043156100810267</c:v>
                </c:pt>
                <c:pt idx="146">
                  <c:v>0.95360942873129406</c:v>
                </c:pt>
                <c:pt idx="147">
                  <c:v>0.94188638994699536</c:v>
                </c:pt>
                <c:pt idx="148">
                  <c:v>0.92833339518812485</c:v>
                </c:pt>
                <c:pt idx="149">
                  <c:v>0.93547024340196627</c:v>
                </c:pt>
                <c:pt idx="150">
                  <c:v>0.92013891715084473</c:v>
                </c:pt>
                <c:pt idx="151">
                  <c:v>0.92680863100609656</c:v>
                </c:pt>
                <c:pt idx="152">
                  <c:v>0.92325475584320504</c:v>
                </c:pt>
                <c:pt idx="153">
                  <c:v>0.9340744159694182</c:v>
                </c:pt>
                <c:pt idx="154">
                  <c:v>0.94340547892074489</c:v>
                </c:pt>
                <c:pt idx="155">
                  <c:v>0.94300796542862175</c:v>
                </c:pt>
                <c:pt idx="156">
                  <c:v>0.9372227626530566</c:v>
                </c:pt>
                <c:pt idx="157">
                  <c:v>0.94375009847606384</c:v>
                </c:pt>
                <c:pt idx="158">
                  <c:v>0.95805274344421887</c:v>
                </c:pt>
                <c:pt idx="159">
                  <c:v>0.95092530412831244</c:v>
                </c:pt>
                <c:pt idx="160">
                  <c:v>0.94886204233272187</c:v>
                </c:pt>
                <c:pt idx="161">
                  <c:v>0.93553189906383127</c:v>
                </c:pt>
                <c:pt idx="162">
                  <c:v>0.93093147069014959</c:v>
                </c:pt>
                <c:pt idx="163">
                  <c:v>0.93778759522433131</c:v>
                </c:pt>
                <c:pt idx="164">
                  <c:v>0.93606208299509142</c:v>
                </c:pt>
                <c:pt idx="165">
                  <c:v>0.93009975398220945</c:v>
                </c:pt>
                <c:pt idx="166">
                  <c:v>0.92931727219520976</c:v>
                </c:pt>
                <c:pt idx="167">
                  <c:v>0.92316138871052134</c:v>
                </c:pt>
                <c:pt idx="168">
                  <c:v>0.92787440027298662</c:v>
                </c:pt>
                <c:pt idx="169">
                  <c:v>0.92608001391521166</c:v>
                </c:pt>
                <c:pt idx="170">
                  <c:v>0.92239304516168874</c:v>
                </c:pt>
                <c:pt idx="171">
                  <c:v>0.91411794431908722</c:v>
                </c:pt>
                <c:pt idx="172">
                  <c:v>0.93066762328773855</c:v>
                </c:pt>
                <c:pt idx="173">
                  <c:v>0.9246118275771158</c:v>
                </c:pt>
                <c:pt idx="174">
                  <c:v>0.919207710059184</c:v>
                </c:pt>
                <c:pt idx="175">
                  <c:v>0.92109999375975915</c:v>
                </c:pt>
                <c:pt idx="176">
                  <c:v>0.91836748053882622</c:v>
                </c:pt>
                <c:pt idx="177">
                  <c:v>0.91717518897510053</c:v>
                </c:pt>
                <c:pt idx="178">
                  <c:v>0.91030487642022317</c:v>
                </c:pt>
                <c:pt idx="179">
                  <c:v>0.91289914355879831</c:v>
                </c:pt>
                <c:pt idx="180">
                  <c:v>0.92156979148363727</c:v>
                </c:pt>
                <c:pt idx="181">
                  <c:v>0.91186916793008432</c:v>
                </c:pt>
                <c:pt idx="182">
                  <c:v>0.90270589699193238</c:v>
                </c:pt>
                <c:pt idx="183">
                  <c:v>0.90589312383052989</c:v>
                </c:pt>
                <c:pt idx="184">
                  <c:v>0.8987181919821895</c:v>
                </c:pt>
                <c:pt idx="185">
                  <c:v>0.87954390342368571</c:v>
                </c:pt>
                <c:pt idx="186">
                  <c:v>0.87382996433803606</c:v>
                </c:pt>
                <c:pt idx="187">
                  <c:v>0.86478320940843945</c:v>
                </c:pt>
                <c:pt idx="188">
                  <c:v>0.86799079730129858</c:v>
                </c:pt>
                <c:pt idx="189">
                  <c:v>0.87230380624520287</c:v>
                </c:pt>
                <c:pt idx="190">
                  <c:v>0.87471507280806793</c:v>
                </c:pt>
                <c:pt idx="191">
                  <c:v>0.88672269341800491</c:v>
                </c:pt>
                <c:pt idx="192">
                  <c:v>0.89204611345682183</c:v>
                </c:pt>
                <c:pt idx="193">
                  <c:v>0.88924181382942158</c:v>
                </c:pt>
                <c:pt idx="194">
                  <c:v>0.88887372181179369</c:v>
                </c:pt>
                <c:pt idx="195">
                  <c:v>0.8846825556070218</c:v>
                </c:pt>
                <c:pt idx="196">
                  <c:v>0.89213686700674533</c:v>
                </c:pt>
                <c:pt idx="197">
                  <c:v>0.90420216067624715</c:v>
                </c:pt>
                <c:pt idx="198">
                  <c:v>0.90100385722500109</c:v>
                </c:pt>
                <c:pt idx="199">
                  <c:v>0.89884155308844871</c:v>
                </c:pt>
                <c:pt idx="200">
                  <c:v>0.89927814586564603</c:v>
                </c:pt>
                <c:pt idx="201">
                  <c:v>0.89272253356630471</c:v>
                </c:pt>
                <c:pt idx="202">
                  <c:v>0.89096142682900359</c:v>
                </c:pt>
                <c:pt idx="203">
                  <c:v>0.89161962653296178</c:v>
                </c:pt>
                <c:pt idx="204">
                  <c:v>0.89788898929195138</c:v>
                </c:pt>
                <c:pt idx="205">
                  <c:v>0.88920659269032587</c:v>
                </c:pt>
                <c:pt idx="206">
                  <c:v>0.88813736353768702</c:v>
                </c:pt>
                <c:pt idx="207">
                  <c:v>0.8901920876295959</c:v>
                </c:pt>
                <c:pt idx="208">
                  <c:v>0.89137295410297201</c:v>
                </c:pt>
                <c:pt idx="209">
                  <c:v>0.88225000701311307</c:v>
                </c:pt>
                <c:pt idx="210">
                  <c:v>0.88650745865492464</c:v>
                </c:pt>
                <c:pt idx="211">
                  <c:v>0.88065509924806662</c:v>
                </c:pt>
                <c:pt idx="212">
                  <c:v>0.87416686760139772</c:v>
                </c:pt>
                <c:pt idx="213">
                  <c:v>0.87580491192761201</c:v>
                </c:pt>
                <c:pt idx="214">
                  <c:v>0.86828379237429676</c:v>
                </c:pt>
                <c:pt idx="215">
                  <c:v>0.870249082153294</c:v>
                </c:pt>
                <c:pt idx="216">
                  <c:v>0.86693319236912447</c:v>
                </c:pt>
                <c:pt idx="217">
                  <c:v>0.86127209743775002</c:v>
                </c:pt>
                <c:pt idx="218">
                  <c:v>0.84487350844387565</c:v>
                </c:pt>
                <c:pt idx="219">
                  <c:v>0.84620292598306213</c:v>
                </c:pt>
                <c:pt idx="220">
                  <c:v>0.8441330431111469</c:v>
                </c:pt>
                <c:pt idx="221">
                  <c:v>0.84616902408097872</c:v>
                </c:pt>
                <c:pt idx="222">
                  <c:v>0.85114553456815367</c:v>
                </c:pt>
                <c:pt idx="223">
                  <c:v>0.8529745944572078</c:v>
                </c:pt>
                <c:pt idx="224">
                  <c:v>0.83873728905804623</c:v>
                </c:pt>
                <c:pt idx="225">
                  <c:v>0.83434619621778694</c:v>
                </c:pt>
                <c:pt idx="226">
                  <c:v>0.83175446798817831</c:v>
                </c:pt>
                <c:pt idx="227">
                  <c:v>0.82872121851102554</c:v>
                </c:pt>
                <c:pt idx="228">
                  <c:v>0.82988500957703815</c:v>
                </c:pt>
                <c:pt idx="229">
                  <c:v>0.82078999048581169</c:v>
                </c:pt>
                <c:pt idx="230">
                  <c:v>0.82909560801854132</c:v>
                </c:pt>
                <c:pt idx="231">
                  <c:v>0.83067826928151367</c:v>
                </c:pt>
                <c:pt idx="232">
                  <c:v>0.8332228285651252</c:v>
                </c:pt>
                <c:pt idx="233">
                  <c:v>0.8275823187093917</c:v>
                </c:pt>
                <c:pt idx="234">
                  <c:v>0.8304614912600421</c:v>
                </c:pt>
                <c:pt idx="235">
                  <c:v>0.84992225338027705</c:v>
                </c:pt>
                <c:pt idx="236">
                  <c:v>0.85404663632272171</c:v>
                </c:pt>
                <c:pt idx="237">
                  <c:v>0.84290587888602708</c:v>
                </c:pt>
                <c:pt idx="238">
                  <c:v>0.84090086264908193</c:v>
                </c:pt>
                <c:pt idx="239">
                  <c:v>0.83312353731151978</c:v>
                </c:pt>
                <c:pt idx="240">
                  <c:v>0.82865792002571159</c:v>
                </c:pt>
                <c:pt idx="241">
                  <c:v>0.81794098614758826</c:v>
                </c:pt>
                <c:pt idx="242">
                  <c:v>0.81954473031148911</c:v>
                </c:pt>
                <c:pt idx="243">
                  <c:v>0.81571884341147027</c:v>
                </c:pt>
                <c:pt idx="244">
                  <c:v>0.82033435589136527</c:v>
                </c:pt>
                <c:pt idx="245">
                  <c:v>0.81747061592462955</c:v>
                </c:pt>
                <c:pt idx="246">
                  <c:v>0.81666234678773386</c:v>
                </c:pt>
                <c:pt idx="247">
                  <c:v>0.82162982174593957</c:v>
                </c:pt>
                <c:pt idx="248">
                  <c:v>0.80375933761557672</c:v>
                </c:pt>
                <c:pt idx="249">
                  <c:v>0.81512135350133108</c:v>
                </c:pt>
                <c:pt idx="250">
                  <c:v>0.81388866341551924</c:v>
                </c:pt>
                <c:pt idx="251">
                  <c:v>0.80122530733679742</c:v>
                </c:pt>
                <c:pt idx="252">
                  <c:v>0.80446896267174073</c:v>
                </c:pt>
                <c:pt idx="253">
                  <c:v>0.81571384026733029</c:v>
                </c:pt>
                <c:pt idx="254">
                  <c:v>0.83209478135476045</c:v>
                </c:pt>
                <c:pt idx="255">
                  <c:v>0.82983027368667039</c:v>
                </c:pt>
                <c:pt idx="256">
                  <c:v>0.82239751812189843</c:v>
                </c:pt>
                <c:pt idx="257">
                  <c:v>0.80773116199864614</c:v>
                </c:pt>
                <c:pt idx="258">
                  <c:v>0.80034171723389258</c:v>
                </c:pt>
                <c:pt idx="259">
                  <c:v>0.8009289270518436</c:v>
                </c:pt>
                <c:pt idx="260">
                  <c:v>0.7914495121648214</c:v>
                </c:pt>
                <c:pt idx="261">
                  <c:v>0.79662545146219621</c:v>
                </c:pt>
                <c:pt idx="262">
                  <c:v>0.82432206090110793</c:v>
                </c:pt>
                <c:pt idx="263">
                  <c:v>0.83227185780954804</c:v>
                </c:pt>
                <c:pt idx="264">
                  <c:v>0.83757354777456272</c:v>
                </c:pt>
                <c:pt idx="265">
                  <c:v>0.84725079843086437</c:v>
                </c:pt>
                <c:pt idx="266">
                  <c:v>0.84900473648402464</c:v>
                </c:pt>
                <c:pt idx="267">
                  <c:v>0.86045897450430087</c:v>
                </c:pt>
                <c:pt idx="268">
                  <c:v>0.86787741759205517</c:v>
                </c:pt>
                <c:pt idx="269">
                  <c:v>0.86864080777927655</c:v>
                </c:pt>
                <c:pt idx="270">
                  <c:v>0.85958459416921607</c:v>
                </c:pt>
                <c:pt idx="271">
                  <c:v>0.86989677119728226</c:v>
                </c:pt>
                <c:pt idx="272">
                  <c:v>0.85881328855992234</c:v>
                </c:pt>
                <c:pt idx="273">
                  <c:v>0.87519741572919307</c:v>
                </c:pt>
                <c:pt idx="274">
                  <c:v>0.88060409704735576</c:v>
                </c:pt>
                <c:pt idx="275">
                  <c:v>0.8813669645180251</c:v>
                </c:pt>
                <c:pt idx="276">
                  <c:v>0.88750159086293445</c:v>
                </c:pt>
                <c:pt idx="277">
                  <c:v>0.88390077077542528</c:v>
                </c:pt>
                <c:pt idx="278">
                  <c:v>0.87859181256121233</c:v>
                </c:pt>
                <c:pt idx="279">
                  <c:v>0.88237289518535</c:v>
                </c:pt>
                <c:pt idx="280">
                  <c:v>0.89341306702269152</c:v>
                </c:pt>
                <c:pt idx="281">
                  <c:v>0.89546171764609206</c:v>
                </c:pt>
                <c:pt idx="282">
                  <c:v>0.88920582106113122</c:v>
                </c:pt>
                <c:pt idx="283">
                  <c:v>0.88668231978718393</c:v>
                </c:pt>
                <c:pt idx="284">
                  <c:v>0.88861639592065056</c:v>
                </c:pt>
                <c:pt idx="285">
                  <c:v>0.89696368142994964</c:v>
                </c:pt>
                <c:pt idx="286">
                  <c:v>0.89051741645502269</c:v>
                </c:pt>
                <c:pt idx="287">
                  <c:v>0.89244736063860253</c:v>
                </c:pt>
                <c:pt idx="288">
                  <c:v>0.89137862931125122</c:v>
                </c:pt>
                <c:pt idx="289">
                  <c:v>0.88239589471363578</c:v>
                </c:pt>
                <c:pt idx="290">
                  <c:v>0.87760708925113828</c:v>
                </c:pt>
                <c:pt idx="291">
                  <c:v>0.8820833599981005</c:v>
                </c:pt>
                <c:pt idx="292">
                  <c:v>0.87188787321744032</c:v>
                </c:pt>
                <c:pt idx="293">
                  <c:v>0.8764126570386761</c:v>
                </c:pt>
                <c:pt idx="294">
                  <c:v>0.88052456945766722</c:v>
                </c:pt>
                <c:pt idx="295">
                  <c:v>0.89500190131922985</c:v>
                </c:pt>
                <c:pt idx="296">
                  <c:v>0.89127550480293161</c:v>
                </c:pt>
                <c:pt idx="297">
                  <c:v>0.88807130212202801</c:v>
                </c:pt>
                <c:pt idx="298">
                  <c:v>0.88025659010536939</c:v>
                </c:pt>
                <c:pt idx="299">
                  <c:v>0.87952961583793354</c:v>
                </c:pt>
                <c:pt idx="300">
                  <c:v>0.87236628331879351</c:v>
                </c:pt>
                <c:pt idx="301">
                  <c:v>0.87225081274334215</c:v>
                </c:pt>
                <c:pt idx="302">
                  <c:v>0.8651802499665403</c:v>
                </c:pt>
                <c:pt idx="303">
                  <c:v>0.88340986525935461</c:v>
                </c:pt>
                <c:pt idx="304">
                  <c:v>0.87396081771487411</c:v>
                </c:pt>
                <c:pt idx="305">
                  <c:v>0.88747388688568152</c:v>
                </c:pt>
                <c:pt idx="306">
                  <c:v>0.88856880382315906</c:v>
                </c:pt>
                <c:pt idx="307">
                  <c:v>0.88156442691833947</c:v>
                </c:pt>
                <c:pt idx="308">
                  <c:v>0.87888677404409665</c:v>
                </c:pt>
                <c:pt idx="309">
                  <c:v>0.87274370956056313</c:v>
                </c:pt>
                <c:pt idx="310">
                  <c:v>0.87657621753690651</c:v>
                </c:pt>
                <c:pt idx="311">
                  <c:v>0.87873165168449041</c:v>
                </c:pt>
                <c:pt idx="312">
                  <c:v>0.89216977325825453</c:v>
                </c:pt>
                <c:pt idx="313">
                  <c:v>0.90203761632590185</c:v>
                </c:pt>
                <c:pt idx="314">
                  <c:v>0.89717931445325971</c:v>
                </c:pt>
                <c:pt idx="315">
                  <c:v>0.91049176003317722</c:v>
                </c:pt>
                <c:pt idx="316">
                  <c:v>0.91077325534203268</c:v>
                </c:pt>
                <c:pt idx="317">
                  <c:v>0.90360847912955866</c:v>
                </c:pt>
                <c:pt idx="318">
                  <c:v>0.91215556681802312</c:v>
                </c:pt>
                <c:pt idx="319">
                  <c:v>0.91258272580602084</c:v>
                </c:pt>
                <c:pt idx="320">
                  <c:v>0.91218785078792186</c:v>
                </c:pt>
                <c:pt idx="321">
                  <c:v>0.91028483895239942</c:v>
                </c:pt>
                <c:pt idx="322">
                  <c:v>0.90257116057785269</c:v>
                </c:pt>
                <c:pt idx="323">
                  <c:v>0.90613143279568942</c:v>
                </c:pt>
                <c:pt idx="324">
                  <c:v>0.91549313689346601</c:v>
                </c:pt>
                <c:pt idx="325">
                  <c:v>0.91872718420035937</c:v>
                </c:pt>
                <c:pt idx="326">
                  <c:v>0.9150429783771824</c:v>
                </c:pt>
                <c:pt idx="327">
                  <c:v>0.91710643930288815</c:v>
                </c:pt>
                <c:pt idx="328">
                  <c:v>0.90648800015791009</c:v>
                </c:pt>
                <c:pt idx="329">
                  <c:v>0.89645276333731805</c:v>
                </c:pt>
                <c:pt idx="330">
                  <c:v>0.90497366541565649</c:v>
                </c:pt>
                <c:pt idx="331">
                  <c:v>0.89836864395652405</c:v>
                </c:pt>
                <c:pt idx="332">
                  <c:v>0.89945138906572053</c:v>
                </c:pt>
                <c:pt idx="333">
                  <c:v>0.89466972739609973</c:v>
                </c:pt>
                <c:pt idx="334">
                  <c:v>0.89108852162492069</c:v>
                </c:pt>
                <c:pt idx="335">
                  <c:v>0.89328482722861391</c:v>
                </c:pt>
                <c:pt idx="336">
                  <c:v>0.89998632722847693</c:v>
                </c:pt>
                <c:pt idx="337">
                  <c:v>0.89478957883408172</c:v>
                </c:pt>
                <c:pt idx="338">
                  <c:v>0.89415529963519114</c:v>
                </c:pt>
                <c:pt idx="339">
                  <c:v>0.88964223959947775</c:v>
                </c:pt>
                <c:pt idx="340">
                  <c:v>0.88186690556306568</c:v>
                </c:pt>
                <c:pt idx="341">
                  <c:v>0.88217690136963423</c:v>
                </c:pt>
                <c:pt idx="342">
                  <c:v>0.87769848997393551</c:v>
                </c:pt>
                <c:pt idx="343">
                  <c:v>0.88153236696981974</c:v>
                </c:pt>
                <c:pt idx="344">
                  <c:v>0.88020454247155366</c:v>
                </c:pt>
                <c:pt idx="345">
                  <c:v>0.88254223045691615</c:v>
                </c:pt>
                <c:pt idx="346">
                  <c:v>0.87835024284041963</c:v>
                </c:pt>
                <c:pt idx="347">
                  <c:v>0.87201110986737751</c:v>
                </c:pt>
                <c:pt idx="348">
                  <c:v>0.87010396608196827</c:v>
                </c:pt>
                <c:pt idx="349">
                  <c:v>0.86542201881744729</c:v>
                </c:pt>
                <c:pt idx="350">
                  <c:v>0.86071560344004239</c:v>
                </c:pt>
                <c:pt idx="351">
                  <c:v>0.86628191243666375</c:v>
                </c:pt>
                <c:pt idx="352">
                  <c:v>0.8597735188658483</c:v>
                </c:pt>
                <c:pt idx="353">
                  <c:v>0.86165019574365831</c:v>
                </c:pt>
                <c:pt idx="354">
                  <c:v>0.86576365142104084</c:v>
                </c:pt>
                <c:pt idx="355">
                  <c:v>0.86417135723875416</c:v>
                </c:pt>
                <c:pt idx="356">
                  <c:v>0.86208756015005139</c:v>
                </c:pt>
                <c:pt idx="357">
                  <c:v>0.85770637403301475</c:v>
                </c:pt>
                <c:pt idx="358">
                  <c:v>0.85403434003811884</c:v>
                </c:pt>
                <c:pt idx="359">
                  <c:v>0.84674117468398102</c:v>
                </c:pt>
                <c:pt idx="360">
                  <c:v>0.85621247501881581</c:v>
                </c:pt>
                <c:pt idx="361">
                  <c:v>0.85351291783192007</c:v>
                </c:pt>
                <c:pt idx="362">
                  <c:v>0.86327111487998032</c:v>
                </c:pt>
                <c:pt idx="363">
                  <c:v>0.86432461275353212</c:v>
                </c:pt>
                <c:pt idx="364">
                  <c:v>0.86528175654267503</c:v>
                </c:pt>
                <c:pt idx="365">
                  <c:v>0.87076679556110104</c:v>
                </c:pt>
                <c:pt idx="366">
                  <c:v>0.87158843130696773</c:v>
                </c:pt>
                <c:pt idx="367">
                  <c:v>0.87640424379131587</c:v>
                </c:pt>
                <c:pt idx="368">
                  <c:v>0.88090572938909339</c:v>
                </c:pt>
                <c:pt idx="369">
                  <c:v>0.87490924956148419</c:v>
                </c:pt>
                <c:pt idx="370">
                  <c:v>0.85622910238342054</c:v>
                </c:pt>
                <c:pt idx="371">
                  <c:v>0.85082481062663817</c:v>
                </c:pt>
                <c:pt idx="372">
                  <c:v>0.84612168089613127</c:v>
                </c:pt>
                <c:pt idx="373">
                  <c:v>0.84861615895581344</c:v>
                </c:pt>
                <c:pt idx="374">
                  <c:v>0.84399855560971071</c:v>
                </c:pt>
                <c:pt idx="375">
                  <c:v>0.8386818064297471</c:v>
                </c:pt>
                <c:pt idx="376">
                  <c:v>0.85677832813193022</c:v>
                </c:pt>
                <c:pt idx="377">
                  <c:v>0.85109868920859377</c:v>
                </c:pt>
                <c:pt idx="378">
                  <c:v>0.84241793543041732</c:v>
                </c:pt>
                <c:pt idx="379">
                  <c:v>0.83219474467250387</c:v>
                </c:pt>
                <c:pt idx="380">
                  <c:v>0.83210971611338735</c:v>
                </c:pt>
                <c:pt idx="381">
                  <c:v>0.83173886116541351</c:v>
                </c:pt>
                <c:pt idx="382">
                  <c:v>0.8320992617823485</c:v>
                </c:pt>
                <c:pt idx="383">
                  <c:v>0.82928418423747241</c:v>
                </c:pt>
                <c:pt idx="384">
                  <c:v>0.82784972556260927</c:v>
                </c:pt>
                <c:pt idx="385">
                  <c:v>0.82997190498098361</c:v>
                </c:pt>
                <c:pt idx="386">
                  <c:v>0.82371140351211269</c:v>
                </c:pt>
                <c:pt idx="387">
                  <c:v>0.83185435663212948</c:v>
                </c:pt>
                <c:pt idx="388">
                  <c:v>0.83277060407389869</c:v>
                </c:pt>
                <c:pt idx="389">
                  <c:v>0.83559170530475424</c:v>
                </c:pt>
                <c:pt idx="390">
                  <c:v>0.82955201424218417</c:v>
                </c:pt>
                <c:pt idx="391">
                  <c:v>0.82679694953572458</c:v>
                </c:pt>
                <c:pt idx="392">
                  <c:v>0.8246813663024104</c:v>
                </c:pt>
                <c:pt idx="393">
                  <c:v>0.82817978372826684</c:v>
                </c:pt>
                <c:pt idx="394">
                  <c:v>0.82744116034910198</c:v>
                </c:pt>
                <c:pt idx="395">
                  <c:v>0.82273937474687131</c:v>
                </c:pt>
                <c:pt idx="396">
                  <c:v>0.81805030858073813</c:v>
                </c:pt>
                <c:pt idx="397">
                  <c:v>0.8158562929733677</c:v>
                </c:pt>
                <c:pt idx="398">
                  <c:v>0.82674649494282915</c:v>
                </c:pt>
                <c:pt idx="399">
                  <c:v>0.8127025199940946</c:v>
                </c:pt>
                <c:pt idx="400">
                  <c:v>0.81479766749935389</c:v>
                </c:pt>
                <c:pt idx="401">
                  <c:v>0.80950496328078003</c:v>
                </c:pt>
                <c:pt idx="402">
                  <c:v>0.81089710680619986</c:v>
                </c:pt>
                <c:pt idx="403">
                  <c:v>0.80432280116731036</c:v>
                </c:pt>
                <c:pt idx="404">
                  <c:v>0.79476602423060017</c:v>
                </c:pt>
                <c:pt idx="405">
                  <c:v>0.79546387571871313</c:v>
                </c:pt>
                <c:pt idx="406">
                  <c:v>0.79306801684849826</c:v>
                </c:pt>
                <c:pt idx="407">
                  <c:v>0.78966906491509792</c:v>
                </c:pt>
                <c:pt idx="408">
                  <c:v>0.7863765231369152</c:v>
                </c:pt>
                <c:pt idx="409">
                  <c:v>0.78930453234827602</c:v>
                </c:pt>
                <c:pt idx="410">
                  <c:v>0.79553369571529431</c:v>
                </c:pt>
                <c:pt idx="411">
                  <c:v>0.79678174371122767</c:v>
                </c:pt>
                <c:pt idx="412">
                  <c:v>0.79969755620304317</c:v>
                </c:pt>
                <c:pt idx="413">
                  <c:v>0.83433253091364301</c:v>
                </c:pt>
                <c:pt idx="414">
                  <c:v>0.8466845719487841</c:v>
                </c:pt>
                <c:pt idx="415">
                  <c:v>0.88247507382562285</c:v>
                </c:pt>
                <c:pt idx="416">
                  <c:v>0.92189400020216639</c:v>
                </c:pt>
                <c:pt idx="417">
                  <c:v>1.0000947859347524</c:v>
                </c:pt>
                <c:pt idx="418">
                  <c:v>1.0593961573413655</c:v>
                </c:pt>
                <c:pt idx="419">
                  <c:v>0.98469441131624535</c:v>
                </c:pt>
                <c:pt idx="420">
                  <c:v>0.9950999554769947</c:v>
                </c:pt>
                <c:pt idx="421">
                  <c:v>0.96756501480022061</c:v>
                </c:pt>
                <c:pt idx="422">
                  <c:v>0.98602820971796201</c:v>
                </c:pt>
                <c:pt idx="423">
                  <c:v>0.95980588497691899</c:v>
                </c:pt>
                <c:pt idx="424">
                  <c:v>0.95373094788398904</c:v>
                </c:pt>
                <c:pt idx="425">
                  <c:v>0.94293627858721185</c:v>
                </c:pt>
                <c:pt idx="426">
                  <c:v>0.97704037241114905</c:v>
                </c:pt>
                <c:pt idx="427">
                  <c:v>0.97952038864622737</c:v>
                </c:pt>
                <c:pt idx="428">
                  <c:v>0.98514036320884868</c:v>
                </c:pt>
                <c:pt idx="429">
                  <c:v>0.98898193160542591</c:v>
                </c:pt>
                <c:pt idx="430">
                  <c:v>0.97793630858118563</c:v>
                </c:pt>
                <c:pt idx="431">
                  <c:v>0.98480321103284318</c:v>
                </c:pt>
                <c:pt idx="432">
                  <c:v>0.98672877435389239</c:v>
                </c:pt>
                <c:pt idx="433">
                  <c:v>0.97689475851453533</c:v>
                </c:pt>
                <c:pt idx="434">
                  <c:v>0.96813295877954264</c:v>
                </c:pt>
                <c:pt idx="435">
                  <c:v>0.96852895390453875</c:v>
                </c:pt>
                <c:pt idx="436">
                  <c:v>0.96827523724672959</c:v>
                </c:pt>
                <c:pt idx="437">
                  <c:v>0.98190111362769994</c:v>
                </c:pt>
                <c:pt idx="438">
                  <c:v>1.0067452339513749</c:v>
                </c:pt>
                <c:pt idx="439">
                  <c:v>1.0016949457565822</c:v>
                </c:pt>
                <c:pt idx="440">
                  <c:v>1.031915952554959</c:v>
                </c:pt>
                <c:pt idx="441">
                  <c:v>1.0215491889841108</c:v>
                </c:pt>
                <c:pt idx="442">
                  <c:v>1.0282907888108876</c:v>
                </c:pt>
                <c:pt idx="443">
                  <c:v>1.0169930919522872</c:v>
                </c:pt>
                <c:pt idx="444">
                  <c:v>1.0232525230967895</c:v>
                </c:pt>
                <c:pt idx="445">
                  <c:v>1.0055122700616546</c:v>
                </c:pt>
                <c:pt idx="446">
                  <c:v>0.98789216715967432</c:v>
                </c:pt>
                <c:pt idx="447">
                  <c:v>0.98329967909932936</c:v>
                </c:pt>
                <c:pt idx="448">
                  <c:v>0.98989850263363144</c:v>
                </c:pt>
                <c:pt idx="449">
                  <c:v>0.99210922027939974</c:v>
                </c:pt>
                <c:pt idx="450">
                  <c:v>0.99298668713126748</c:v>
                </c:pt>
                <c:pt idx="451">
                  <c:v>0.96222133327219928</c:v>
                </c:pt>
                <c:pt idx="452">
                  <c:v>0.95783847944044931</c:v>
                </c:pt>
                <c:pt idx="453">
                  <c:v>0.95587052629616354</c:v>
                </c:pt>
                <c:pt idx="454">
                  <c:v>0.97251282565956709</c:v>
                </c:pt>
                <c:pt idx="455">
                  <c:v>0.96392678314235036</c:v>
                </c:pt>
                <c:pt idx="456">
                  <c:v>0.97488707891230153</c:v>
                </c:pt>
                <c:pt idx="457">
                  <c:v>0.98261551780662448</c:v>
                </c:pt>
                <c:pt idx="458">
                  <c:v>0.98367568653902959</c:v>
                </c:pt>
                <c:pt idx="459">
                  <c:v>0.97836528463148253</c:v>
                </c:pt>
                <c:pt idx="460">
                  <c:v>0.97613286180317627</c:v>
                </c:pt>
                <c:pt idx="461">
                  <c:v>0.9889649059805905</c:v>
                </c:pt>
                <c:pt idx="462">
                  <c:v>0.98732962458472229</c:v>
                </c:pt>
                <c:pt idx="463">
                  <c:v>0.99456454438021469</c:v>
                </c:pt>
                <c:pt idx="464">
                  <c:v>0.99287042003535586</c:v>
                </c:pt>
                <c:pt idx="465">
                  <c:v>1.0027457802648454</c:v>
                </c:pt>
                <c:pt idx="466">
                  <c:v>0.97901843140877209</c:v>
                </c:pt>
                <c:pt idx="467">
                  <c:v>0.97370683472053488</c:v>
                </c:pt>
                <c:pt idx="468">
                  <c:v>0.97624370260345339</c:v>
                </c:pt>
                <c:pt idx="469">
                  <c:v>0.98118626140601639</c:v>
                </c:pt>
                <c:pt idx="470">
                  <c:v>0.98207575073857878</c:v>
                </c:pt>
                <c:pt idx="471">
                  <c:v>0.97766516803831116</c:v>
                </c:pt>
                <c:pt idx="472">
                  <c:v>0.97911575625249159</c:v>
                </c:pt>
                <c:pt idx="473">
                  <c:v>0.99159036187343186</c:v>
                </c:pt>
                <c:pt idx="474">
                  <c:v>0.99207347642375243</c:v>
                </c:pt>
                <c:pt idx="475">
                  <c:v>0.99253421372739681</c:v>
                </c:pt>
                <c:pt idx="476">
                  <c:v>0.99092887652257566</c:v>
                </c:pt>
                <c:pt idx="477">
                  <c:v>0.99541532779666864</c:v>
                </c:pt>
                <c:pt idx="478">
                  <c:v>0.97944907517378277</c:v>
                </c:pt>
                <c:pt idx="479">
                  <c:v>0.95094466953199863</c:v>
                </c:pt>
                <c:pt idx="480">
                  <c:v>0.93968625108858728</c:v>
                </c:pt>
                <c:pt idx="481">
                  <c:v>0.93814421236908052</c:v>
                </c:pt>
                <c:pt idx="482">
                  <c:v>0.94489865608827639</c:v>
                </c:pt>
                <c:pt idx="483">
                  <c:v>0.94318359819007536</c:v>
                </c:pt>
                <c:pt idx="484">
                  <c:v>0.9408592519224197</c:v>
                </c:pt>
                <c:pt idx="485">
                  <c:v>0.92906161401877885</c:v>
                </c:pt>
                <c:pt idx="486">
                  <c:v>0.92658055235059678</c:v>
                </c:pt>
                <c:pt idx="487">
                  <c:v>0.95098058762649673</c:v>
                </c:pt>
                <c:pt idx="488">
                  <c:v>0.9448788675330958</c:v>
                </c:pt>
                <c:pt idx="489">
                  <c:v>0.94596352926964944</c:v>
                </c:pt>
                <c:pt idx="490">
                  <c:v>0.94894035025045631</c:v>
                </c:pt>
                <c:pt idx="491">
                  <c:v>0.95325487756148741</c:v>
                </c:pt>
                <c:pt idx="492">
                  <c:v>0.9539862078001895</c:v>
                </c:pt>
                <c:pt idx="493">
                  <c:v>0.94512544039802826</c:v>
                </c:pt>
                <c:pt idx="494">
                  <c:v>0.94679995042655685</c:v>
                </c:pt>
                <c:pt idx="495">
                  <c:v>0.95404823683102047</c:v>
                </c:pt>
                <c:pt idx="496">
                  <c:v>0.9501195241178545</c:v>
                </c:pt>
                <c:pt idx="497">
                  <c:v>0.94464459095276621</c:v>
                </c:pt>
                <c:pt idx="498">
                  <c:v>0.95652932339046692</c:v>
                </c:pt>
                <c:pt idx="499">
                  <c:v>0.9689429454136802</c:v>
                </c:pt>
                <c:pt idx="500">
                  <c:v>0.97102360620307138</c:v>
                </c:pt>
                <c:pt idx="501">
                  <c:v>0.96656144880301187</c:v>
                </c:pt>
                <c:pt idx="502">
                  <c:v>0.97570313901494776</c:v>
                </c:pt>
                <c:pt idx="503">
                  <c:v>0.97203867196442295</c:v>
                </c:pt>
                <c:pt idx="504">
                  <c:v>0.98046901962295274</c:v>
                </c:pt>
                <c:pt idx="505">
                  <c:v>0.98255734692177243</c:v>
                </c:pt>
                <c:pt idx="506">
                  <c:v>0.97394113619212919</c:v>
                </c:pt>
                <c:pt idx="507">
                  <c:v>0.98075569231479887</c:v>
                </c:pt>
                <c:pt idx="508">
                  <c:v>0.977951865621422</c:v>
                </c:pt>
                <c:pt idx="509">
                  <c:v>0.99028501418689974</c:v>
                </c:pt>
                <c:pt idx="510">
                  <c:v>0.98811272865333166</c:v>
                </c:pt>
                <c:pt idx="511">
                  <c:v>0.97714404452728509</c:v>
                </c:pt>
                <c:pt idx="512">
                  <c:v>0.98567945821275604</c:v>
                </c:pt>
                <c:pt idx="513">
                  <c:v>0.98771421951063332</c:v>
                </c:pt>
                <c:pt idx="514">
                  <c:v>0.96828230636581303</c:v>
                </c:pt>
                <c:pt idx="515">
                  <c:v>0.96789029384311753</c:v>
                </c:pt>
                <c:pt idx="516">
                  <c:v>0.96708058101288785</c:v>
                </c:pt>
                <c:pt idx="517">
                  <c:v>0.97139916560001283</c:v>
                </c:pt>
                <c:pt idx="518">
                  <c:v>0.98475738621512232</c:v>
                </c:pt>
                <c:pt idx="519">
                  <c:v>0.98171502653520704</c:v>
                </c:pt>
                <c:pt idx="520">
                  <c:v>0.97792844294164194</c:v>
                </c:pt>
                <c:pt idx="521">
                  <c:v>0.98106820213906987</c:v>
                </c:pt>
                <c:pt idx="522">
                  <c:v>0.97753757541710762</c:v>
                </c:pt>
                <c:pt idx="523">
                  <c:v>0.97364154493407051</c:v>
                </c:pt>
                <c:pt idx="524">
                  <c:v>0.99728262066780826</c:v>
                </c:pt>
                <c:pt idx="525">
                  <c:v>0.99485096815941731</c:v>
                </c:pt>
                <c:pt idx="526">
                  <c:v>0.99757290259298936</c:v>
                </c:pt>
                <c:pt idx="527">
                  <c:v>0.99818151889830575</c:v>
                </c:pt>
                <c:pt idx="528">
                  <c:v>0.98942571795802825</c:v>
                </c:pt>
                <c:pt idx="529">
                  <c:v>0.97441723140589476</c:v>
                </c:pt>
                <c:pt idx="530">
                  <c:v>0.97943356791607528</c:v>
                </c:pt>
                <c:pt idx="531">
                  <c:v>0.97879796948017272</c:v>
                </c:pt>
                <c:pt idx="532">
                  <c:v>0.9755774132385725</c:v>
                </c:pt>
                <c:pt idx="533">
                  <c:v>0.97882699269443796</c:v>
                </c:pt>
                <c:pt idx="534">
                  <c:v>0.97453436969605967</c:v>
                </c:pt>
                <c:pt idx="535">
                  <c:v>0.96759951409264899</c:v>
                </c:pt>
                <c:pt idx="536">
                  <c:v>0.96769372752832128</c:v>
                </c:pt>
                <c:pt idx="537">
                  <c:v>0.96687273895532833</c:v>
                </c:pt>
                <c:pt idx="538">
                  <c:v>0.96117702027520358</c:v>
                </c:pt>
                <c:pt idx="539">
                  <c:v>0.8934571494519048</c:v>
                </c:pt>
                <c:pt idx="540">
                  <c:v>0.90872007450851444</c:v>
                </c:pt>
                <c:pt idx="541">
                  <c:v>0.91768971630106677</c:v>
                </c:pt>
                <c:pt idx="542">
                  <c:v>0.9297173743788284</c:v>
                </c:pt>
                <c:pt idx="543">
                  <c:v>0.93355102735333328</c:v>
                </c:pt>
                <c:pt idx="544">
                  <c:v>0.93569802336229269</c:v>
                </c:pt>
                <c:pt idx="545">
                  <c:v>0.93621889796067537</c:v>
                </c:pt>
                <c:pt idx="546">
                  <c:v>0.93910270028650022</c:v>
                </c:pt>
                <c:pt idx="547">
                  <c:v>0.93895377585172413</c:v>
                </c:pt>
                <c:pt idx="548">
                  <c:v>0.93902867366623877</c:v>
                </c:pt>
                <c:pt idx="549">
                  <c:v>0.94210463655306487</c:v>
                </c:pt>
                <c:pt idx="550">
                  <c:v>0.94187354605457574</c:v>
                </c:pt>
                <c:pt idx="551">
                  <c:v>0.94260290988339168</c:v>
                </c:pt>
                <c:pt idx="552">
                  <c:v>0.94197440545783684</c:v>
                </c:pt>
                <c:pt idx="553">
                  <c:v>0.94263061386064473</c:v>
                </c:pt>
                <c:pt idx="554">
                  <c:v>0.94129273329156982</c:v>
                </c:pt>
                <c:pt idx="555">
                  <c:v>0.93966432188466997</c:v>
                </c:pt>
                <c:pt idx="556">
                  <c:v>0.9385426717292501</c:v>
                </c:pt>
                <c:pt idx="557">
                  <c:v>0.94799435774775476</c:v>
                </c:pt>
                <c:pt idx="558">
                  <c:v>0.95374040656445269</c:v>
                </c:pt>
                <c:pt idx="559">
                  <c:v>0.95903460425888931</c:v>
                </c:pt>
                <c:pt idx="560">
                  <c:v>0.95735700771357779</c:v>
                </c:pt>
                <c:pt idx="561">
                  <c:v>0.96842192146771133</c:v>
                </c:pt>
                <c:pt idx="562">
                  <c:v>0.96982795431865454</c:v>
                </c:pt>
                <c:pt idx="563">
                  <c:v>0.98151502522592637</c:v>
                </c:pt>
                <c:pt idx="564">
                  <c:v>0.97255128266303181</c:v>
                </c:pt>
                <c:pt idx="565">
                  <c:v>0.96804252881605579</c:v>
                </c:pt>
                <c:pt idx="566">
                  <c:v>0.96507048695800957</c:v>
                </c:pt>
                <c:pt idx="567">
                  <c:v>0.97030392507609864</c:v>
                </c:pt>
                <c:pt idx="568">
                  <c:v>0.97483667410193553</c:v>
                </c:pt>
                <c:pt idx="569">
                  <c:v>0.97421050945523224</c:v>
                </c:pt>
                <c:pt idx="570">
                  <c:v>0.96634711012544949</c:v>
                </c:pt>
                <c:pt idx="571">
                  <c:v>0.96082936398563024</c:v>
                </c:pt>
                <c:pt idx="572">
                  <c:v>0.95567443291539089</c:v>
                </c:pt>
                <c:pt idx="573">
                  <c:v>0.95488779428724002</c:v>
                </c:pt>
                <c:pt idx="574">
                  <c:v>0.9604791687870905</c:v>
                </c:pt>
                <c:pt idx="575">
                  <c:v>0.95588237453800806</c:v>
                </c:pt>
                <c:pt idx="576">
                  <c:v>0.95881466504684187</c:v>
                </c:pt>
                <c:pt idx="577">
                  <c:v>0.96297902335987828</c:v>
                </c:pt>
                <c:pt idx="578">
                  <c:v>0.96517264070701847</c:v>
                </c:pt>
                <c:pt idx="579">
                  <c:v>0.96428362430847936</c:v>
                </c:pt>
                <c:pt idx="580">
                  <c:v>0.96708682872024687</c:v>
                </c:pt>
                <c:pt idx="581">
                  <c:v>0.96216316238734723</c:v>
                </c:pt>
                <c:pt idx="582">
                  <c:v>0.96942145508009081</c:v>
                </c:pt>
                <c:pt idx="583">
                  <c:v>0.96881759300627068</c:v>
                </c:pt>
                <c:pt idx="584">
                  <c:v>0.96184380746537224</c:v>
                </c:pt>
                <c:pt idx="585">
                  <c:v>0.96423657981880417</c:v>
                </c:pt>
                <c:pt idx="586">
                  <c:v>0.96338616977131597</c:v>
                </c:pt>
                <c:pt idx="587">
                  <c:v>0.96452922641410133</c:v>
                </c:pt>
                <c:pt idx="588">
                  <c:v>0.95659399089532238</c:v>
                </c:pt>
                <c:pt idx="589">
                  <c:v>0.95747840240995163</c:v>
                </c:pt>
                <c:pt idx="590">
                  <c:v>0.96028048671482225</c:v>
                </c:pt>
                <c:pt idx="591">
                  <c:v>0.9717634741454555</c:v>
                </c:pt>
                <c:pt idx="592">
                  <c:v>0.98571054740196495</c:v>
                </c:pt>
                <c:pt idx="593">
                  <c:v>0.98221414616852309</c:v>
                </c:pt>
                <c:pt idx="594">
                  <c:v>0.97617510227882687</c:v>
                </c:pt>
                <c:pt idx="595">
                  <c:v>0.97973985492425175</c:v>
                </c:pt>
                <c:pt idx="596">
                  <c:v>0.98140331323139629</c:v>
                </c:pt>
                <c:pt idx="597">
                  <c:v>0.98163303471034458</c:v>
                </c:pt>
                <c:pt idx="598">
                  <c:v>0.98770219702993856</c:v>
                </c:pt>
                <c:pt idx="599">
                  <c:v>0.99122077637994155</c:v>
                </c:pt>
                <c:pt idx="600">
                  <c:v>0.9869820927514712</c:v>
                </c:pt>
                <c:pt idx="601">
                  <c:v>0.99526543260258205</c:v>
                </c:pt>
                <c:pt idx="602">
                  <c:v>0.99351007574735239</c:v>
                </c:pt>
                <c:pt idx="603">
                  <c:v>0.99814575015139384</c:v>
                </c:pt>
                <c:pt idx="604">
                  <c:v>0.99933622465281979</c:v>
                </c:pt>
                <c:pt idx="605">
                  <c:v>1.0000483139441574</c:v>
                </c:pt>
                <c:pt idx="606">
                  <c:v>1.0003959453424662</c:v>
                </c:pt>
                <c:pt idx="607">
                  <c:v>0.99744321910557754</c:v>
                </c:pt>
                <c:pt idx="608">
                  <c:v>1.0042358211330655</c:v>
                </c:pt>
                <c:pt idx="609">
                  <c:v>1.0102240619521654</c:v>
                </c:pt>
                <c:pt idx="610">
                  <c:v>1.0169592896152613</c:v>
                </c:pt>
                <c:pt idx="611">
                  <c:v>1.0252607751981042</c:v>
                </c:pt>
                <c:pt idx="612">
                  <c:v>1.0254624691133625</c:v>
                </c:pt>
                <c:pt idx="613">
                  <c:v>1.0327477190454279</c:v>
                </c:pt>
                <c:pt idx="614">
                  <c:v>1.0273031532228813</c:v>
                </c:pt>
                <c:pt idx="615">
                  <c:v>1.0294589358481665</c:v>
                </c:pt>
                <c:pt idx="616">
                  <c:v>1.0334914451337904</c:v>
                </c:pt>
                <c:pt idx="617">
                  <c:v>1.0332956006656611</c:v>
                </c:pt>
                <c:pt idx="618">
                  <c:v>1.0144661805751201</c:v>
                </c:pt>
                <c:pt idx="619">
                  <c:v>1.0093229981816672</c:v>
                </c:pt>
                <c:pt idx="620">
                  <c:v>1.013249271550924</c:v>
                </c:pt>
                <c:pt idx="621">
                  <c:v>1.0214005881357717</c:v>
                </c:pt>
                <c:pt idx="622">
                  <c:v>1.0238984762986738</c:v>
                </c:pt>
                <c:pt idx="623">
                  <c:v>1.0241923923484542</c:v>
                </c:pt>
                <c:pt idx="624">
                  <c:v>1.021778163725128</c:v>
                </c:pt>
                <c:pt idx="625">
                  <c:v>1.0261450124738827</c:v>
                </c:pt>
                <c:pt idx="626">
                  <c:v>1.0314504859110829</c:v>
                </c:pt>
                <c:pt idx="627">
                  <c:v>1.0396029723853564</c:v>
                </c:pt>
                <c:pt idx="628">
                  <c:v>1.0387903970597234</c:v>
                </c:pt>
                <c:pt idx="629">
                  <c:v>1.0460188700177417</c:v>
                </c:pt>
                <c:pt idx="630">
                  <c:v>1.0552433734662647</c:v>
                </c:pt>
                <c:pt idx="631">
                  <c:v>1.0512512129201981</c:v>
                </c:pt>
                <c:pt idx="632">
                  <c:v>1.063204421226204</c:v>
                </c:pt>
                <c:pt idx="633">
                  <c:v>1.0673550146700392</c:v>
                </c:pt>
                <c:pt idx="634">
                  <c:v>1.0897389819876098</c:v>
                </c:pt>
                <c:pt idx="635">
                  <c:v>1.1124457890041686</c:v>
                </c:pt>
                <c:pt idx="636">
                  <c:v>1.1083060730428669</c:v>
                </c:pt>
                <c:pt idx="637">
                  <c:v>1.0917623679776662</c:v>
                </c:pt>
                <c:pt idx="638">
                  <c:v>1.1110917788957766</c:v>
                </c:pt>
                <c:pt idx="639">
                  <c:v>1.1193001960411086</c:v>
                </c:pt>
                <c:pt idx="640">
                  <c:v>1.1260088896163771</c:v>
                </c:pt>
                <c:pt idx="641">
                  <c:v>1.117730478235613</c:v>
                </c:pt>
                <c:pt idx="642">
                  <c:v>1.1101079765624846</c:v>
                </c:pt>
                <c:pt idx="643">
                  <c:v>1.086555588403727</c:v>
                </c:pt>
                <c:pt idx="644">
                  <c:v>1.1102312629949507</c:v>
                </c:pt>
                <c:pt idx="645">
                  <c:v>1.1120354814021554</c:v>
                </c:pt>
                <c:pt idx="646">
                  <c:v>1.1042408068533212</c:v>
                </c:pt>
                <c:pt idx="647">
                  <c:v>1.1065075298439409</c:v>
                </c:pt>
                <c:pt idx="648">
                  <c:v>1.1320632914161946</c:v>
                </c:pt>
                <c:pt idx="649">
                  <c:v>1.1255824773663103</c:v>
                </c:pt>
                <c:pt idx="650">
                  <c:v>1.1283348787074816</c:v>
                </c:pt>
                <c:pt idx="651">
                  <c:v>1.1259156967225441</c:v>
                </c:pt>
                <c:pt idx="652">
                  <c:v>1.1328071668521431</c:v>
                </c:pt>
                <c:pt idx="653">
                  <c:v>1.1196362032189524</c:v>
                </c:pt>
                <c:pt idx="654">
                  <c:v>1.1205846848480916</c:v>
                </c:pt>
                <c:pt idx="655">
                  <c:v>1.1257343140790186</c:v>
                </c:pt>
                <c:pt idx="656">
                  <c:v>1.1250299161883741</c:v>
                </c:pt>
                <c:pt idx="657">
                  <c:v>1.1365527545332772</c:v>
                </c:pt>
                <c:pt idx="658">
                  <c:v>1.1433771178141121</c:v>
                </c:pt>
                <c:pt idx="659">
                  <c:v>1.1325646512633043</c:v>
                </c:pt>
                <c:pt idx="660">
                  <c:v>1.1499895568700294</c:v>
                </c:pt>
                <c:pt idx="661">
                  <c:v>1.1551272880765835</c:v>
                </c:pt>
                <c:pt idx="662">
                  <c:v>1.1722496154735245</c:v>
                </c:pt>
                <c:pt idx="663">
                  <c:v>1.1491883817434816</c:v>
                </c:pt>
                <c:pt idx="664">
                  <c:v>1.1434993339222101</c:v>
                </c:pt>
                <c:pt idx="665">
                  <c:v>1.129830520110187</c:v>
                </c:pt>
                <c:pt idx="666">
                  <c:v>1.1465632992196058</c:v>
                </c:pt>
                <c:pt idx="667">
                  <c:v>1.1495835803480174</c:v>
                </c:pt>
                <c:pt idx="668">
                  <c:v>1.1236500440562927</c:v>
                </c:pt>
                <c:pt idx="669">
                  <c:v>1.1296203631650401</c:v>
                </c:pt>
                <c:pt idx="670">
                  <c:v>1.1469574772823026</c:v>
                </c:pt>
                <c:pt idx="671">
                  <c:v>1.1431487404634404</c:v>
                </c:pt>
                <c:pt idx="672">
                  <c:v>1.1465774374577731</c:v>
                </c:pt>
                <c:pt idx="673">
                  <c:v>1.1601030518258273</c:v>
                </c:pt>
                <c:pt idx="674">
                  <c:v>1.1738766578608837</c:v>
                </c:pt>
                <c:pt idx="675">
                  <c:v>1.1678914039935093</c:v>
                </c:pt>
                <c:pt idx="676">
                  <c:v>1.181796859055978</c:v>
                </c:pt>
                <c:pt idx="677">
                  <c:v>1.1723563989977079</c:v>
                </c:pt>
                <c:pt idx="678">
                  <c:v>1.1551208412391094</c:v>
                </c:pt>
                <c:pt idx="679">
                  <c:v>1.1582907935402285</c:v>
                </c:pt>
                <c:pt idx="680">
                  <c:v>1.1496525789328744</c:v>
                </c:pt>
                <c:pt idx="681">
                  <c:v>1.1517827733383785</c:v>
                </c:pt>
                <c:pt idx="682">
                  <c:v>1.1682473988566491</c:v>
                </c:pt>
                <c:pt idx="683">
                  <c:v>1.1646110838261363</c:v>
                </c:pt>
                <c:pt idx="684">
                  <c:v>1.1686574824372835</c:v>
                </c:pt>
                <c:pt idx="685">
                  <c:v>1.1579828139260748</c:v>
                </c:pt>
                <c:pt idx="686">
                  <c:v>1.1564252181663317</c:v>
                </c:pt>
                <c:pt idx="687">
                  <c:v>1.170405620825844</c:v>
                </c:pt>
                <c:pt idx="688">
                  <c:v>1.152002513420312</c:v>
                </c:pt>
                <c:pt idx="689">
                  <c:v>1.1445134040329874</c:v>
                </c:pt>
                <c:pt idx="690">
                  <c:v>1.137080947163388</c:v>
                </c:pt>
                <c:pt idx="691">
                  <c:v>1.1420839419558617</c:v>
                </c:pt>
                <c:pt idx="692">
                  <c:v>1.1362733500906306</c:v>
                </c:pt>
                <c:pt idx="693">
                  <c:v>1.1085592420928607</c:v>
                </c:pt>
                <c:pt idx="694">
                  <c:v>1.1071753375759501</c:v>
                </c:pt>
                <c:pt idx="695">
                  <c:v>1.1177185055374477</c:v>
                </c:pt>
                <c:pt idx="696">
                  <c:v>1.1244941068313652</c:v>
                </c:pt>
                <c:pt idx="697">
                  <c:v>1.1239408238067619</c:v>
                </c:pt>
                <c:pt idx="698">
                  <c:v>1.1267433063718624</c:v>
                </c:pt>
                <c:pt idx="699">
                  <c:v>1.13914512993576</c:v>
                </c:pt>
                <c:pt idx="700">
                  <c:v>1.1336314908545633</c:v>
                </c:pt>
                <c:pt idx="701">
                  <c:v>1.1278352861401428</c:v>
                </c:pt>
                <c:pt idx="702">
                  <c:v>1.1316978627638552</c:v>
                </c:pt>
                <c:pt idx="703">
                  <c:v>1.1411491754133942</c:v>
                </c:pt>
                <c:pt idx="704">
                  <c:v>1.1504131315159569</c:v>
                </c:pt>
                <c:pt idx="705">
                  <c:v>1.1445558934212807</c:v>
                </c:pt>
                <c:pt idx="706">
                  <c:v>1.1429638730429021</c:v>
                </c:pt>
                <c:pt idx="707">
                  <c:v>1.1330963535616918</c:v>
                </c:pt>
                <c:pt idx="708">
                  <c:v>1.1402563755426696</c:v>
                </c:pt>
                <c:pt idx="709">
                  <c:v>1.1330651896986901</c:v>
                </c:pt>
                <c:pt idx="710">
                  <c:v>1.1194981811579747</c:v>
                </c:pt>
                <c:pt idx="711">
                  <c:v>1.1399887944506018</c:v>
                </c:pt>
                <c:pt idx="712">
                  <c:v>1.1332476426665838</c:v>
                </c:pt>
                <c:pt idx="713">
                  <c:v>1.1370772881475237</c:v>
                </c:pt>
                <c:pt idx="714">
                  <c:v>1.1478913975217804</c:v>
                </c:pt>
                <c:pt idx="715">
                  <c:v>1.1501591410542396</c:v>
                </c:pt>
                <c:pt idx="716">
                  <c:v>1.1534757775763407</c:v>
                </c:pt>
                <c:pt idx="717">
                  <c:v>1.1555858349489627</c:v>
                </c:pt>
                <c:pt idx="718">
                  <c:v>1.1592459211369568</c:v>
                </c:pt>
                <c:pt idx="719">
                  <c:v>1.1547983749090873</c:v>
                </c:pt>
                <c:pt idx="720">
                  <c:v>1.1577628498227626</c:v>
                </c:pt>
                <c:pt idx="721">
                  <c:v>1.1524504815053298</c:v>
                </c:pt>
                <c:pt idx="722">
                  <c:v>1.1743065548879632</c:v>
                </c:pt>
                <c:pt idx="723">
                  <c:v>1.1924642593179884</c:v>
                </c:pt>
                <c:pt idx="724">
                  <c:v>1.1889725127509854</c:v>
                </c:pt>
                <c:pt idx="725">
                  <c:v>1.1792618829091521</c:v>
                </c:pt>
                <c:pt idx="726">
                  <c:v>1.1845558814734738</c:v>
                </c:pt>
                <c:pt idx="727">
                  <c:v>1.1922705306073311</c:v>
                </c:pt>
                <c:pt idx="728">
                  <c:v>1.1850811618256512</c:v>
                </c:pt>
                <c:pt idx="729">
                  <c:v>1.1803264822866164</c:v>
                </c:pt>
              </c:numCache>
            </c:numRef>
          </c:val>
          <c:smooth val="0"/>
          <c:extLst>
            <c:ext xmlns:c16="http://schemas.microsoft.com/office/drawing/2014/chart" uri="{C3380CC4-5D6E-409C-BE32-E72D297353CC}">
              <c16:uniqueId val="{00000001-83BF-45A9-8FF8-3D99A3E70A66}"/>
            </c:ext>
          </c:extLst>
        </c:ser>
        <c:ser>
          <c:idx val="4"/>
          <c:order val="1"/>
          <c:tx>
            <c:strRef>
              <c:f>'3.file'!$H$2</c:f>
              <c:strCache>
                <c:ptCount val="1"/>
                <c:pt idx="0">
                  <c:v>沪深300ETF增强</c:v>
                </c:pt>
              </c:strCache>
            </c:strRef>
          </c:tx>
          <c:spPr>
            <a:ln w="28575" cap="rnd">
              <a:solidFill>
                <a:srgbClr val="C00000"/>
              </a:solidFill>
              <a:prstDash val="solid"/>
              <a:round/>
            </a:ln>
          </c:spPr>
          <c:marker>
            <c:symbol val="none"/>
          </c:marker>
          <c:cat>
            <c:numRef>
              <c:f>[0]!日期</c:f>
              <c:numCache>
                <c:formatCode>yyyy\-mm\-dd</c:formatCode>
                <c:ptCount val="730"/>
                <c:pt idx="0">
                  <c:v>44936</c:v>
                </c:pt>
                <c:pt idx="1">
                  <c:v>44937</c:v>
                </c:pt>
                <c:pt idx="2">
                  <c:v>44938</c:v>
                </c:pt>
                <c:pt idx="3">
                  <c:v>44939</c:v>
                </c:pt>
                <c:pt idx="4">
                  <c:v>44942</c:v>
                </c:pt>
                <c:pt idx="5">
                  <c:v>44943</c:v>
                </c:pt>
                <c:pt idx="6">
                  <c:v>44944</c:v>
                </c:pt>
                <c:pt idx="7">
                  <c:v>44945</c:v>
                </c:pt>
                <c:pt idx="8">
                  <c:v>44946</c:v>
                </c:pt>
                <c:pt idx="9">
                  <c:v>44956</c:v>
                </c:pt>
                <c:pt idx="10">
                  <c:v>44957</c:v>
                </c:pt>
                <c:pt idx="11">
                  <c:v>44958</c:v>
                </c:pt>
                <c:pt idx="12">
                  <c:v>44959</c:v>
                </c:pt>
                <c:pt idx="13">
                  <c:v>44960</c:v>
                </c:pt>
                <c:pt idx="14">
                  <c:v>44963</c:v>
                </c:pt>
                <c:pt idx="15">
                  <c:v>44964</c:v>
                </c:pt>
                <c:pt idx="16">
                  <c:v>44965</c:v>
                </c:pt>
                <c:pt idx="17">
                  <c:v>44966</c:v>
                </c:pt>
                <c:pt idx="18">
                  <c:v>44967</c:v>
                </c:pt>
                <c:pt idx="19">
                  <c:v>44970</c:v>
                </c:pt>
                <c:pt idx="20">
                  <c:v>44971</c:v>
                </c:pt>
                <c:pt idx="21">
                  <c:v>44972</c:v>
                </c:pt>
                <c:pt idx="22">
                  <c:v>44973</c:v>
                </c:pt>
                <c:pt idx="23">
                  <c:v>44974</c:v>
                </c:pt>
                <c:pt idx="24">
                  <c:v>44977</c:v>
                </c:pt>
                <c:pt idx="25">
                  <c:v>44978</c:v>
                </c:pt>
                <c:pt idx="26">
                  <c:v>44979</c:v>
                </c:pt>
                <c:pt idx="27">
                  <c:v>44980</c:v>
                </c:pt>
                <c:pt idx="28">
                  <c:v>44981</c:v>
                </c:pt>
                <c:pt idx="29">
                  <c:v>44984</c:v>
                </c:pt>
                <c:pt idx="30">
                  <c:v>44985</c:v>
                </c:pt>
                <c:pt idx="31">
                  <c:v>44986</c:v>
                </c:pt>
                <c:pt idx="32">
                  <c:v>44987</c:v>
                </c:pt>
                <c:pt idx="33">
                  <c:v>44988</c:v>
                </c:pt>
                <c:pt idx="34">
                  <c:v>44991</c:v>
                </c:pt>
                <c:pt idx="35">
                  <c:v>44992</c:v>
                </c:pt>
                <c:pt idx="36">
                  <c:v>44993</c:v>
                </c:pt>
                <c:pt idx="37">
                  <c:v>44994</c:v>
                </c:pt>
                <c:pt idx="38">
                  <c:v>44995</c:v>
                </c:pt>
                <c:pt idx="39">
                  <c:v>44998</c:v>
                </c:pt>
                <c:pt idx="40">
                  <c:v>44999</c:v>
                </c:pt>
                <c:pt idx="41">
                  <c:v>45000</c:v>
                </c:pt>
                <c:pt idx="42">
                  <c:v>45001</c:v>
                </c:pt>
                <c:pt idx="43">
                  <c:v>45002</c:v>
                </c:pt>
                <c:pt idx="44">
                  <c:v>45005</c:v>
                </c:pt>
                <c:pt idx="45">
                  <c:v>45006</c:v>
                </c:pt>
                <c:pt idx="46">
                  <c:v>45007</c:v>
                </c:pt>
                <c:pt idx="47">
                  <c:v>45008</c:v>
                </c:pt>
                <c:pt idx="48">
                  <c:v>45009</c:v>
                </c:pt>
                <c:pt idx="49">
                  <c:v>45012</c:v>
                </c:pt>
                <c:pt idx="50">
                  <c:v>45013</c:v>
                </c:pt>
                <c:pt idx="51">
                  <c:v>45014</c:v>
                </c:pt>
                <c:pt idx="52">
                  <c:v>45015</c:v>
                </c:pt>
                <c:pt idx="53">
                  <c:v>45016</c:v>
                </c:pt>
                <c:pt idx="54">
                  <c:v>45019</c:v>
                </c:pt>
                <c:pt idx="55">
                  <c:v>45020</c:v>
                </c:pt>
                <c:pt idx="56">
                  <c:v>45022</c:v>
                </c:pt>
                <c:pt idx="57">
                  <c:v>45023</c:v>
                </c:pt>
                <c:pt idx="58">
                  <c:v>45026</c:v>
                </c:pt>
                <c:pt idx="59">
                  <c:v>45027</c:v>
                </c:pt>
                <c:pt idx="60">
                  <c:v>45028</c:v>
                </c:pt>
                <c:pt idx="61">
                  <c:v>45029</c:v>
                </c:pt>
                <c:pt idx="62">
                  <c:v>45030</c:v>
                </c:pt>
                <c:pt idx="63">
                  <c:v>45033</c:v>
                </c:pt>
                <c:pt idx="64">
                  <c:v>45034</c:v>
                </c:pt>
                <c:pt idx="65">
                  <c:v>45035</c:v>
                </c:pt>
                <c:pt idx="66">
                  <c:v>45036</c:v>
                </c:pt>
                <c:pt idx="67">
                  <c:v>45037</c:v>
                </c:pt>
                <c:pt idx="68">
                  <c:v>45040</c:v>
                </c:pt>
                <c:pt idx="69">
                  <c:v>45041</c:v>
                </c:pt>
                <c:pt idx="70">
                  <c:v>45042</c:v>
                </c:pt>
                <c:pt idx="71">
                  <c:v>45043</c:v>
                </c:pt>
                <c:pt idx="72">
                  <c:v>45044</c:v>
                </c:pt>
                <c:pt idx="73">
                  <c:v>45050</c:v>
                </c:pt>
                <c:pt idx="74">
                  <c:v>45051</c:v>
                </c:pt>
                <c:pt idx="75">
                  <c:v>45054</c:v>
                </c:pt>
                <c:pt idx="76">
                  <c:v>45055</c:v>
                </c:pt>
                <c:pt idx="77">
                  <c:v>45056</c:v>
                </c:pt>
                <c:pt idx="78">
                  <c:v>45057</c:v>
                </c:pt>
                <c:pt idx="79">
                  <c:v>45058</c:v>
                </c:pt>
                <c:pt idx="80">
                  <c:v>45061</c:v>
                </c:pt>
                <c:pt idx="81">
                  <c:v>45062</c:v>
                </c:pt>
                <c:pt idx="82">
                  <c:v>45063</c:v>
                </c:pt>
                <c:pt idx="83">
                  <c:v>45064</c:v>
                </c:pt>
                <c:pt idx="84">
                  <c:v>45065</c:v>
                </c:pt>
                <c:pt idx="85">
                  <c:v>45068</c:v>
                </c:pt>
                <c:pt idx="86">
                  <c:v>45069</c:v>
                </c:pt>
                <c:pt idx="87">
                  <c:v>45070</c:v>
                </c:pt>
                <c:pt idx="88">
                  <c:v>45071</c:v>
                </c:pt>
                <c:pt idx="89">
                  <c:v>45072</c:v>
                </c:pt>
                <c:pt idx="90">
                  <c:v>45075</c:v>
                </c:pt>
                <c:pt idx="91">
                  <c:v>45076</c:v>
                </c:pt>
                <c:pt idx="92">
                  <c:v>45077</c:v>
                </c:pt>
                <c:pt idx="93">
                  <c:v>45078</c:v>
                </c:pt>
                <c:pt idx="94">
                  <c:v>45079</c:v>
                </c:pt>
                <c:pt idx="95">
                  <c:v>45082</c:v>
                </c:pt>
                <c:pt idx="96">
                  <c:v>45083</c:v>
                </c:pt>
                <c:pt idx="97">
                  <c:v>45084</c:v>
                </c:pt>
                <c:pt idx="98">
                  <c:v>45085</c:v>
                </c:pt>
                <c:pt idx="99">
                  <c:v>45086</c:v>
                </c:pt>
                <c:pt idx="100">
                  <c:v>45089</c:v>
                </c:pt>
                <c:pt idx="101">
                  <c:v>45090</c:v>
                </c:pt>
                <c:pt idx="102">
                  <c:v>45091</c:v>
                </c:pt>
                <c:pt idx="103">
                  <c:v>45092</c:v>
                </c:pt>
                <c:pt idx="104">
                  <c:v>45093</c:v>
                </c:pt>
                <c:pt idx="105">
                  <c:v>45096</c:v>
                </c:pt>
                <c:pt idx="106">
                  <c:v>45097</c:v>
                </c:pt>
                <c:pt idx="107">
                  <c:v>45098</c:v>
                </c:pt>
                <c:pt idx="108">
                  <c:v>45103</c:v>
                </c:pt>
                <c:pt idx="109">
                  <c:v>45104</c:v>
                </c:pt>
                <c:pt idx="110">
                  <c:v>45105</c:v>
                </c:pt>
                <c:pt idx="111">
                  <c:v>45106</c:v>
                </c:pt>
                <c:pt idx="112">
                  <c:v>45107</c:v>
                </c:pt>
                <c:pt idx="113">
                  <c:v>45110</c:v>
                </c:pt>
                <c:pt idx="114">
                  <c:v>45111</c:v>
                </c:pt>
                <c:pt idx="115">
                  <c:v>45112</c:v>
                </c:pt>
                <c:pt idx="116">
                  <c:v>45113</c:v>
                </c:pt>
                <c:pt idx="117">
                  <c:v>45114</c:v>
                </c:pt>
                <c:pt idx="118">
                  <c:v>45117</c:v>
                </c:pt>
                <c:pt idx="119">
                  <c:v>45118</c:v>
                </c:pt>
                <c:pt idx="120">
                  <c:v>45119</c:v>
                </c:pt>
                <c:pt idx="121">
                  <c:v>45120</c:v>
                </c:pt>
                <c:pt idx="122">
                  <c:v>45121</c:v>
                </c:pt>
                <c:pt idx="123">
                  <c:v>45124</c:v>
                </c:pt>
                <c:pt idx="124">
                  <c:v>45125</c:v>
                </c:pt>
                <c:pt idx="125">
                  <c:v>45126</c:v>
                </c:pt>
                <c:pt idx="126">
                  <c:v>45127</c:v>
                </c:pt>
                <c:pt idx="127">
                  <c:v>45128</c:v>
                </c:pt>
                <c:pt idx="128">
                  <c:v>45131</c:v>
                </c:pt>
                <c:pt idx="129">
                  <c:v>45132</c:v>
                </c:pt>
                <c:pt idx="130">
                  <c:v>45133</c:v>
                </c:pt>
                <c:pt idx="131">
                  <c:v>45134</c:v>
                </c:pt>
                <c:pt idx="132">
                  <c:v>45135</c:v>
                </c:pt>
                <c:pt idx="133">
                  <c:v>45138</c:v>
                </c:pt>
                <c:pt idx="134">
                  <c:v>45139</c:v>
                </c:pt>
                <c:pt idx="135">
                  <c:v>45140</c:v>
                </c:pt>
                <c:pt idx="136">
                  <c:v>45141</c:v>
                </c:pt>
                <c:pt idx="137">
                  <c:v>45142</c:v>
                </c:pt>
                <c:pt idx="138">
                  <c:v>45145</c:v>
                </c:pt>
                <c:pt idx="139">
                  <c:v>45146</c:v>
                </c:pt>
                <c:pt idx="140">
                  <c:v>45147</c:v>
                </c:pt>
                <c:pt idx="141">
                  <c:v>45148</c:v>
                </c:pt>
                <c:pt idx="142">
                  <c:v>45149</c:v>
                </c:pt>
                <c:pt idx="143">
                  <c:v>45152</c:v>
                </c:pt>
                <c:pt idx="144">
                  <c:v>45153</c:v>
                </c:pt>
                <c:pt idx="145">
                  <c:v>45154</c:v>
                </c:pt>
                <c:pt idx="146">
                  <c:v>45155</c:v>
                </c:pt>
                <c:pt idx="147">
                  <c:v>45156</c:v>
                </c:pt>
                <c:pt idx="148">
                  <c:v>45159</c:v>
                </c:pt>
                <c:pt idx="149">
                  <c:v>45160</c:v>
                </c:pt>
                <c:pt idx="150">
                  <c:v>45161</c:v>
                </c:pt>
                <c:pt idx="151">
                  <c:v>45162</c:v>
                </c:pt>
                <c:pt idx="152">
                  <c:v>45163</c:v>
                </c:pt>
                <c:pt idx="153">
                  <c:v>45166</c:v>
                </c:pt>
                <c:pt idx="154">
                  <c:v>45167</c:v>
                </c:pt>
                <c:pt idx="155">
                  <c:v>45168</c:v>
                </c:pt>
                <c:pt idx="156">
                  <c:v>45169</c:v>
                </c:pt>
                <c:pt idx="157">
                  <c:v>45170</c:v>
                </c:pt>
                <c:pt idx="158">
                  <c:v>45173</c:v>
                </c:pt>
                <c:pt idx="159">
                  <c:v>45174</c:v>
                </c:pt>
                <c:pt idx="160">
                  <c:v>45175</c:v>
                </c:pt>
                <c:pt idx="161">
                  <c:v>45176</c:v>
                </c:pt>
                <c:pt idx="162">
                  <c:v>45177</c:v>
                </c:pt>
                <c:pt idx="163">
                  <c:v>45180</c:v>
                </c:pt>
                <c:pt idx="164">
                  <c:v>45181</c:v>
                </c:pt>
                <c:pt idx="165">
                  <c:v>45182</c:v>
                </c:pt>
                <c:pt idx="166">
                  <c:v>45183</c:v>
                </c:pt>
                <c:pt idx="167">
                  <c:v>45184</c:v>
                </c:pt>
                <c:pt idx="168">
                  <c:v>45187</c:v>
                </c:pt>
                <c:pt idx="169">
                  <c:v>45188</c:v>
                </c:pt>
                <c:pt idx="170">
                  <c:v>45189</c:v>
                </c:pt>
                <c:pt idx="171">
                  <c:v>45190</c:v>
                </c:pt>
                <c:pt idx="172">
                  <c:v>45191</c:v>
                </c:pt>
                <c:pt idx="173">
                  <c:v>45194</c:v>
                </c:pt>
                <c:pt idx="174">
                  <c:v>45195</c:v>
                </c:pt>
                <c:pt idx="175">
                  <c:v>45196</c:v>
                </c:pt>
                <c:pt idx="176">
                  <c:v>45197</c:v>
                </c:pt>
                <c:pt idx="177">
                  <c:v>45208</c:v>
                </c:pt>
                <c:pt idx="178">
                  <c:v>45209</c:v>
                </c:pt>
                <c:pt idx="179">
                  <c:v>45210</c:v>
                </c:pt>
                <c:pt idx="180">
                  <c:v>45211</c:v>
                </c:pt>
                <c:pt idx="181">
                  <c:v>45212</c:v>
                </c:pt>
                <c:pt idx="182">
                  <c:v>45215</c:v>
                </c:pt>
                <c:pt idx="183">
                  <c:v>45216</c:v>
                </c:pt>
                <c:pt idx="184">
                  <c:v>45217</c:v>
                </c:pt>
                <c:pt idx="185">
                  <c:v>45218</c:v>
                </c:pt>
                <c:pt idx="186">
                  <c:v>45219</c:v>
                </c:pt>
                <c:pt idx="187">
                  <c:v>45222</c:v>
                </c:pt>
                <c:pt idx="188">
                  <c:v>45223</c:v>
                </c:pt>
                <c:pt idx="189">
                  <c:v>45224</c:v>
                </c:pt>
                <c:pt idx="190">
                  <c:v>45225</c:v>
                </c:pt>
                <c:pt idx="191">
                  <c:v>45226</c:v>
                </c:pt>
                <c:pt idx="192">
                  <c:v>45229</c:v>
                </c:pt>
                <c:pt idx="193">
                  <c:v>45230</c:v>
                </c:pt>
                <c:pt idx="194">
                  <c:v>45231</c:v>
                </c:pt>
                <c:pt idx="195">
                  <c:v>45232</c:v>
                </c:pt>
                <c:pt idx="196">
                  <c:v>45233</c:v>
                </c:pt>
                <c:pt idx="197">
                  <c:v>45236</c:v>
                </c:pt>
                <c:pt idx="198">
                  <c:v>45237</c:v>
                </c:pt>
                <c:pt idx="199">
                  <c:v>45238</c:v>
                </c:pt>
                <c:pt idx="200">
                  <c:v>45239</c:v>
                </c:pt>
                <c:pt idx="201">
                  <c:v>45240</c:v>
                </c:pt>
                <c:pt idx="202">
                  <c:v>45243</c:v>
                </c:pt>
                <c:pt idx="203">
                  <c:v>45244</c:v>
                </c:pt>
                <c:pt idx="204">
                  <c:v>45245</c:v>
                </c:pt>
                <c:pt idx="205">
                  <c:v>45246</c:v>
                </c:pt>
                <c:pt idx="206">
                  <c:v>45247</c:v>
                </c:pt>
                <c:pt idx="207">
                  <c:v>45250</c:v>
                </c:pt>
                <c:pt idx="208">
                  <c:v>45251</c:v>
                </c:pt>
                <c:pt idx="209">
                  <c:v>45252</c:v>
                </c:pt>
                <c:pt idx="210">
                  <c:v>45253</c:v>
                </c:pt>
                <c:pt idx="211">
                  <c:v>45254</c:v>
                </c:pt>
                <c:pt idx="212">
                  <c:v>45257</c:v>
                </c:pt>
                <c:pt idx="213">
                  <c:v>45258</c:v>
                </c:pt>
                <c:pt idx="214">
                  <c:v>45259</c:v>
                </c:pt>
                <c:pt idx="215">
                  <c:v>45260</c:v>
                </c:pt>
                <c:pt idx="216">
                  <c:v>45261</c:v>
                </c:pt>
                <c:pt idx="217">
                  <c:v>45264</c:v>
                </c:pt>
                <c:pt idx="218">
                  <c:v>45265</c:v>
                </c:pt>
                <c:pt idx="219">
                  <c:v>45266</c:v>
                </c:pt>
                <c:pt idx="220">
                  <c:v>45267</c:v>
                </c:pt>
                <c:pt idx="221">
                  <c:v>45268</c:v>
                </c:pt>
                <c:pt idx="222">
                  <c:v>45271</c:v>
                </c:pt>
                <c:pt idx="223">
                  <c:v>45272</c:v>
                </c:pt>
                <c:pt idx="224">
                  <c:v>45273</c:v>
                </c:pt>
                <c:pt idx="225">
                  <c:v>45274</c:v>
                </c:pt>
                <c:pt idx="226">
                  <c:v>45275</c:v>
                </c:pt>
                <c:pt idx="227">
                  <c:v>45278</c:v>
                </c:pt>
                <c:pt idx="228">
                  <c:v>45279</c:v>
                </c:pt>
                <c:pt idx="229">
                  <c:v>45280</c:v>
                </c:pt>
                <c:pt idx="230">
                  <c:v>45281</c:v>
                </c:pt>
                <c:pt idx="231">
                  <c:v>45282</c:v>
                </c:pt>
                <c:pt idx="232">
                  <c:v>45285</c:v>
                </c:pt>
                <c:pt idx="233">
                  <c:v>45286</c:v>
                </c:pt>
                <c:pt idx="234">
                  <c:v>45287</c:v>
                </c:pt>
                <c:pt idx="235">
                  <c:v>45288</c:v>
                </c:pt>
                <c:pt idx="236">
                  <c:v>45289</c:v>
                </c:pt>
                <c:pt idx="237">
                  <c:v>45293</c:v>
                </c:pt>
                <c:pt idx="238">
                  <c:v>45294</c:v>
                </c:pt>
                <c:pt idx="239">
                  <c:v>45295</c:v>
                </c:pt>
                <c:pt idx="240">
                  <c:v>45296</c:v>
                </c:pt>
                <c:pt idx="241">
                  <c:v>45299</c:v>
                </c:pt>
                <c:pt idx="242">
                  <c:v>45300</c:v>
                </c:pt>
                <c:pt idx="243">
                  <c:v>45301</c:v>
                </c:pt>
                <c:pt idx="244">
                  <c:v>45302</c:v>
                </c:pt>
                <c:pt idx="245">
                  <c:v>45303</c:v>
                </c:pt>
                <c:pt idx="246">
                  <c:v>45306</c:v>
                </c:pt>
                <c:pt idx="247">
                  <c:v>45307</c:v>
                </c:pt>
                <c:pt idx="248">
                  <c:v>45308</c:v>
                </c:pt>
                <c:pt idx="249">
                  <c:v>45309</c:v>
                </c:pt>
                <c:pt idx="250">
                  <c:v>45310</c:v>
                </c:pt>
                <c:pt idx="251">
                  <c:v>45313</c:v>
                </c:pt>
                <c:pt idx="252">
                  <c:v>45314</c:v>
                </c:pt>
                <c:pt idx="253">
                  <c:v>45315</c:v>
                </c:pt>
                <c:pt idx="254">
                  <c:v>45316</c:v>
                </c:pt>
                <c:pt idx="255">
                  <c:v>45317</c:v>
                </c:pt>
                <c:pt idx="256">
                  <c:v>45320</c:v>
                </c:pt>
                <c:pt idx="257">
                  <c:v>45321</c:v>
                </c:pt>
                <c:pt idx="258">
                  <c:v>45322</c:v>
                </c:pt>
                <c:pt idx="259">
                  <c:v>45323</c:v>
                </c:pt>
                <c:pt idx="260">
                  <c:v>45324</c:v>
                </c:pt>
                <c:pt idx="261">
                  <c:v>45327</c:v>
                </c:pt>
                <c:pt idx="262">
                  <c:v>45328</c:v>
                </c:pt>
                <c:pt idx="263">
                  <c:v>45329</c:v>
                </c:pt>
                <c:pt idx="264">
                  <c:v>45330</c:v>
                </c:pt>
                <c:pt idx="265">
                  <c:v>45341</c:v>
                </c:pt>
                <c:pt idx="266">
                  <c:v>45342</c:v>
                </c:pt>
                <c:pt idx="267">
                  <c:v>45343</c:v>
                </c:pt>
                <c:pt idx="268">
                  <c:v>45344</c:v>
                </c:pt>
                <c:pt idx="269">
                  <c:v>45345</c:v>
                </c:pt>
                <c:pt idx="270">
                  <c:v>45348</c:v>
                </c:pt>
                <c:pt idx="271">
                  <c:v>45349</c:v>
                </c:pt>
                <c:pt idx="272">
                  <c:v>45350</c:v>
                </c:pt>
                <c:pt idx="273">
                  <c:v>45351</c:v>
                </c:pt>
                <c:pt idx="274">
                  <c:v>45352</c:v>
                </c:pt>
                <c:pt idx="275">
                  <c:v>45355</c:v>
                </c:pt>
                <c:pt idx="276">
                  <c:v>45356</c:v>
                </c:pt>
                <c:pt idx="277">
                  <c:v>45357</c:v>
                </c:pt>
                <c:pt idx="278">
                  <c:v>45358</c:v>
                </c:pt>
                <c:pt idx="279">
                  <c:v>45359</c:v>
                </c:pt>
                <c:pt idx="280">
                  <c:v>45362</c:v>
                </c:pt>
                <c:pt idx="281">
                  <c:v>45363</c:v>
                </c:pt>
                <c:pt idx="282">
                  <c:v>45364</c:v>
                </c:pt>
                <c:pt idx="283">
                  <c:v>45365</c:v>
                </c:pt>
                <c:pt idx="284">
                  <c:v>45366</c:v>
                </c:pt>
                <c:pt idx="285">
                  <c:v>45369</c:v>
                </c:pt>
                <c:pt idx="286">
                  <c:v>45370</c:v>
                </c:pt>
                <c:pt idx="287">
                  <c:v>45371</c:v>
                </c:pt>
                <c:pt idx="288">
                  <c:v>45372</c:v>
                </c:pt>
                <c:pt idx="289">
                  <c:v>45373</c:v>
                </c:pt>
                <c:pt idx="290">
                  <c:v>45376</c:v>
                </c:pt>
                <c:pt idx="291">
                  <c:v>45377</c:v>
                </c:pt>
                <c:pt idx="292">
                  <c:v>45378</c:v>
                </c:pt>
                <c:pt idx="293">
                  <c:v>45379</c:v>
                </c:pt>
                <c:pt idx="294">
                  <c:v>45380</c:v>
                </c:pt>
                <c:pt idx="295">
                  <c:v>45383</c:v>
                </c:pt>
                <c:pt idx="296">
                  <c:v>45384</c:v>
                </c:pt>
                <c:pt idx="297">
                  <c:v>45385</c:v>
                </c:pt>
                <c:pt idx="298">
                  <c:v>45390</c:v>
                </c:pt>
                <c:pt idx="299">
                  <c:v>45391</c:v>
                </c:pt>
                <c:pt idx="300">
                  <c:v>45392</c:v>
                </c:pt>
                <c:pt idx="301">
                  <c:v>45393</c:v>
                </c:pt>
                <c:pt idx="302">
                  <c:v>45394</c:v>
                </c:pt>
                <c:pt idx="303">
                  <c:v>45397</c:v>
                </c:pt>
                <c:pt idx="304">
                  <c:v>45398</c:v>
                </c:pt>
                <c:pt idx="305">
                  <c:v>45399</c:v>
                </c:pt>
                <c:pt idx="306">
                  <c:v>45400</c:v>
                </c:pt>
                <c:pt idx="307">
                  <c:v>45401</c:v>
                </c:pt>
                <c:pt idx="308">
                  <c:v>45404</c:v>
                </c:pt>
                <c:pt idx="309">
                  <c:v>45405</c:v>
                </c:pt>
                <c:pt idx="310">
                  <c:v>45406</c:v>
                </c:pt>
                <c:pt idx="311">
                  <c:v>45407</c:v>
                </c:pt>
                <c:pt idx="312">
                  <c:v>45408</c:v>
                </c:pt>
                <c:pt idx="313">
                  <c:v>45411</c:v>
                </c:pt>
                <c:pt idx="314">
                  <c:v>45412</c:v>
                </c:pt>
                <c:pt idx="315">
                  <c:v>45418</c:v>
                </c:pt>
                <c:pt idx="316">
                  <c:v>45419</c:v>
                </c:pt>
                <c:pt idx="317">
                  <c:v>45420</c:v>
                </c:pt>
                <c:pt idx="318">
                  <c:v>45421</c:v>
                </c:pt>
                <c:pt idx="319">
                  <c:v>45422</c:v>
                </c:pt>
                <c:pt idx="320">
                  <c:v>45425</c:v>
                </c:pt>
                <c:pt idx="321">
                  <c:v>45426</c:v>
                </c:pt>
                <c:pt idx="322">
                  <c:v>45427</c:v>
                </c:pt>
                <c:pt idx="323">
                  <c:v>45428</c:v>
                </c:pt>
                <c:pt idx="324">
                  <c:v>45429</c:v>
                </c:pt>
                <c:pt idx="325">
                  <c:v>45432</c:v>
                </c:pt>
                <c:pt idx="326">
                  <c:v>45433</c:v>
                </c:pt>
                <c:pt idx="327">
                  <c:v>45434</c:v>
                </c:pt>
                <c:pt idx="328">
                  <c:v>45435</c:v>
                </c:pt>
                <c:pt idx="329">
                  <c:v>45436</c:v>
                </c:pt>
                <c:pt idx="330">
                  <c:v>45439</c:v>
                </c:pt>
                <c:pt idx="331">
                  <c:v>45440</c:v>
                </c:pt>
                <c:pt idx="332">
                  <c:v>45441</c:v>
                </c:pt>
                <c:pt idx="333">
                  <c:v>45442</c:v>
                </c:pt>
                <c:pt idx="334">
                  <c:v>45443</c:v>
                </c:pt>
                <c:pt idx="335">
                  <c:v>45446</c:v>
                </c:pt>
                <c:pt idx="336">
                  <c:v>45447</c:v>
                </c:pt>
                <c:pt idx="337">
                  <c:v>45448</c:v>
                </c:pt>
                <c:pt idx="338">
                  <c:v>45449</c:v>
                </c:pt>
                <c:pt idx="339">
                  <c:v>45450</c:v>
                </c:pt>
                <c:pt idx="340">
                  <c:v>45454</c:v>
                </c:pt>
                <c:pt idx="341">
                  <c:v>45455</c:v>
                </c:pt>
                <c:pt idx="342">
                  <c:v>45456</c:v>
                </c:pt>
                <c:pt idx="343">
                  <c:v>45457</c:v>
                </c:pt>
                <c:pt idx="344">
                  <c:v>45460</c:v>
                </c:pt>
                <c:pt idx="345">
                  <c:v>45461</c:v>
                </c:pt>
                <c:pt idx="346">
                  <c:v>45462</c:v>
                </c:pt>
                <c:pt idx="347">
                  <c:v>45463</c:v>
                </c:pt>
                <c:pt idx="348">
                  <c:v>45464</c:v>
                </c:pt>
                <c:pt idx="349">
                  <c:v>45467</c:v>
                </c:pt>
                <c:pt idx="350">
                  <c:v>45468</c:v>
                </c:pt>
                <c:pt idx="351">
                  <c:v>45469</c:v>
                </c:pt>
                <c:pt idx="352">
                  <c:v>45470</c:v>
                </c:pt>
                <c:pt idx="353">
                  <c:v>45471</c:v>
                </c:pt>
                <c:pt idx="354">
                  <c:v>45474</c:v>
                </c:pt>
                <c:pt idx="355">
                  <c:v>45475</c:v>
                </c:pt>
                <c:pt idx="356">
                  <c:v>45476</c:v>
                </c:pt>
                <c:pt idx="357">
                  <c:v>45477</c:v>
                </c:pt>
                <c:pt idx="358">
                  <c:v>45478</c:v>
                </c:pt>
                <c:pt idx="359">
                  <c:v>45481</c:v>
                </c:pt>
                <c:pt idx="360">
                  <c:v>45482</c:v>
                </c:pt>
                <c:pt idx="361">
                  <c:v>45483</c:v>
                </c:pt>
                <c:pt idx="362">
                  <c:v>45484</c:v>
                </c:pt>
                <c:pt idx="363">
                  <c:v>45485</c:v>
                </c:pt>
                <c:pt idx="364">
                  <c:v>45488</c:v>
                </c:pt>
                <c:pt idx="365">
                  <c:v>45489</c:v>
                </c:pt>
                <c:pt idx="366">
                  <c:v>45490</c:v>
                </c:pt>
                <c:pt idx="367">
                  <c:v>45491</c:v>
                </c:pt>
                <c:pt idx="368">
                  <c:v>45492</c:v>
                </c:pt>
                <c:pt idx="369">
                  <c:v>45495</c:v>
                </c:pt>
                <c:pt idx="370">
                  <c:v>45496</c:v>
                </c:pt>
                <c:pt idx="371">
                  <c:v>45497</c:v>
                </c:pt>
                <c:pt idx="372">
                  <c:v>45498</c:v>
                </c:pt>
                <c:pt idx="373">
                  <c:v>45499</c:v>
                </c:pt>
                <c:pt idx="374">
                  <c:v>45502</c:v>
                </c:pt>
                <c:pt idx="375">
                  <c:v>45503</c:v>
                </c:pt>
                <c:pt idx="376">
                  <c:v>45504</c:v>
                </c:pt>
                <c:pt idx="377">
                  <c:v>45505</c:v>
                </c:pt>
                <c:pt idx="378">
                  <c:v>45506</c:v>
                </c:pt>
                <c:pt idx="379">
                  <c:v>45509</c:v>
                </c:pt>
                <c:pt idx="380">
                  <c:v>45510</c:v>
                </c:pt>
                <c:pt idx="381">
                  <c:v>45511</c:v>
                </c:pt>
                <c:pt idx="382">
                  <c:v>45512</c:v>
                </c:pt>
                <c:pt idx="383">
                  <c:v>45513</c:v>
                </c:pt>
                <c:pt idx="384">
                  <c:v>45516</c:v>
                </c:pt>
                <c:pt idx="385">
                  <c:v>45517</c:v>
                </c:pt>
                <c:pt idx="386">
                  <c:v>45518</c:v>
                </c:pt>
                <c:pt idx="387">
                  <c:v>45519</c:v>
                </c:pt>
                <c:pt idx="388">
                  <c:v>45520</c:v>
                </c:pt>
                <c:pt idx="389">
                  <c:v>45523</c:v>
                </c:pt>
                <c:pt idx="390">
                  <c:v>45524</c:v>
                </c:pt>
                <c:pt idx="391">
                  <c:v>45525</c:v>
                </c:pt>
                <c:pt idx="392">
                  <c:v>45526</c:v>
                </c:pt>
                <c:pt idx="393">
                  <c:v>45527</c:v>
                </c:pt>
                <c:pt idx="394">
                  <c:v>45530</c:v>
                </c:pt>
                <c:pt idx="395">
                  <c:v>45531</c:v>
                </c:pt>
                <c:pt idx="396">
                  <c:v>45532</c:v>
                </c:pt>
                <c:pt idx="397">
                  <c:v>45533</c:v>
                </c:pt>
                <c:pt idx="398">
                  <c:v>45534</c:v>
                </c:pt>
                <c:pt idx="399">
                  <c:v>45537</c:v>
                </c:pt>
                <c:pt idx="400">
                  <c:v>45538</c:v>
                </c:pt>
                <c:pt idx="401">
                  <c:v>45539</c:v>
                </c:pt>
                <c:pt idx="402">
                  <c:v>45540</c:v>
                </c:pt>
                <c:pt idx="403">
                  <c:v>45541</c:v>
                </c:pt>
                <c:pt idx="404">
                  <c:v>45544</c:v>
                </c:pt>
                <c:pt idx="405">
                  <c:v>45545</c:v>
                </c:pt>
                <c:pt idx="406">
                  <c:v>45546</c:v>
                </c:pt>
                <c:pt idx="407">
                  <c:v>45547</c:v>
                </c:pt>
                <c:pt idx="408">
                  <c:v>45548</c:v>
                </c:pt>
                <c:pt idx="409">
                  <c:v>45553</c:v>
                </c:pt>
                <c:pt idx="410">
                  <c:v>45554</c:v>
                </c:pt>
                <c:pt idx="411">
                  <c:v>45555</c:v>
                </c:pt>
                <c:pt idx="412">
                  <c:v>45558</c:v>
                </c:pt>
                <c:pt idx="413">
                  <c:v>45559</c:v>
                </c:pt>
                <c:pt idx="414">
                  <c:v>45560</c:v>
                </c:pt>
                <c:pt idx="415">
                  <c:v>45561</c:v>
                </c:pt>
                <c:pt idx="416">
                  <c:v>45562</c:v>
                </c:pt>
                <c:pt idx="417">
                  <c:v>45565</c:v>
                </c:pt>
                <c:pt idx="418">
                  <c:v>45573</c:v>
                </c:pt>
                <c:pt idx="419">
                  <c:v>45574</c:v>
                </c:pt>
                <c:pt idx="420">
                  <c:v>45575</c:v>
                </c:pt>
                <c:pt idx="421">
                  <c:v>45576</c:v>
                </c:pt>
                <c:pt idx="422">
                  <c:v>45579</c:v>
                </c:pt>
                <c:pt idx="423">
                  <c:v>45580</c:v>
                </c:pt>
                <c:pt idx="424">
                  <c:v>45581</c:v>
                </c:pt>
                <c:pt idx="425">
                  <c:v>45582</c:v>
                </c:pt>
                <c:pt idx="426">
                  <c:v>45583</c:v>
                </c:pt>
                <c:pt idx="427">
                  <c:v>45586</c:v>
                </c:pt>
                <c:pt idx="428">
                  <c:v>45587</c:v>
                </c:pt>
                <c:pt idx="429">
                  <c:v>45588</c:v>
                </c:pt>
                <c:pt idx="430">
                  <c:v>45589</c:v>
                </c:pt>
                <c:pt idx="431">
                  <c:v>45590</c:v>
                </c:pt>
                <c:pt idx="432">
                  <c:v>45593</c:v>
                </c:pt>
                <c:pt idx="433">
                  <c:v>45594</c:v>
                </c:pt>
                <c:pt idx="434">
                  <c:v>45595</c:v>
                </c:pt>
                <c:pt idx="435">
                  <c:v>45596</c:v>
                </c:pt>
                <c:pt idx="436">
                  <c:v>45597</c:v>
                </c:pt>
                <c:pt idx="437">
                  <c:v>45600</c:v>
                </c:pt>
                <c:pt idx="438">
                  <c:v>45601</c:v>
                </c:pt>
                <c:pt idx="439">
                  <c:v>45602</c:v>
                </c:pt>
                <c:pt idx="440">
                  <c:v>45603</c:v>
                </c:pt>
                <c:pt idx="441">
                  <c:v>45604</c:v>
                </c:pt>
                <c:pt idx="442">
                  <c:v>45607</c:v>
                </c:pt>
                <c:pt idx="443">
                  <c:v>45608</c:v>
                </c:pt>
                <c:pt idx="444">
                  <c:v>45609</c:v>
                </c:pt>
                <c:pt idx="445">
                  <c:v>45610</c:v>
                </c:pt>
                <c:pt idx="446">
                  <c:v>45611</c:v>
                </c:pt>
                <c:pt idx="447">
                  <c:v>45614</c:v>
                </c:pt>
                <c:pt idx="448">
                  <c:v>45615</c:v>
                </c:pt>
                <c:pt idx="449">
                  <c:v>45616</c:v>
                </c:pt>
                <c:pt idx="450">
                  <c:v>45617</c:v>
                </c:pt>
                <c:pt idx="451">
                  <c:v>45618</c:v>
                </c:pt>
                <c:pt idx="452">
                  <c:v>45621</c:v>
                </c:pt>
                <c:pt idx="453">
                  <c:v>45622</c:v>
                </c:pt>
                <c:pt idx="454">
                  <c:v>45623</c:v>
                </c:pt>
                <c:pt idx="455">
                  <c:v>45624</c:v>
                </c:pt>
                <c:pt idx="456">
                  <c:v>45625</c:v>
                </c:pt>
                <c:pt idx="457">
                  <c:v>45628</c:v>
                </c:pt>
                <c:pt idx="458">
                  <c:v>45629</c:v>
                </c:pt>
                <c:pt idx="459">
                  <c:v>45630</c:v>
                </c:pt>
                <c:pt idx="460">
                  <c:v>45631</c:v>
                </c:pt>
                <c:pt idx="461">
                  <c:v>45632</c:v>
                </c:pt>
                <c:pt idx="462">
                  <c:v>45635</c:v>
                </c:pt>
                <c:pt idx="463">
                  <c:v>45636</c:v>
                </c:pt>
                <c:pt idx="464">
                  <c:v>45637</c:v>
                </c:pt>
                <c:pt idx="465">
                  <c:v>45638</c:v>
                </c:pt>
                <c:pt idx="466">
                  <c:v>45639</c:v>
                </c:pt>
                <c:pt idx="467">
                  <c:v>45642</c:v>
                </c:pt>
                <c:pt idx="468">
                  <c:v>45643</c:v>
                </c:pt>
                <c:pt idx="469">
                  <c:v>45644</c:v>
                </c:pt>
                <c:pt idx="470">
                  <c:v>45645</c:v>
                </c:pt>
                <c:pt idx="471">
                  <c:v>45646</c:v>
                </c:pt>
                <c:pt idx="472">
                  <c:v>45649</c:v>
                </c:pt>
                <c:pt idx="473">
                  <c:v>45650</c:v>
                </c:pt>
                <c:pt idx="474">
                  <c:v>45651</c:v>
                </c:pt>
                <c:pt idx="475">
                  <c:v>45652</c:v>
                </c:pt>
                <c:pt idx="476">
                  <c:v>45653</c:v>
                </c:pt>
                <c:pt idx="477">
                  <c:v>45656</c:v>
                </c:pt>
                <c:pt idx="478">
                  <c:v>45657</c:v>
                </c:pt>
                <c:pt idx="479">
                  <c:v>45659</c:v>
                </c:pt>
                <c:pt idx="480">
                  <c:v>45660</c:v>
                </c:pt>
                <c:pt idx="481">
                  <c:v>45663</c:v>
                </c:pt>
                <c:pt idx="482">
                  <c:v>45664</c:v>
                </c:pt>
                <c:pt idx="483">
                  <c:v>45665</c:v>
                </c:pt>
                <c:pt idx="484">
                  <c:v>45666</c:v>
                </c:pt>
                <c:pt idx="485">
                  <c:v>45667</c:v>
                </c:pt>
                <c:pt idx="486">
                  <c:v>45670</c:v>
                </c:pt>
                <c:pt idx="487">
                  <c:v>45671</c:v>
                </c:pt>
                <c:pt idx="488">
                  <c:v>45672</c:v>
                </c:pt>
                <c:pt idx="489">
                  <c:v>45673</c:v>
                </c:pt>
                <c:pt idx="490">
                  <c:v>45674</c:v>
                </c:pt>
                <c:pt idx="491">
                  <c:v>45677</c:v>
                </c:pt>
                <c:pt idx="492">
                  <c:v>45678</c:v>
                </c:pt>
                <c:pt idx="493">
                  <c:v>45679</c:v>
                </c:pt>
                <c:pt idx="494">
                  <c:v>45680</c:v>
                </c:pt>
                <c:pt idx="495">
                  <c:v>45681</c:v>
                </c:pt>
                <c:pt idx="496">
                  <c:v>45684</c:v>
                </c:pt>
                <c:pt idx="497">
                  <c:v>45693</c:v>
                </c:pt>
                <c:pt idx="498">
                  <c:v>45694</c:v>
                </c:pt>
                <c:pt idx="499">
                  <c:v>45695</c:v>
                </c:pt>
                <c:pt idx="500">
                  <c:v>45698</c:v>
                </c:pt>
                <c:pt idx="501">
                  <c:v>45699</c:v>
                </c:pt>
                <c:pt idx="502">
                  <c:v>45700</c:v>
                </c:pt>
                <c:pt idx="503">
                  <c:v>45701</c:v>
                </c:pt>
                <c:pt idx="504">
                  <c:v>45702</c:v>
                </c:pt>
                <c:pt idx="505">
                  <c:v>45705</c:v>
                </c:pt>
                <c:pt idx="506">
                  <c:v>45706</c:v>
                </c:pt>
                <c:pt idx="507">
                  <c:v>45707</c:v>
                </c:pt>
                <c:pt idx="508">
                  <c:v>45708</c:v>
                </c:pt>
                <c:pt idx="509">
                  <c:v>45709</c:v>
                </c:pt>
                <c:pt idx="510">
                  <c:v>45712</c:v>
                </c:pt>
                <c:pt idx="511">
                  <c:v>45713</c:v>
                </c:pt>
                <c:pt idx="512">
                  <c:v>45714</c:v>
                </c:pt>
                <c:pt idx="513">
                  <c:v>45715</c:v>
                </c:pt>
                <c:pt idx="514">
                  <c:v>45716</c:v>
                </c:pt>
                <c:pt idx="515">
                  <c:v>45719</c:v>
                </c:pt>
                <c:pt idx="516">
                  <c:v>45720</c:v>
                </c:pt>
                <c:pt idx="517">
                  <c:v>45721</c:v>
                </c:pt>
                <c:pt idx="518">
                  <c:v>45722</c:v>
                </c:pt>
                <c:pt idx="519">
                  <c:v>45723</c:v>
                </c:pt>
                <c:pt idx="520">
                  <c:v>45726</c:v>
                </c:pt>
                <c:pt idx="521">
                  <c:v>45727</c:v>
                </c:pt>
                <c:pt idx="522">
                  <c:v>45728</c:v>
                </c:pt>
                <c:pt idx="523">
                  <c:v>45729</c:v>
                </c:pt>
                <c:pt idx="524">
                  <c:v>45730</c:v>
                </c:pt>
                <c:pt idx="525">
                  <c:v>45733</c:v>
                </c:pt>
                <c:pt idx="526">
                  <c:v>45734</c:v>
                </c:pt>
                <c:pt idx="527">
                  <c:v>45735</c:v>
                </c:pt>
                <c:pt idx="528">
                  <c:v>45736</c:v>
                </c:pt>
                <c:pt idx="529">
                  <c:v>45737</c:v>
                </c:pt>
                <c:pt idx="530">
                  <c:v>45740</c:v>
                </c:pt>
                <c:pt idx="531">
                  <c:v>45741</c:v>
                </c:pt>
                <c:pt idx="532">
                  <c:v>45742</c:v>
                </c:pt>
                <c:pt idx="533">
                  <c:v>45743</c:v>
                </c:pt>
                <c:pt idx="534">
                  <c:v>45744</c:v>
                </c:pt>
                <c:pt idx="535">
                  <c:v>45747</c:v>
                </c:pt>
                <c:pt idx="536">
                  <c:v>45748</c:v>
                </c:pt>
                <c:pt idx="537">
                  <c:v>45749</c:v>
                </c:pt>
                <c:pt idx="538">
                  <c:v>45750</c:v>
                </c:pt>
                <c:pt idx="539">
                  <c:v>45754</c:v>
                </c:pt>
                <c:pt idx="540">
                  <c:v>45755</c:v>
                </c:pt>
                <c:pt idx="541">
                  <c:v>45756</c:v>
                </c:pt>
                <c:pt idx="542">
                  <c:v>45757</c:v>
                </c:pt>
                <c:pt idx="543">
                  <c:v>45758</c:v>
                </c:pt>
                <c:pt idx="544">
                  <c:v>45761</c:v>
                </c:pt>
                <c:pt idx="545">
                  <c:v>45762</c:v>
                </c:pt>
                <c:pt idx="546">
                  <c:v>45763</c:v>
                </c:pt>
                <c:pt idx="547">
                  <c:v>45764</c:v>
                </c:pt>
                <c:pt idx="548">
                  <c:v>45765</c:v>
                </c:pt>
                <c:pt idx="549">
                  <c:v>45768</c:v>
                </c:pt>
                <c:pt idx="550">
                  <c:v>45769</c:v>
                </c:pt>
                <c:pt idx="551">
                  <c:v>45770</c:v>
                </c:pt>
                <c:pt idx="552">
                  <c:v>45771</c:v>
                </c:pt>
                <c:pt idx="553">
                  <c:v>45772</c:v>
                </c:pt>
                <c:pt idx="554">
                  <c:v>45775</c:v>
                </c:pt>
                <c:pt idx="555">
                  <c:v>45776</c:v>
                </c:pt>
                <c:pt idx="556">
                  <c:v>45777</c:v>
                </c:pt>
                <c:pt idx="557">
                  <c:v>45783</c:v>
                </c:pt>
                <c:pt idx="558">
                  <c:v>45784</c:v>
                </c:pt>
                <c:pt idx="559">
                  <c:v>45785</c:v>
                </c:pt>
                <c:pt idx="560">
                  <c:v>45786</c:v>
                </c:pt>
                <c:pt idx="561">
                  <c:v>45789</c:v>
                </c:pt>
                <c:pt idx="562">
                  <c:v>45790</c:v>
                </c:pt>
                <c:pt idx="563">
                  <c:v>45791</c:v>
                </c:pt>
                <c:pt idx="564">
                  <c:v>45792</c:v>
                </c:pt>
                <c:pt idx="565">
                  <c:v>45793</c:v>
                </c:pt>
                <c:pt idx="566">
                  <c:v>45796</c:v>
                </c:pt>
                <c:pt idx="567">
                  <c:v>45797</c:v>
                </c:pt>
                <c:pt idx="568">
                  <c:v>45798</c:v>
                </c:pt>
                <c:pt idx="569">
                  <c:v>45799</c:v>
                </c:pt>
                <c:pt idx="570">
                  <c:v>45800</c:v>
                </c:pt>
                <c:pt idx="571">
                  <c:v>45803</c:v>
                </c:pt>
                <c:pt idx="572">
                  <c:v>45804</c:v>
                </c:pt>
                <c:pt idx="573">
                  <c:v>45805</c:v>
                </c:pt>
                <c:pt idx="574">
                  <c:v>45806</c:v>
                </c:pt>
                <c:pt idx="575">
                  <c:v>45807</c:v>
                </c:pt>
                <c:pt idx="576">
                  <c:v>45811</c:v>
                </c:pt>
                <c:pt idx="577">
                  <c:v>45812</c:v>
                </c:pt>
                <c:pt idx="578">
                  <c:v>45813</c:v>
                </c:pt>
                <c:pt idx="579">
                  <c:v>45814</c:v>
                </c:pt>
                <c:pt idx="580">
                  <c:v>45817</c:v>
                </c:pt>
                <c:pt idx="581">
                  <c:v>45818</c:v>
                </c:pt>
                <c:pt idx="582">
                  <c:v>45819</c:v>
                </c:pt>
                <c:pt idx="583">
                  <c:v>45820</c:v>
                </c:pt>
                <c:pt idx="584">
                  <c:v>45821</c:v>
                </c:pt>
                <c:pt idx="585">
                  <c:v>45824</c:v>
                </c:pt>
                <c:pt idx="586">
                  <c:v>45825</c:v>
                </c:pt>
                <c:pt idx="587">
                  <c:v>45826</c:v>
                </c:pt>
                <c:pt idx="588">
                  <c:v>45827</c:v>
                </c:pt>
                <c:pt idx="589">
                  <c:v>45828</c:v>
                </c:pt>
                <c:pt idx="590">
                  <c:v>45831</c:v>
                </c:pt>
                <c:pt idx="591">
                  <c:v>45832</c:v>
                </c:pt>
                <c:pt idx="592">
                  <c:v>45833</c:v>
                </c:pt>
                <c:pt idx="593">
                  <c:v>45834</c:v>
                </c:pt>
                <c:pt idx="594">
                  <c:v>45835</c:v>
                </c:pt>
                <c:pt idx="595">
                  <c:v>45838</c:v>
                </c:pt>
                <c:pt idx="596">
                  <c:v>45839</c:v>
                </c:pt>
                <c:pt idx="597">
                  <c:v>45840</c:v>
                </c:pt>
                <c:pt idx="598">
                  <c:v>45841</c:v>
                </c:pt>
                <c:pt idx="599">
                  <c:v>45842</c:v>
                </c:pt>
                <c:pt idx="600">
                  <c:v>45845</c:v>
                </c:pt>
                <c:pt idx="601">
                  <c:v>45846</c:v>
                </c:pt>
                <c:pt idx="602">
                  <c:v>45847</c:v>
                </c:pt>
                <c:pt idx="603">
                  <c:v>45848</c:v>
                </c:pt>
                <c:pt idx="604">
                  <c:v>45849</c:v>
                </c:pt>
                <c:pt idx="605">
                  <c:v>45852</c:v>
                </c:pt>
                <c:pt idx="606">
                  <c:v>45853</c:v>
                </c:pt>
                <c:pt idx="607">
                  <c:v>45854</c:v>
                </c:pt>
                <c:pt idx="608">
                  <c:v>45855</c:v>
                </c:pt>
                <c:pt idx="609">
                  <c:v>45856</c:v>
                </c:pt>
                <c:pt idx="610">
                  <c:v>45859</c:v>
                </c:pt>
                <c:pt idx="611">
                  <c:v>45860</c:v>
                </c:pt>
                <c:pt idx="612">
                  <c:v>45861</c:v>
                </c:pt>
                <c:pt idx="613">
                  <c:v>45862</c:v>
                </c:pt>
                <c:pt idx="614">
                  <c:v>45863</c:v>
                </c:pt>
                <c:pt idx="615">
                  <c:v>45866</c:v>
                </c:pt>
                <c:pt idx="616">
                  <c:v>45867</c:v>
                </c:pt>
                <c:pt idx="617">
                  <c:v>45868</c:v>
                </c:pt>
                <c:pt idx="618">
                  <c:v>45869</c:v>
                </c:pt>
                <c:pt idx="619">
                  <c:v>45870</c:v>
                </c:pt>
                <c:pt idx="620">
                  <c:v>45873</c:v>
                </c:pt>
                <c:pt idx="621">
                  <c:v>45874</c:v>
                </c:pt>
                <c:pt idx="622">
                  <c:v>45875</c:v>
                </c:pt>
                <c:pt idx="623">
                  <c:v>45876</c:v>
                </c:pt>
                <c:pt idx="624">
                  <c:v>45877</c:v>
                </c:pt>
                <c:pt idx="625">
                  <c:v>45880</c:v>
                </c:pt>
                <c:pt idx="626">
                  <c:v>45881</c:v>
                </c:pt>
                <c:pt idx="627">
                  <c:v>45882</c:v>
                </c:pt>
                <c:pt idx="628">
                  <c:v>45883</c:v>
                </c:pt>
                <c:pt idx="629">
                  <c:v>45884</c:v>
                </c:pt>
                <c:pt idx="630">
                  <c:v>45887</c:v>
                </c:pt>
                <c:pt idx="631">
                  <c:v>45888</c:v>
                </c:pt>
                <c:pt idx="632">
                  <c:v>45889</c:v>
                </c:pt>
                <c:pt idx="633">
                  <c:v>45890</c:v>
                </c:pt>
                <c:pt idx="634">
                  <c:v>45891</c:v>
                </c:pt>
                <c:pt idx="635">
                  <c:v>45894</c:v>
                </c:pt>
                <c:pt idx="636">
                  <c:v>45895</c:v>
                </c:pt>
                <c:pt idx="637">
                  <c:v>45896</c:v>
                </c:pt>
                <c:pt idx="638">
                  <c:v>45897</c:v>
                </c:pt>
                <c:pt idx="639">
                  <c:v>45898</c:v>
                </c:pt>
                <c:pt idx="640">
                  <c:v>45901</c:v>
                </c:pt>
                <c:pt idx="641">
                  <c:v>45902</c:v>
                </c:pt>
                <c:pt idx="642">
                  <c:v>45903</c:v>
                </c:pt>
                <c:pt idx="643">
                  <c:v>45904</c:v>
                </c:pt>
                <c:pt idx="644">
                  <c:v>45905</c:v>
                </c:pt>
                <c:pt idx="645">
                  <c:v>45908</c:v>
                </c:pt>
                <c:pt idx="646">
                  <c:v>45909</c:v>
                </c:pt>
                <c:pt idx="647">
                  <c:v>45910</c:v>
                </c:pt>
                <c:pt idx="648">
                  <c:v>45911</c:v>
                </c:pt>
                <c:pt idx="649">
                  <c:v>45912</c:v>
                </c:pt>
                <c:pt idx="650">
                  <c:v>45915</c:v>
                </c:pt>
                <c:pt idx="651">
                  <c:v>45916</c:v>
                </c:pt>
                <c:pt idx="652">
                  <c:v>45917</c:v>
                </c:pt>
                <c:pt idx="653">
                  <c:v>45918</c:v>
                </c:pt>
                <c:pt idx="654">
                  <c:v>45919</c:v>
                </c:pt>
                <c:pt idx="655">
                  <c:v>45922</c:v>
                </c:pt>
                <c:pt idx="656">
                  <c:v>45923</c:v>
                </c:pt>
                <c:pt idx="657">
                  <c:v>45924</c:v>
                </c:pt>
                <c:pt idx="658">
                  <c:v>45925</c:v>
                </c:pt>
                <c:pt idx="659">
                  <c:v>45926</c:v>
                </c:pt>
                <c:pt idx="660">
                  <c:v>45929</c:v>
                </c:pt>
                <c:pt idx="661">
                  <c:v>45930</c:v>
                </c:pt>
                <c:pt idx="662">
                  <c:v>45939</c:v>
                </c:pt>
                <c:pt idx="663">
                  <c:v>45940</c:v>
                </c:pt>
                <c:pt idx="664">
                  <c:v>45943</c:v>
                </c:pt>
                <c:pt idx="665">
                  <c:v>45944</c:v>
                </c:pt>
                <c:pt idx="666">
                  <c:v>45945</c:v>
                </c:pt>
                <c:pt idx="667">
                  <c:v>45946</c:v>
                </c:pt>
                <c:pt idx="668">
                  <c:v>45947</c:v>
                </c:pt>
                <c:pt idx="669">
                  <c:v>45950</c:v>
                </c:pt>
                <c:pt idx="670">
                  <c:v>45951</c:v>
                </c:pt>
                <c:pt idx="671">
                  <c:v>45952</c:v>
                </c:pt>
                <c:pt idx="672">
                  <c:v>45953</c:v>
                </c:pt>
                <c:pt idx="673">
                  <c:v>45954</c:v>
                </c:pt>
                <c:pt idx="674">
                  <c:v>45957</c:v>
                </c:pt>
                <c:pt idx="675">
                  <c:v>45958</c:v>
                </c:pt>
                <c:pt idx="676">
                  <c:v>45959</c:v>
                </c:pt>
                <c:pt idx="677">
                  <c:v>45960</c:v>
                </c:pt>
                <c:pt idx="678">
                  <c:v>45961</c:v>
                </c:pt>
                <c:pt idx="679">
                  <c:v>45964</c:v>
                </c:pt>
                <c:pt idx="680">
                  <c:v>45965</c:v>
                </c:pt>
                <c:pt idx="681">
                  <c:v>45966</c:v>
                </c:pt>
                <c:pt idx="682">
                  <c:v>45967</c:v>
                </c:pt>
                <c:pt idx="683">
                  <c:v>45968</c:v>
                </c:pt>
                <c:pt idx="684">
                  <c:v>45971</c:v>
                </c:pt>
                <c:pt idx="685">
                  <c:v>45972</c:v>
                </c:pt>
                <c:pt idx="686">
                  <c:v>45973</c:v>
                </c:pt>
                <c:pt idx="687">
                  <c:v>45974</c:v>
                </c:pt>
                <c:pt idx="688">
                  <c:v>45975</c:v>
                </c:pt>
                <c:pt idx="689">
                  <c:v>45978</c:v>
                </c:pt>
                <c:pt idx="690">
                  <c:v>45979</c:v>
                </c:pt>
                <c:pt idx="691">
                  <c:v>45980</c:v>
                </c:pt>
                <c:pt idx="692">
                  <c:v>45981</c:v>
                </c:pt>
                <c:pt idx="693">
                  <c:v>45982</c:v>
                </c:pt>
                <c:pt idx="694">
                  <c:v>45985</c:v>
                </c:pt>
                <c:pt idx="695">
                  <c:v>45986</c:v>
                </c:pt>
                <c:pt idx="696">
                  <c:v>45987</c:v>
                </c:pt>
                <c:pt idx="697">
                  <c:v>45988</c:v>
                </c:pt>
                <c:pt idx="698">
                  <c:v>45989</c:v>
                </c:pt>
                <c:pt idx="699">
                  <c:v>45992</c:v>
                </c:pt>
                <c:pt idx="700">
                  <c:v>45993</c:v>
                </c:pt>
                <c:pt idx="701">
                  <c:v>45994</c:v>
                </c:pt>
                <c:pt idx="702">
                  <c:v>45995</c:v>
                </c:pt>
                <c:pt idx="703">
                  <c:v>45996</c:v>
                </c:pt>
                <c:pt idx="704">
                  <c:v>45999</c:v>
                </c:pt>
                <c:pt idx="705">
                  <c:v>46000</c:v>
                </c:pt>
                <c:pt idx="706">
                  <c:v>46001</c:v>
                </c:pt>
                <c:pt idx="707">
                  <c:v>46002</c:v>
                </c:pt>
                <c:pt idx="708">
                  <c:v>46003</c:v>
                </c:pt>
                <c:pt idx="709">
                  <c:v>46006</c:v>
                </c:pt>
                <c:pt idx="710">
                  <c:v>46007</c:v>
                </c:pt>
                <c:pt idx="711">
                  <c:v>46008</c:v>
                </c:pt>
                <c:pt idx="712">
                  <c:v>46009</c:v>
                </c:pt>
                <c:pt idx="713">
                  <c:v>46010</c:v>
                </c:pt>
                <c:pt idx="714">
                  <c:v>46013</c:v>
                </c:pt>
                <c:pt idx="715">
                  <c:v>46014</c:v>
                </c:pt>
                <c:pt idx="716">
                  <c:v>46015</c:v>
                </c:pt>
                <c:pt idx="717">
                  <c:v>46016</c:v>
                </c:pt>
                <c:pt idx="718">
                  <c:v>46017</c:v>
                </c:pt>
                <c:pt idx="719">
                  <c:v>46020</c:v>
                </c:pt>
                <c:pt idx="720">
                  <c:v>46021</c:v>
                </c:pt>
                <c:pt idx="721">
                  <c:v>46022</c:v>
                </c:pt>
                <c:pt idx="722">
                  <c:v>46027</c:v>
                </c:pt>
                <c:pt idx="723">
                  <c:v>46028</c:v>
                </c:pt>
                <c:pt idx="724">
                  <c:v>46029</c:v>
                </c:pt>
                <c:pt idx="725">
                  <c:v>46030</c:v>
                </c:pt>
                <c:pt idx="726">
                  <c:v>46031</c:v>
                </c:pt>
                <c:pt idx="727">
                  <c:v>46034</c:v>
                </c:pt>
                <c:pt idx="728">
                  <c:v>46035</c:v>
                </c:pt>
                <c:pt idx="729">
                  <c:v>46036</c:v>
                </c:pt>
              </c:numCache>
            </c:numRef>
          </c:cat>
          <c:val>
            <c:numRef>
              <c:f>'3.file'!策略净值</c:f>
              <c:numCache>
                <c:formatCode>General</c:formatCode>
                <c:ptCount val="730"/>
                <c:pt idx="0">
                  <c:v>1</c:v>
                </c:pt>
                <c:pt idx="1">
                  <c:v>0.99881093935790721</c:v>
                </c:pt>
                <c:pt idx="2">
                  <c:v>0.99980182322631783</c:v>
                </c:pt>
                <c:pt idx="3">
                  <c:v>1.0163495838287753</c:v>
                </c:pt>
                <c:pt idx="4">
                  <c:v>1.0307173999207293</c:v>
                </c:pt>
                <c:pt idx="5">
                  <c:v>1.0295283392786365</c:v>
                </c:pt>
                <c:pt idx="6">
                  <c:v>1.028636543797067</c:v>
                </c:pt>
                <c:pt idx="7">
                  <c:v>1.0340864050733254</c:v>
                </c:pt>
                <c:pt idx="8">
                  <c:v>1.0385453824811732</c:v>
                </c:pt>
                <c:pt idx="9">
                  <c:v>1.045977011494253</c:v>
                </c:pt>
                <c:pt idx="10">
                  <c:v>1.0346809353943718</c:v>
                </c:pt>
                <c:pt idx="11">
                  <c:v>1.0484542211652796</c:v>
                </c:pt>
                <c:pt idx="12">
                  <c:v>1.043995243757432</c:v>
                </c:pt>
                <c:pt idx="13">
                  <c:v>1.0352754657154184</c:v>
                </c:pt>
                <c:pt idx="14">
                  <c:v>1.0232857709076499</c:v>
                </c:pt>
                <c:pt idx="15">
                  <c:v>1.0251684502576301</c:v>
                </c:pt>
                <c:pt idx="16">
                  <c:v>1.0219976218787163</c:v>
                </c:pt>
                <c:pt idx="17">
                  <c:v>1.033987316686485</c:v>
                </c:pt>
                <c:pt idx="18">
                  <c:v>1.0292310741181139</c:v>
                </c:pt>
                <c:pt idx="19">
                  <c:v>1.039040824415379</c:v>
                </c:pt>
                <c:pt idx="20">
                  <c:v>1.0394371779627434</c:v>
                </c:pt>
                <c:pt idx="21">
                  <c:v>1.0339873166864852</c:v>
                </c:pt>
                <c:pt idx="22">
                  <c:v>1.0275465715418162</c:v>
                </c:pt>
                <c:pt idx="23">
                  <c:v>1.012881490289339</c:v>
                </c:pt>
                <c:pt idx="24">
                  <c:v>1.0370590566785582</c:v>
                </c:pt>
                <c:pt idx="25">
                  <c:v>1.0387435592548562</c:v>
                </c:pt>
                <c:pt idx="26">
                  <c:v>1.0306183115338889</c:v>
                </c:pt>
                <c:pt idx="27">
                  <c:v>1.0290328973444318</c:v>
                </c:pt>
                <c:pt idx="28">
                  <c:v>1.0180340864050741</c:v>
                </c:pt>
                <c:pt idx="29">
                  <c:v>1.0139714625445906</c:v>
                </c:pt>
                <c:pt idx="30">
                  <c:v>1.0207094728497828</c:v>
                </c:pt>
                <c:pt idx="31">
                  <c:v>1.0356718192627832</c:v>
                </c:pt>
                <c:pt idx="32">
                  <c:v>1.0335909631391209</c:v>
                </c:pt>
                <c:pt idx="33">
                  <c:v>1.0375544986127634</c:v>
                </c:pt>
                <c:pt idx="34">
                  <c:v>1.0309155766944123</c:v>
                </c:pt>
                <c:pt idx="35">
                  <c:v>1.0168450257629813</c:v>
                </c:pt>
                <c:pt idx="36">
                  <c:v>1.0121878715814514</c:v>
                </c:pt>
                <c:pt idx="37">
                  <c:v>1.0090170432025374</c:v>
                </c:pt>
                <c:pt idx="38">
                  <c:v>0.99653190646056355</c:v>
                </c:pt>
                <c:pt idx="39">
                  <c:v>1.0062425683709877</c:v>
                </c:pt>
                <c:pt idx="40">
                  <c:v>0.99891002774474902</c:v>
                </c:pt>
                <c:pt idx="41">
                  <c:v>0.99891002774474902</c:v>
                </c:pt>
                <c:pt idx="42">
                  <c:v>0.99058660325009984</c:v>
                </c:pt>
                <c:pt idx="43">
                  <c:v>0.99593737613951738</c:v>
                </c:pt>
                <c:pt idx="44">
                  <c:v>0.99237019421323913</c:v>
                </c:pt>
                <c:pt idx="45">
                  <c:v>1.0027744748315506</c:v>
                </c:pt>
                <c:pt idx="46">
                  <c:v>1.0078279825604446</c:v>
                </c:pt>
                <c:pt idx="47">
                  <c:v>1.0190249702734846</c:v>
                </c:pt>
                <c:pt idx="48">
                  <c:v>1.0171422909235044</c:v>
                </c:pt>
                <c:pt idx="49">
                  <c:v>1.0140705509314316</c:v>
                </c:pt>
                <c:pt idx="50">
                  <c:v>1.0111969877130407</c:v>
                </c:pt>
                <c:pt idx="51">
                  <c:v>1.0108997225525176</c:v>
                </c:pt>
                <c:pt idx="52">
                  <c:v>1.0207094728497828</c:v>
                </c:pt>
                <c:pt idx="53">
                  <c:v>1.023880301228697</c:v>
                </c:pt>
                <c:pt idx="54">
                  <c:v>1.0322037257233461</c:v>
                </c:pt>
                <c:pt idx="55">
                  <c:v>1.0340864050733263</c:v>
                </c:pt>
                <c:pt idx="56">
                  <c:v>1.0318073721759817</c:v>
                </c:pt>
                <c:pt idx="57">
                  <c:v>1.0363654379706706</c:v>
                </c:pt>
                <c:pt idx="58">
                  <c:v>1.0310146650812531</c:v>
                </c:pt>
                <c:pt idx="59">
                  <c:v>1.0291319857312728</c:v>
                </c:pt>
                <c:pt idx="60">
                  <c:v>1.0269520412207696</c:v>
                </c:pt>
                <c:pt idx="61">
                  <c:v>1.0240784780023788</c:v>
                </c:pt>
                <c:pt idx="62">
                  <c:v>1.0266547760602465</c:v>
                </c:pt>
                <c:pt idx="63">
                  <c:v>1.0420134760206112</c:v>
                </c:pt>
                <c:pt idx="64">
                  <c:v>1.0443915973047968</c:v>
                </c:pt>
                <c:pt idx="65">
                  <c:v>1.0360681728101475</c:v>
                </c:pt>
                <c:pt idx="66">
                  <c:v>1.031906460562823</c:v>
                </c:pt>
                <c:pt idx="67">
                  <c:v>1.0154577883472065</c:v>
                </c:pt>
                <c:pt idx="68">
                  <c:v>1.0041617122473254</c:v>
                </c:pt>
                <c:pt idx="69">
                  <c:v>0.99851367419738479</c:v>
                </c:pt>
                <c:pt idx="70">
                  <c:v>0.9995045580657953</c:v>
                </c:pt>
                <c:pt idx="71">
                  <c:v>1.0082243361078089</c:v>
                </c:pt>
                <c:pt idx="72">
                  <c:v>1.0183313515655972</c:v>
                </c:pt>
                <c:pt idx="73">
                  <c:v>1.021700356718193</c:v>
                </c:pt>
                <c:pt idx="74">
                  <c:v>1.0182322631787561</c:v>
                </c:pt>
                <c:pt idx="75">
                  <c:v>1.0304201347602067</c:v>
                </c:pt>
                <c:pt idx="76">
                  <c:v>1.0212049147839877</c:v>
                </c:pt>
                <c:pt idx="77">
                  <c:v>1.0140705509314314</c:v>
                </c:pt>
                <c:pt idx="78">
                  <c:v>1.0128814902893386</c:v>
                </c:pt>
                <c:pt idx="79">
                  <c:v>1.0006936187078879</c:v>
                </c:pt>
                <c:pt idx="80">
                  <c:v>1.0131787554498617</c:v>
                </c:pt>
                <c:pt idx="81">
                  <c:v>1.0084225128814908</c:v>
                </c:pt>
                <c:pt idx="82">
                  <c:v>1.0035671819262786</c:v>
                </c:pt>
                <c:pt idx="83">
                  <c:v>1.002477209671027</c:v>
                </c:pt>
                <c:pt idx="84">
                  <c:v>0.99940546967895394</c:v>
                </c:pt>
                <c:pt idx="85">
                  <c:v>1.0052516845025765</c:v>
                </c:pt>
                <c:pt idx="86">
                  <c:v>0.99266745937376166</c:v>
                </c:pt>
                <c:pt idx="87">
                  <c:v>0.97869599682917197</c:v>
                </c:pt>
                <c:pt idx="88">
                  <c:v>0.9738406658739599</c:v>
                </c:pt>
                <c:pt idx="89">
                  <c:v>0.97195798652397969</c:v>
                </c:pt>
                <c:pt idx="90">
                  <c:v>0.96938168846611206</c:v>
                </c:pt>
                <c:pt idx="91">
                  <c:v>0.96898533491874783</c:v>
                </c:pt>
                <c:pt idx="92">
                  <c:v>0.96026555687673432</c:v>
                </c:pt>
                <c:pt idx="93">
                  <c:v>0.96383273880301268</c:v>
                </c:pt>
                <c:pt idx="94">
                  <c:v>0.97681331747919176</c:v>
                </c:pt>
                <c:pt idx="95">
                  <c:v>0.97205707491082083</c:v>
                </c:pt>
                <c:pt idx="96">
                  <c:v>0.96343638525564845</c:v>
                </c:pt>
                <c:pt idx="97">
                  <c:v>0.95897740784780061</c:v>
                </c:pt>
                <c:pt idx="98">
                  <c:v>0.96769718588981413</c:v>
                </c:pt>
                <c:pt idx="99">
                  <c:v>0.97245342845818505</c:v>
                </c:pt>
                <c:pt idx="100">
                  <c:v>0.97374157748711887</c:v>
                </c:pt>
                <c:pt idx="101">
                  <c:v>0.97839873166864888</c:v>
                </c:pt>
                <c:pt idx="102">
                  <c:v>0.98057867617915229</c:v>
                </c:pt>
                <c:pt idx="103">
                  <c:v>0.99316290130796703</c:v>
                </c:pt>
                <c:pt idx="104">
                  <c:v>1.0025762980578679</c:v>
                </c:pt>
                <c:pt idx="105">
                  <c:v>0.99623464130003991</c:v>
                </c:pt>
                <c:pt idx="106">
                  <c:v>0.99514466904478815</c:v>
                </c:pt>
                <c:pt idx="107">
                  <c:v>0.98156956004756268</c:v>
                </c:pt>
                <c:pt idx="108">
                  <c:v>0.96868806975822452</c:v>
                </c:pt>
                <c:pt idx="109">
                  <c:v>0.97820055489496649</c:v>
                </c:pt>
                <c:pt idx="110">
                  <c:v>0.97780420134760226</c:v>
                </c:pt>
                <c:pt idx="111">
                  <c:v>0.97443519619500618</c:v>
                </c:pt>
                <c:pt idx="112">
                  <c:v>0.97998414585810567</c:v>
                </c:pt>
                <c:pt idx="113">
                  <c:v>0.9937574316290132</c:v>
                </c:pt>
                <c:pt idx="114">
                  <c:v>0.99415378517637765</c:v>
                </c:pt>
                <c:pt idx="115">
                  <c:v>0.98890210067380124</c:v>
                </c:pt>
                <c:pt idx="116">
                  <c:v>0.98265953230281433</c:v>
                </c:pt>
                <c:pt idx="117">
                  <c:v>0.97968688069758247</c:v>
                </c:pt>
                <c:pt idx="118">
                  <c:v>0.98355132778438392</c:v>
                </c:pt>
                <c:pt idx="119">
                  <c:v>0.98919936583432444</c:v>
                </c:pt>
                <c:pt idx="120">
                  <c:v>0.98543400713436413</c:v>
                </c:pt>
                <c:pt idx="121">
                  <c:v>0.99920729290527177</c:v>
                </c:pt>
                <c:pt idx="122">
                  <c:v>1.0020808561236627</c:v>
                </c:pt>
                <c:pt idx="123">
                  <c:v>0.99573919936583455</c:v>
                </c:pt>
                <c:pt idx="124">
                  <c:v>0.99365834324217217</c:v>
                </c:pt>
                <c:pt idx="125">
                  <c:v>0.99395560840269548</c:v>
                </c:pt>
                <c:pt idx="126">
                  <c:v>0.98781212841854948</c:v>
                </c:pt>
                <c:pt idx="127">
                  <c:v>0.98949663099484753</c:v>
                </c:pt>
                <c:pt idx="128">
                  <c:v>0.98553309552120505</c:v>
                </c:pt>
                <c:pt idx="129">
                  <c:v>1.0134760206103843</c:v>
                </c:pt>
                <c:pt idx="130">
                  <c:v>1.0116924296472452</c:v>
                </c:pt>
                <c:pt idx="131">
                  <c:v>1.0094133967499006</c:v>
                </c:pt>
                <c:pt idx="132">
                  <c:v>1.0324019024970272</c:v>
                </c:pt>
                <c:pt idx="133">
                  <c:v>1.0371581450653982</c:v>
                </c:pt>
                <c:pt idx="134">
                  <c:v>1.0328973444312326</c:v>
                </c:pt>
                <c:pt idx="135">
                  <c:v>1.0257629805786761</c:v>
                </c:pt>
                <c:pt idx="136">
                  <c:v>1.0319064605628221</c:v>
                </c:pt>
                <c:pt idx="137">
                  <c:v>1.0374554102259212</c:v>
                </c:pt>
                <c:pt idx="138">
                  <c:v>1.0316091954022986</c:v>
                </c:pt>
                <c:pt idx="139">
                  <c:v>1.0279429250891794</c:v>
                </c:pt>
                <c:pt idx="140">
                  <c:v>1.0247720967102654</c:v>
                </c:pt>
                <c:pt idx="141">
                  <c:v>1.0252675386444705</c:v>
                </c:pt>
                <c:pt idx="142">
                  <c:v>1.0025762980578672</c:v>
                </c:pt>
                <c:pt idx="143">
                  <c:v>0.99484740388426429</c:v>
                </c:pt>
                <c:pt idx="144">
                  <c:v>0.99435196195005893</c:v>
                </c:pt>
                <c:pt idx="145">
                  <c:v>0.98791121680538985</c:v>
                </c:pt>
                <c:pt idx="146">
                  <c:v>0.98999207292905222</c:v>
                </c:pt>
                <c:pt idx="147">
                  <c:v>0.97938961553705861</c:v>
                </c:pt>
                <c:pt idx="148">
                  <c:v>0.96720174395560798</c:v>
                </c:pt>
                <c:pt idx="149">
                  <c:v>0.97443519619500552</c:v>
                </c:pt>
                <c:pt idx="150">
                  <c:v>0.96006738010305148</c:v>
                </c:pt>
                <c:pt idx="151">
                  <c:v>0.96531906460562777</c:v>
                </c:pt>
                <c:pt idx="152">
                  <c:v>0.96323820848196551</c:v>
                </c:pt>
                <c:pt idx="153">
                  <c:v>0.97473246135552893</c:v>
                </c:pt>
                <c:pt idx="154">
                  <c:v>0.98256044391597275</c:v>
                </c:pt>
                <c:pt idx="155">
                  <c:v>0.98196591359492635</c:v>
                </c:pt>
                <c:pt idx="156">
                  <c:v>0.97770511296076068</c:v>
                </c:pt>
                <c:pt idx="157">
                  <c:v>0.98464130003963501</c:v>
                </c:pt>
                <c:pt idx="158">
                  <c:v>1.0006936187078872</c:v>
                </c:pt>
                <c:pt idx="159">
                  <c:v>0.99276654776060214</c:v>
                </c:pt>
                <c:pt idx="160">
                  <c:v>0.99187475227903243</c:v>
                </c:pt>
                <c:pt idx="161">
                  <c:v>0.979984145858105</c:v>
                </c:pt>
                <c:pt idx="162">
                  <c:v>0.97562425683709841</c:v>
                </c:pt>
                <c:pt idx="163">
                  <c:v>0.98275862068965492</c:v>
                </c:pt>
                <c:pt idx="164">
                  <c:v>0.98206500198176738</c:v>
                </c:pt>
                <c:pt idx="165">
                  <c:v>0.97681331747919109</c:v>
                </c:pt>
                <c:pt idx="166">
                  <c:v>0.97760602457391954</c:v>
                </c:pt>
                <c:pt idx="167">
                  <c:v>0.97116527942925046</c:v>
                </c:pt>
                <c:pt idx="168">
                  <c:v>0.97463337296868779</c:v>
                </c:pt>
                <c:pt idx="169">
                  <c:v>0.97423701942132357</c:v>
                </c:pt>
                <c:pt idx="170">
                  <c:v>0.97136345620293274</c:v>
                </c:pt>
                <c:pt idx="171">
                  <c:v>0.96304003170828356</c:v>
                </c:pt>
                <c:pt idx="172">
                  <c:v>0.97968688069758203</c:v>
                </c:pt>
                <c:pt idx="173">
                  <c:v>0.97195798652397913</c:v>
                </c:pt>
                <c:pt idx="174">
                  <c:v>0.96561632976615119</c:v>
                </c:pt>
                <c:pt idx="175">
                  <c:v>0.96640903686087964</c:v>
                </c:pt>
                <c:pt idx="176">
                  <c:v>0.96422909235037624</c:v>
                </c:pt>
                <c:pt idx="177">
                  <c:v>0.96145461751882655</c:v>
                </c:pt>
                <c:pt idx="178">
                  <c:v>0.95313119302417726</c:v>
                </c:pt>
                <c:pt idx="179">
                  <c:v>0.95432025366626994</c:v>
                </c:pt>
                <c:pt idx="180">
                  <c:v>0.96323820848196551</c:v>
                </c:pt>
                <c:pt idx="181">
                  <c:v>0.95580657946888581</c:v>
                </c:pt>
                <c:pt idx="182">
                  <c:v>0.94738406658739549</c:v>
                </c:pt>
                <c:pt idx="183">
                  <c:v>0.95075307173999168</c:v>
                </c:pt>
                <c:pt idx="184">
                  <c:v>0.94371779627427621</c:v>
                </c:pt>
                <c:pt idx="185">
                  <c:v>0.92241379310344784</c:v>
                </c:pt>
                <c:pt idx="186">
                  <c:v>0.91577487118509682</c:v>
                </c:pt>
                <c:pt idx="187">
                  <c:v>0.90665873959571919</c:v>
                </c:pt>
                <c:pt idx="188">
                  <c:v>0.91012683313515641</c:v>
                </c:pt>
                <c:pt idx="189">
                  <c:v>0.91636940150614343</c:v>
                </c:pt>
                <c:pt idx="190">
                  <c:v>0.91864843440348798</c:v>
                </c:pt>
                <c:pt idx="191">
                  <c:v>0.92994451050336902</c:v>
                </c:pt>
                <c:pt idx="192">
                  <c:v>0.93133174791914397</c:v>
                </c:pt>
                <c:pt idx="193">
                  <c:v>0.92905271502179954</c:v>
                </c:pt>
                <c:pt idx="194">
                  <c:v>0.92974633372968707</c:v>
                </c:pt>
                <c:pt idx="195">
                  <c:v>0.92697185889813738</c:v>
                </c:pt>
                <c:pt idx="196">
                  <c:v>0.93172810146650842</c:v>
                </c:pt>
                <c:pt idx="197">
                  <c:v>0.9406460562822041</c:v>
                </c:pt>
                <c:pt idx="198">
                  <c:v>0.93489892984542244</c:v>
                </c:pt>
                <c:pt idx="199">
                  <c:v>0.93093539437177997</c:v>
                </c:pt>
                <c:pt idx="200">
                  <c:v>0.93172810146650842</c:v>
                </c:pt>
                <c:pt idx="201">
                  <c:v>0.92528735632183934</c:v>
                </c:pt>
                <c:pt idx="202">
                  <c:v>0.92390011890606449</c:v>
                </c:pt>
                <c:pt idx="203">
                  <c:v>0.92399920729290552</c:v>
                </c:pt>
                <c:pt idx="204">
                  <c:v>0.93014268727705129</c:v>
                </c:pt>
                <c:pt idx="205">
                  <c:v>0.92281014665081273</c:v>
                </c:pt>
                <c:pt idx="206">
                  <c:v>0.92172017439556109</c:v>
                </c:pt>
                <c:pt idx="207">
                  <c:v>0.92419738406658758</c:v>
                </c:pt>
                <c:pt idx="208">
                  <c:v>0.92717003567181944</c:v>
                </c:pt>
                <c:pt idx="209">
                  <c:v>0.91934205311137551</c:v>
                </c:pt>
                <c:pt idx="210">
                  <c:v>0.9236028537455413</c:v>
                </c:pt>
                <c:pt idx="211">
                  <c:v>0.91934205311137551</c:v>
                </c:pt>
                <c:pt idx="212">
                  <c:v>0.91091954022988531</c:v>
                </c:pt>
                <c:pt idx="213">
                  <c:v>0.91319857312722974</c:v>
                </c:pt>
                <c:pt idx="214">
                  <c:v>0.90527150217994479</c:v>
                </c:pt>
                <c:pt idx="215">
                  <c:v>0.90764962346413036</c:v>
                </c:pt>
                <c:pt idx="216">
                  <c:v>0.90517241379310376</c:v>
                </c:pt>
                <c:pt idx="217">
                  <c:v>0.90001981767736861</c:v>
                </c:pt>
                <c:pt idx="218">
                  <c:v>0.88347205707491117</c:v>
                </c:pt>
                <c:pt idx="219">
                  <c:v>0.88307570352754705</c:v>
                </c:pt>
                <c:pt idx="220">
                  <c:v>0.88307570352754705</c:v>
                </c:pt>
                <c:pt idx="221">
                  <c:v>0.88763376932223603</c:v>
                </c:pt>
                <c:pt idx="222">
                  <c:v>0.89298454221165335</c:v>
                </c:pt>
                <c:pt idx="223">
                  <c:v>0.89476813317479242</c:v>
                </c:pt>
                <c:pt idx="224">
                  <c:v>0.88129211256440787</c:v>
                </c:pt>
                <c:pt idx="225">
                  <c:v>0.87722948870392436</c:v>
                </c:pt>
                <c:pt idx="226">
                  <c:v>0.87267142290923561</c:v>
                </c:pt>
                <c:pt idx="227">
                  <c:v>0.87039239001189117</c:v>
                </c:pt>
                <c:pt idx="228">
                  <c:v>0.8704914783987322</c:v>
                </c:pt>
                <c:pt idx="229">
                  <c:v>0.86315893777249364</c:v>
                </c:pt>
                <c:pt idx="230">
                  <c:v>0.86959968291716283</c:v>
                </c:pt>
                <c:pt idx="231">
                  <c:v>0.87227506936187138</c:v>
                </c:pt>
                <c:pt idx="232">
                  <c:v>0.87495045580658015</c:v>
                </c:pt>
                <c:pt idx="233">
                  <c:v>0.8710860087197787</c:v>
                </c:pt>
                <c:pt idx="234">
                  <c:v>0.87524772096710335</c:v>
                </c:pt>
                <c:pt idx="235">
                  <c:v>0.89258818866428935</c:v>
                </c:pt>
                <c:pt idx="236">
                  <c:v>0.89704716607213719</c:v>
                </c:pt>
                <c:pt idx="237">
                  <c:v>0.88674197384066666</c:v>
                </c:pt>
                <c:pt idx="238">
                  <c:v>0.88545382481173285</c:v>
                </c:pt>
                <c:pt idx="239">
                  <c:v>0.87921125644074594</c:v>
                </c:pt>
                <c:pt idx="240">
                  <c:v>0.87594133967499088</c:v>
                </c:pt>
                <c:pt idx="241">
                  <c:v>0.86514070550931499</c:v>
                </c:pt>
                <c:pt idx="242">
                  <c:v>0.86593341260404355</c:v>
                </c:pt>
                <c:pt idx="243">
                  <c:v>0.86187078874355993</c:v>
                </c:pt>
                <c:pt idx="244">
                  <c:v>0.86583432421720252</c:v>
                </c:pt>
                <c:pt idx="245">
                  <c:v>0.86365437970669912</c:v>
                </c:pt>
                <c:pt idx="246">
                  <c:v>0.86414982164090437</c:v>
                </c:pt>
                <c:pt idx="247">
                  <c:v>0.86930241775663963</c:v>
                </c:pt>
                <c:pt idx="248">
                  <c:v>0.85394371779627509</c:v>
                </c:pt>
                <c:pt idx="249">
                  <c:v>0.86335711454617603</c:v>
                </c:pt>
                <c:pt idx="250">
                  <c:v>0.86365437970669934</c:v>
                </c:pt>
                <c:pt idx="251">
                  <c:v>0.85255648038050036</c:v>
                </c:pt>
                <c:pt idx="252">
                  <c:v>0.85602457391993758</c:v>
                </c:pt>
                <c:pt idx="253">
                  <c:v>0.86920332936979883</c:v>
                </c:pt>
                <c:pt idx="254">
                  <c:v>0.88793103448275956</c:v>
                </c:pt>
                <c:pt idx="255">
                  <c:v>0.88614744351962049</c:v>
                </c:pt>
                <c:pt idx="256">
                  <c:v>0.88069758224336214</c:v>
                </c:pt>
                <c:pt idx="257">
                  <c:v>0.86583432421720274</c:v>
                </c:pt>
                <c:pt idx="258">
                  <c:v>0.85969084423305686</c:v>
                </c:pt>
                <c:pt idx="259">
                  <c:v>0.86038446294094428</c:v>
                </c:pt>
                <c:pt idx="260">
                  <c:v>0.85037653586999695</c:v>
                </c:pt>
                <c:pt idx="261">
                  <c:v>0.8588981371383283</c:v>
                </c:pt>
                <c:pt idx="262">
                  <c:v>0.88585017835909718</c:v>
                </c:pt>
                <c:pt idx="263">
                  <c:v>0.89427269124058739</c:v>
                </c:pt>
                <c:pt idx="264">
                  <c:v>0.89734443123266039</c:v>
                </c:pt>
                <c:pt idx="265">
                  <c:v>0.91260404280618412</c:v>
                </c:pt>
                <c:pt idx="266">
                  <c:v>0.91567578279825712</c:v>
                </c:pt>
                <c:pt idx="267">
                  <c:v>0.92429647245342939</c:v>
                </c:pt>
                <c:pt idx="268">
                  <c:v>0.93202536662703217</c:v>
                </c:pt>
                <c:pt idx="269">
                  <c:v>0.93083630598493938</c:v>
                </c:pt>
                <c:pt idx="270">
                  <c:v>0.92033293697978669</c:v>
                </c:pt>
                <c:pt idx="271">
                  <c:v>0.93261989694807856</c:v>
                </c:pt>
                <c:pt idx="272">
                  <c:v>0.92092746730083319</c:v>
                </c:pt>
                <c:pt idx="273">
                  <c:v>0.93638525564803887</c:v>
                </c:pt>
                <c:pt idx="274">
                  <c:v>0.94371779627427765</c:v>
                </c:pt>
                <c:pt idx="275">
                  <c:v>0.94560047562425786</c:v>
                </c:pt>
                <c:pt idx="276">
                  <c:v>0.9541220768925891</c:v>
                </c:pt>
                <c:pt idx="277">
                  <c:v>0.9497621878715824</c:v>
                </c:pt>
                <c:pt idx="278">
                  <c:v>0.94550138723741672</c:v>
                </c:pt>
                <c:pt idx="279">
                  <c:v>0.95095124851367518</c:v>
                </c:pt>
                <c:pt idx="280">
                  <c:v>0.95986920332937076</c:v>
                </c:pt>
                <c:pt idx="281">
                  <c:v>0.95679746333729776</c:v>
                </c:pt>
                <c:pt idx="282">
                  <c:v>0.95144669044788044</c:v>
                </c:pt>
                <c:pt idx="283">
                  <c:v>0.94807768529528424</c:v>
                </c:pt>
                <c:pt idx="284">
                  <c:v>0.95095124851367507</c:v>
                </c:pt>
                <c:pt idx="285">
                  <c:v>0.96016646848989373</c:v>
                </c:pt>
                <c:pt idx="286">
                  <c:v>0.95342845818470157</c:v>
                </c:pt>
                <c:pt idx="287">
                  <c:v>0.95521204914784053</c:v>
                </c:pt>
                <c:pt idx="288">
                  <c:v>0.9523384859294497</c:v>
                </c:pt>
                <c:pt idx="289">
                  <c:v>0.94312326595323093</c:v>
                </c:pt>
                <c:pt idx="290">
                  <c:v>0.93945699564011176</c:v>
                </c:pt>
                <c:pt idx="291">
                  <c:v>0.94262782401902578</c:v>
                </c:pt>
                <c:pt idx="292">
                  <c:v>0.93489892984542289</c:v>
                </c:pt>
                <c:pt idx="293">
                  <c:v>0.93985334918747598</c:v>
                </c:pt>
                <c:pt idx="294">
                  <c:v>0.94401506143480052</c:v>
                </c:pt>
                <c:pt idx="295">
                  <c:v>0.95957193816884734</c:v>
                </c:pt>
                <c:pt idx="296">
                  <c:v>0.95689655172413857</c:v>
                </c:pt>
                <c:pt idx="297">
                  <c:v>0.95313119302417815</c:v>
                </c:pt>
                <c:pt idx="298">
                  <c:v>0.9473840665873966</c:v>
                </c:pt>
                <c:pt idx="299">
                  <c:v>0.94381688466111846</c:v>
                </c:pt>
                <c:pt idx="300">
                  <c:v>0.93757431629013155</c:v>
                </c:pt>
                <c:pt idx="301">
                  <c:v>0.9364843440348799</c:v>
                </c:pt>
                <c:pt idx="302">
                  <c:v>0.93004359889021082</c:v>
                </c:pt>
                <c:pt idx="303">
                  <c:v>0.95124851367419816</c:v>
                </c:pt>
                <c:pt idx="304">
                  <c:v>0.94312326595323104</c:v>
                </c:pt>
                <c:pt idx="305">
                  <c:v>0.95640110978993331</c:v>
                </c:pt>
                <c:pt idx="306">
                  <c:v>0.95798652397939033</c:v>
                </c:pt>
                <c:pt idx="307">
                  <c:v>0.95174395560840341</c:v>
                </c:pt>
                <c:pt idx="308">
                  <c:v>0.94847403884264836</c:v>
                </c:pt>
                <c:pt idx="309">
                  <c:v>0.94124058660325072</c:v>
                </c:pt>
                <c:pt idx="310">
                  <c:v>0.94589774078478073</c:v>
                </c:pt>
                <c:pt idx="311">
                  <c:v>0.94837495045580722</c:v>
                </c:pt>
                <c:pt idx="312">
                  <c:v>0.96175188267935074</c:v>
                </c:pt>
                <c:pt idx="313">
                  <c:v>0.96868806975822508</c:v>
                </c:pt>
                <c:pt idx="314">
                  <c:v>0.96551724137931116</c:v>
                </c:pt>
                <c:pt idx="315">
                  <c:v>0.97948870392390108</c:v>
                </c:pt>
                <c:pt idx="316">
                  <c:v>0.97998414585810634</c:v>
                </c:pt>
                <c:pt idx="317">
                  <c:v>0.97275069361870881</c:v>
                </c:pt>
                <c:pt idx="318">
                  <c:v>0.97889417360285458</c:v>
                </c:pt>
                <c:pt idx="319">
                  <c:v>0.98057867617915273</c:v>
                </c:pt>
                <c:pt idx="320">
                  <c:v>0.97998414585810634</c:v>
                </c:pt>
                <c:pt idx="321">
                  <c:v>0.9782996432818083</c:v>
                </c:pt>
                <c:pt idx="322">
                  <c:v>0.97106619104241076</c:v>
                </c:pt>
                <c:pt idx="323">
                  <c:v>0.97512881490289416</c:v>
                </c:pt>
                <c:pt idx="324">
                  <c:v>0.98523583036068252</c:v>
                </c:pt>
                <c:pt idx="325">
                  <c:v>0.98900118906064283</c:v>
                </c:pt>
                <c:pt idx="326">
                  <c:v>0.98543400713436458</c:v>
                </c:pt>
                <c:pt idx="327">
                  <c:v>0.98652397938961622</c:v>
                </c:pt>
                <c:pt idx="328">
                  <c:v>0.97661514070551003</c:v>
                </c:pt>
                <c:pt idx="329">
                  <c:v>0.96670630202140373</c:v>
                </c:pt>
                <c:pt idx="330">
                  <c:v>0.97453428458184754</c:v>
                </c:pt>
                <c:pt idx="331">
                  <c:v>0.96819262782401949</c:v>
                </c:pt>
                <c:pt idx="332">
                  <c:v>0.97007530717399981</c:v>
                </c:pt>
                <c:pt idx="333">
                  <c:v>0.96502179944510569</c:v>
                </c:pt>
                <c:pt idx="334">
                  <c:v>0.96125644074514527</c:v>
                </c:pt>
                <c:pt idx="335">
                  <c:v>0.96393182718985393</c:v>
                </c:pt>
                <c:pt idx="336">
                  <c:v>0.97096710265556929</c:v>
                </c:pt>
                <c:pt idx="337">
                  <c:v>0.96611177170035722</c:v>
                </c:pt>
                <c:pt idx="338">
                  <c:v>0.96700356718192693</c:v>
                </c:pt>
                <c:pt idx="339">
                  <c:v>0.96294094332144331</c:v>
                </c:pt>
                <c:pt idx="340">
                  <c:v>0.95412207689258877</c:v>
                </c:pt>
                <c:pt idx="341">
                  <c:v>0.9545184304399531</c:v>
                </c:pt>
                <c:pt idx="342">
                  <c:v>0.9504558065794696</c:v>
                </c:pt>
                <c:pt idx="343">
                  <c:v>0.95451843043995321</c:v>
                </c:pt>
                <c:pt idx="344">
                  <c:v>0.95233848592944981</c:v>
                </c:pt>
                <c:pt idx="345">
                  <c:v>0.95501387237415858</c:v>
                </c:pt>
                <c:pt idx="346">
                  <c:v>0.95461751882679435</c:v>
                </c:pt>
                <c:pt idx="347">
                  <c:v>0.94996036464526434</c:v>
                </c:pt>
                <c:pt idx="348">
                  <c:v>0.94837495045580733</c:v>
                </c:pt>
                <c:pt idx="349">
                  <c:v>0.94550138723741661</c:v>
                </c:pt>
                <c:pt idx="350">
                  <c:v>0.94173602853745619</c:v>
                </c:pt>
                <c:pt idx="351">
                  <c:v>0.94678953626635032</c:v>
                </c:pt>
                <c:pt idx="352">
                  <c:v>0.94262782401902567</c:v>
                </c:pt>
                <c:pt idx="353">
                  <c:v>0.94569956401109856</c:v>
                </c:pt>
                <c:pt idx="354">
                  <c:v>0.94887039239001247</c:v>
                </c:pt>
                <c:pt idx="355">
                  <c:v>0.95015854141894629</c:v>
                </c:pt>
                <c:pt idx="356">
                  <c:v>0.94877130400317156</c:v>
                </c:pt>
                <c:pt idx="357">
                  <c:v>0.94560047562425753</c:v>
                </c:pt>
                <c:pt idx="358">
                  <c:v>0.93955608402695279</c:v>
                </c:pt>
                <c:pt idx="359">
                  <c:v>0.93549346016646917</c:v>
                </c:pt>
                <c:pt idx="360">
                  <c:v>0.94599682917162164</c:v>
                </c:pt>
                <c:pt idx="361">
                  <c:v>0.94421323820848257</c:v>
                </c:pt>
                <c:pt idx="362">
                  <c:v>0.95441934205311196</c:v>
                </c:pt>
                <c:pt idx="363">
                  <c:v>0.95808561236623124</c:v>
                </c:pt>
                <c:pt idx="364">
                  <c:v>0.95986920332937042</c:v>
                </c:pt>
                <c:pt idx="365">
                  <c:v>0.96512088783194661</c:v>
                </c:pt>
                <c:pt idx="366">
                  <c:v>0.96601268331351609</c:v>
                </c:pt>
                <c:pt idx="367">
                  <c:v>0.97126436781609238</c:v>
                </c:pt>
                <c:pt idx="368">
                  <c:v>0.97522790328973485</c:v>
                </c:pt>
                <c:pt idx="369">
                  <c:v>0.96799445105033732</c:v>
                </c:pt>
                <c:pt idx="370">
                  <c:v>0.95154577883472102</c:v>
                </c:pt>
                <c:pt idx="371">
                  <c:v>0.94728497820055535</c:v>
                </c:pt>
                <c:pt idx="372">
                  <c:v>0.94143876337693266</c:v>
                </c:pt>
                <c:pt idx="373">
                  <c:v>0.94282600079270762</c:v>
                </c:pt>
                <c:pt idx="374">
                  <c:v>0.94064605628220421</c:v>
                </c:pt>
                <c:pt idx="375">
                  <c:v>0.93400713436385296</c:v>
                </c:pt>
                <c:pt idx="376">
                  <c:v>0.95065398335315154</c:v>
                </c:pt>
                <c:pt idx="377">
                  <c:v>0.94609591755846256</c:v>
                </c:pt>
                <c:pt idx="378">
                  <c:v>0.93757431629013122</c:v>
                </c:pt>
                <c:pt idx="379">
                  <c:v>0.92736821244550172</c:v>
                </c:pt>
                <c:pt idx="380">
                  <c:v>0.92518826793499842</c:v>
                </c:pt>
                <c:pt idx="381">
                  <c:v>0.92499009116131636</c:v>
                </c:pt>
                <c:pt idx="382">
                  <c:v>0.92617915180340904</c:v>
                </c:pt>
                <c:pt idx="383">
                  <c:v>0.92429647245342883</c:v>
                </c:pt>
                <c:pt idx="384">
                  <c:v>0.92300832342449513</c:v>
                </c:pt>
                <c:pt idx="385">
                  <c:v>0.92548553309552173</c:v>
                </c:pt>
                <c:pt idx="386">
                  <c:v>0.92003567181926327</c:v>
                </c:pt>
                <c:pt idx="387">
                  <c:v>0.9297463337296874</c:v>
                </c:pt>
                <c:pt idx="388">
                  <c:v>0.93301625049544246</c:v>
                </c:pt>
                <c:pt idx="389">
                  <c:v>0.93707887435592596</c:v>
                </c:pt>
                <c:pt idx="390">
                  <c:v>0.93143083630598533</c:v>
                </c:pt>
                <c:pt idx="391">
                  <c:v>0.92954815695600523</c:v>
                </c:pt>
                <c:pt idx="392">
                  <c:v>0.92974633372968729</c:v>
                </c:pt>
                <c:pt idx="393">
                  <c:v>0.93420531113753502</c:v>
                </c:pt>
                <c:pt idx="394">
                  <c:v>0.93242172017439584</c:v>
                </c:pt>
                <c:pt idx="395">
                  <c:v>0.92845818470075347</c:v>
                </c:pt>
                <c:pt idx="396">
                  <c:v>0.92191835116924337</c:v>
                </c:pt>
                <c:pt idx="397">
                  <c:v>0.91587395957193851</c:v>
                </c:pt>
                <c:pt idx="398">
                  <c:v>0.92796274276654811</c:v>
                </c:pt>
                <c:pt idx="399">
                  <c:v>0.91290130796670665</c:v>
                </c:pt>
                <c:pt idx="400">
                  <c:v>0.91379310344827624</c:v>
                </c:pt>
                <c:pt idx="401">
                  <c:v>0.90705509314308397</c:v>
                </c:pt>
                <c:pt idx="402">
                  <c:v>0.90824415378517664</c:v>
                </c:pt>
                <c:pt idx="403">
                  <c:v>0.90130796670630231</c:v>
                </c:pt>
                <c:pt idx="404">
                  <c:v>0.89050733254062664</c:v>
                </c:pt>
                <c:pt idx="405">
                  <c:v>0.89239001189060663</c:v>
                </c:pt>
                <c:pt idx="406">
                  <c:v>0.88991280221958013</c:v>
                </c:pt>
                <c:pt idx="407">
                  <c:v>0.88644470868014291</c:v>
                </c:pt>
                <c:pt idx="408">
                  <c:v>0.88515655965120921</c:v>
                </c:pt>
                <c:pt idx="409">
                  <c:v>0.88912009512485168</c:v>
                </c:pt>
                <c:pt idx="410">
                  <c:v>0.89516448672215643</c:v>
                </c:pt>
                <c:pt idx="411">
                  <c:v>0.89635354736424921</c:v>
                </c:pt>
                <c:pt idx="412">
                  <c:v>0.89992072929052747</c:v>
                </c:pt>
                <c:pt idx="413">
                  <c:v>0.93806975822433647</c:v>
                </c:pt>
                <c:pt idx="414">
                  <c:v>0.95204122076892628</c:v>
                </c:pt>
                <c:pt idx="415">
                  <c:v>0.99019024970273528</c:v>
                </c:pt>
                <c:pt idx="416">
                  <c:v>1.0335909631391207</c:v>
                </c:pt>
                <c:pt idx="417">
                  <c:v>1.1226714229092358</c:v>
                </c:pt>
                <c:pt idx="418">
                  <c:v>1.1906460562822045</c:v>
                </c:pt>
                <c:pt idx="419">
                  <c:v>1.0987911216805397</c:v>
                </c:pt>
                <c:pt idx="420">
                  <c:v>1.1168252080856129</c:v>
                </c:pt>
                <c:pt idx="421">
                  <c:v>1.0844233055885857</c:v>
                </c:pt>
                <c:pt idx="422">
                  <c:v>1.1031510107015463</c:v>
                </c:pt>
                <c:pt idx="423">
                  <c:v>1.0736226714229096</c:v>
                </c:pt>
                <c:pt idx="424">
                  <c:v>1.0644074514466908</c:v>
                </c:pt>
                <c:pt idx="425">
                  <c:v>1.0513277843836706</c:v>
                </c:pt>
                <c:pt idx="426">
                  <c:v>1.0889813713832741</c:v>
                </c:pt>
                <c:pt idx="427">
                  <c:v>1.0890804597701151</c:v>
                </c:pt>
                <c:pt idx="428">
                  <c:v>1.0956202933016252</c:v>
                </c:pt>
                <c:pt idx="429">
                  <c:v>1.0979984145858108</c:v>
                </c:pt>
                <c:pt idx="430">
                  <c:v>1.0854141894569957</c:v>
                </c:pt>
                <c:pt idx="431">
                  <c:v>1.0900713436385259</c:v>
                </c:pt>
                <c:pt idx="432">
                  <c:v>1.0909631391200953</c:v>
                </c:pt>
                <c:pt idx="433">
                  <c:v>1.0804597701149428</c:v>
                </c:pt>
                <c:pt idx="434">
                  <c:v>1.0708481965913597</c:v>
                </c:pt>
                <c:pt idx="435">
                  <c:v>1.0666864843440351</c:v>
                </c:pt>
                <c:pt idx="436">
                  <c:v>1.0678755449861279</c:v>
                </c:pt>
                <c:pt idx="437">
                  <c:v>1.0818470075307178</c:v>
                </c:pt>
                <c:pt idx="438">
                  <c:v>1.1085017835909634</c:v>
                </c:pt>
                <c:pt idx="439">
                  <c:v>1.1003765358699964</c:v>
                </c:pt>
                <c:pt idx="440">
                  <c:v>1.1336702338485931</c:v>
                </c:pt>
                <c:pt idx="441">
                  <c:v>1.1187078874355927</c:v>
                </c:pt>
                <c:pt idx="442">
                  <c:v>1.1214823622671422</c:v>
                </c:pt>
                <c:pt idx="443">
                  <c:v>1.1102853745541021</c:v>
                </c:pt>
                <c:pt idx="444">
                  <c:v>1.1194015061434799</c:v>
                </c:pt>
                <c:pt idx="445">
                  <c:v>1.103448275862069</c:v>
                </c:pt>
                <c:pt idx="446">
                  <c:v>1.0841260404280619</c:v>
                </c:pt>
                <c:pt idx="447">
                  <c:v>1.076397146254459</c:v>
                </c:pt>
                <c:pt idx="448">
                  <c:v>1.0830360681728102</c:v>
                </c:pt>
                <c:pt idx="449">
                  <c:v>1.0848196591359494</c:v>
                </c:pt>
                <c:pt idx="450">
                  <c:v>1.0865041617122473</c:v>
                </c:pt>
                <c:pt idx="451">
                  <c:v>1.0544986127625842</c:v>
                </c:pt>
                <c:pt idx="452">
                  <c:v>1.0472651605231866</c:v>
                </c:pt>
                <c:pt idx="453">
                  <c:v>1.0473642489100277</c:v>
                </c:pt>
                <c:pt idx="454">
                  <c:v>1.0681728101466508</c:v>
                </c:pt>
                <c:pt idx="455">
                  <c:v>1.0583630598493856</c:v>
                </c:pt>
                <c:pt idx="456">
                  <c:v>1.070253666270313</c:v>
                </c:pt>
                <c:pt idx="457">
                  <c:v>1.0790725326991675</c:v>
                </c:pt>
                <c:pt idx="458">
                  <c:v>1.0824415378517636</c:v>
                </c:pt>
                <c:pt idx="459">
                  <c:v>1.0773880301228693</c:v>
                </c:pt>
                <c:pt idx="460">
                  <c:v>1.0738208481965912</c:v>
                </c:pt>
                <c:pt idx="461">
                  <c:v>1.0887831946095914</c:v>
                </c:pt>
                <c:pt idx="462">
                  <c:v>1.0887831946095914</c:v>
                </c:pt>
                <c:pt idx="463">
                  <c:v>1.0980975029726512</c:v>
                </c:pt>
                <c:pt idx="464">
                  <c:v>1.0957193816884656</c:v>
                </c:pt>
                <c:pt idx="465">
                  <c:v>1.1071145461751879</c:v>
                </c:pt>
                <c:pt idx="466">
                  <c:v>1.0810543004359885</c:v>
                </c:pt>
                <c:pt idx="467">
                  <c:v>1.0743162901307963</c:v>
                </c:pt>
                <c:pt idx="468">
                  <c:v>1.0785770907649619</c:v>
                </c:pt>
                <c:pt idx="469">
                  <c:v>1.0828378913991277</c:v>
                </c:pt>
                <c:pt idx="470">
                  <c:v>1.0829369797859687</c:v>
                </c:pt>
                <c:pt idx="471">
                  <c:v>1.0761989694807765</c:v>
                </c:pt>
                <c:pt idx="472">
                  <c:v>1.080162504954419</c:v>
                </c:pt>
                <c:pt idx="473">
                  <c:v>1.0946294094332141</c:v>
                </c:pt>
                <c:pt idx="474">
                  <c:v>1.0962148236226712</c:v>
                </c:pt>
                <c:pt idx="475">
                  <c:v>1.0954221165279425</c:v>
                </c:pt>
                <c:pt idx="476">
                  <c:v>1.0937376139516444</c:v>
                </c:pt>
                <c:pt idx="477">
                  <c:v>1.1003765358699957</c:v>
                </c:pt>
                <c:pt idx="478">
                  <c:v>1.0841260404280615</c:v>
                </c:pt>
                <c:pt idx="479">
                  <c:v>1.0537059056678553</c:v>
                </c:pt>
                <c:pt idx="480">
                  <c:v>1.0427070947284975</c:v>
                </c:pt>
                <c:pt idx="481">
                  <c:v>1.0405271502179942</c:v>
                </c:pt>
                <c:pt idx="482">
                  <c:v>1.046571541815299</c:v>
                </c:pt>
                <c:pt idx="483">
                  <c:v>1.0478596908442328</c:v>
                </c:pt>
                <c:pt idx="484">
                  <c:v>1.0442925089179544</c:v>
                </c:pt>
                <c:pt idx="485">
                  <c:v>1.032401902497027</c:v>
                </c:pt>
                <c:pt idx="486">
                  <c:v>1.0271502179944507</c:v>
                </c:pt>
                <c:pt idx="487">
                  <c:v>1.0532104637336501</c:v>
                </c:pt>
                <c:pt idx="488">
                  <c:v>1.046472453428458</c:v>
                </c:pt>
                <c:pt idx="489">
                  <c:v>1.0484542211652792</c:v>
                </c:pt>
                <c:pt idx="490">
                  <c:v>1.0526159334126037</c:v>
                </c:pt>
                <c:pt idx="491">
                  <c:v>1.0581648830757033</c:v>
                </c:pt>
                <c:pt idx="492">
                  <c:v>1.0578676179151802</c:v>
                </c:pt>
                <c:pt idx="493">
                  <c:v>1.0468688069758221</c:v>
                </c:pt>
                <c:pt idx="494">
                  <c:v>1.0520214030915576</c:v>
                </c:pt>
                <c:pt idx="495">
                  <c:v>1.0613357114546171</c:v>
                </c:pt>
                <c:pt idx="496">
                  <c:v>1.0593539437177959</c:v>
                </c:pt>
                <c:pt idx="497">
                  <c:v>1.0528141101862858</c:v>
                </c:pt>
                <c:pt idx="498">
                  <c:v>1.0647047166072134</c:v>
                </c:pt>
                <c:pt idx="499">
                  <c:v>1.078081648830757</c:v>
                </c:pt>
                <c:pt idx="500">
                  <c:v>1.0789734443123264</c:v>
                </c:pt>
                <c:pt idx="501">
                  <c:v>1.075009908838684</c:v>
                </c:pt>
                <c:pt idx="502">
                  <c:v>1.0853151010701545</c:v>
                </c:pt>
                <c:pt idx="503">
                  <c:v>1.081450653983353</c:v>
                </c:pt>
                <c:pt idx="504">
                  <c:v>1.0908640507332541</c:v>
                </c:pt>
                <c:pt idx="505">
                  <c:v>1.0932421720174395</c:v>
                </c:pt>
                <c:pt idx="506">
                  <c:v>1.0856123662306776</c:v>
                </c:pt>
                <c:pt idx="507">
                  <c:v>1.0938367023384861</c:v>
                </c:pt>
                <c:pt idx="508">
                  <c:v>1.0900713436385256</c:v>
                </c:pt>
                <c:pt idx="509">
                  <c:v>1.1021601268331351</c:v>
                </c:pt>
                <c:pt idx="510">
                  <c:v>1.0992865636147442</c:v>
                </c:pt>
                <c:pt idx="511">
                  <c:v>1.0861078081648829</c:v>
                </c:pt>
                <c:pt idx="512">
                  <c:v>1.0943321442726912</c:v>
                </c:pt>
                <c:pt idx="513">
                  <c:v>1.0991874752279032</c:v>
                </c:pt>
                <c:pt idx="514">
                  <c:v>1.0797661514070549</c:v>
                </c:pt>
                <c:pt idx="515">
                  <c:v>1.0802615933412605</c:v>
                </c:pt>
                <c:pt idx="516">
                  <c:v>1.0783789139912803</c:v>
                </c:pt>
                <c:pt idx="517">
                  <c:v>1.0840269520412207</c:v>
                </c:pt>
                <c:pt idx="518">
                  <c:v>1.0991874752279029</c:v>
                </c:pt>
                <c:pt idx="519">
                  <c:v>1.0965120887831943</c:v>
                </c:pt>
                <c:pt idx="520">
                  <c:v>1.0917558462148231</c:v>
                </c:pt>
                <c:pt idx="521">
                  <c:v>1.094431232659532</c:v>
                </c:pt>
                <c:pt idx="522">
                  <c:v>1.0919540229885054</c:v>
                </c:pt>
                <c:pt idx="523">
                  <c:v>1.0869005152596112</c:v>
                </c:pt>
                <c:pt idx="524">
                  <c:v>1.1143479984145854</c:v>
                </c:pt>
                <c:pt idx="525">
                  <c:v>1.1110780816488304</c:v>
                </c:pt>
                <c:pt idx="526">
                  <c:v>1.1138525564803803</c:v>
                </c:pt>
                <c:pt idx="527">
                  <c:v>1.1144470868014265</c:v>
                </c:pt>
                <c:pt idx="528">
                  <c:v>1.1038446294094328</c:v>
                </c:pt>
                <c:pt idx="529">
                  <c:v>1.0873959571938163</c:v>
                </c:pt>
                <c:pt idx="530">
                  <c:v>1.0942330558858497</c:v>
                </c:pt>
                <c:pt idx="531">
                  <c:v>1.093242172017439</c:v>
                </c:pt>
                <c:pt idx="532">
                  <c:v>1.0895759017043196</c:v>
                </c:pt>
                <c:pt idx="533">
                  <c:v>1.0942330558858497</c:v>
                </c:pt>
                <c:pt idx="534">
                  <c:v>1.0892786365437965</c:v>
                </c:pt>
                <c:pt idx="535">
                  <c:v>1.0835315101070149</c:v>
                </c:pt>
                <c:pt idx="536">
                  <c:v>1.0825406262386044</c:v>
                </c:pt>
                <c:pt idx="537">
                  <c:v>1.0818470075307169</c:v>
                </c:pt>
                <c:pt idx="538">
                  <c:v>1.0750099088386835</c:v>
                </c:pt>
                <c:pt idx="539">
                  <c:v>1.0031708283789134</c:v>
                </c:pt>
                <c:pt idx="540">
                  <c:v>1.0220967102655565</c:v>
                </c:pt>
                <c:pt idx="541">
                  <c:v>1.0259611573523579</c:v>
                </c:pt>
                <c:pt idx="542">
                  <c:v>1.0384462940943318</c:v>
                </c:pt>
                <c:pt idx="543">
                  <c:v>1.0407253269916761</c:v>
                </c:pt>
                <c:pt idx="544">
                  <c:v>1.0434998018232258</c:v>
                </c:pt>
                <c:pt idx="545">
                  <c:v>1.0474633372968682</c:v>
                </c:pt>
                <c:pt idx="546">
                  <c:v>1.0513277843836697</c:v>
                </c:pt>
                <c:pt idx="547">
                  <c:v>1.0527150217994448</c:v>
                </c:pt>
                <c:pt idx="548">
                  <c:v>1.0543995243757429</c:v>
                </c:pt>
                <c:pt idx="549">
                  <c:v>1.0551922314704714</c:v>
                </c:pt>
                <c:pt idx="550">
                  <c:v>1.0569758224336105</c:v>
                </c:pt>
                <c:pt idx="551">
                  <c:v>1.0580657946888623</c:v>
                </c:pt>
                <c:pt idx="552">
                  <c:v>1.0604439159730479</c:v>
                </c:pt>
                <c:pt idx="553">
                  <c:v>1.0603448275862069</c:v>
                </c:pt>
                <c:pt idx="554">
                  <c:v>1.0604439159730479</c:v>
                </c:pt>
                <c:pt idx="555">
                  <c:v>1.0583630598493856</c:v>
                </c:pt>
                <c:pt idx="556">
                  <c:v>1.0556876734046767</c:v>
                </c:pt>
                <c:pt idx="557">
                  <c:v>1.0640110978993262</c:v>
                </c:pt>
                <c:pt idx="558">
                  <c:v>1.0707491082045182</c:v>
                </c:pt>
                <c:pt idx="559">
                  <c:v>1.0766944114149819</c:v>
                </c:pt>
                <c:pt idx="560">
                  <c:v>1.078279825604439</c:v>
                </c:pt>
                <c:pt idx="561">
                  <c:v>1.0896749900911609</c:v>
                </c:pt>
                <c:pt idx="562">
                  <c:v>1.0924494649227106</c:v>
                </c:pt>
                <c:pt idx="563">
                  <c:v>1.1085017835909625</c:v>
                </c:pt>
                <c:pt idx="564">
                  <c:v>1.1012683313515648</c:v>
                </c:pt>
                <c:pt idx="565">
                  <c:v>1.095124851367419</c:v>
                </c:pt>
                <c:pt idx="566">
                  <c:v>1.0927467300832334</c:v>
                </c:pt>
                <c:pt idx="567">
                  <c:v>1.0992865636147433</c:v>
                </c:pt>
                <c:pt idx="568">
                  <c:v>1.106321839080459</c:v>
                </c:pt>
                <c:pt idx="569">
                  <c:v>1.1067181926278231</c:v>
                </c:pt>
                <c:pt idx="570">
                  <c:v>1.0980975029726507</c:v>
                </c:pt>
                <c:pt idx="571">
                  <c:v>1.0915576694411404</c:v>
                </c:pt>
                <c:pt idx="572">
                  <c:v>1.0875941339674979</c:v>
                </c:pt>
                <c:pt idx="573">
                  <c:v>1.0882877526753854</c:v>
                </c:pt>
                <c:pt idx="574">
                  <c:v>1.0916567578279814</c:v>
                </c:pt>
                <c:pt idx="575">
                  <c:v>1.0882877526753856</c:v>
                </c:pt>
                <c:pt idx="576">
                  <c:v>1.0906658739595712</c:v>
                </c:pt>
                <c:pt idx="577">
                  <c:v>1.0931430836305975</c:v>
                </c:pt>
                <c:pt idx="578">
                  <c:v>1.0938367023384852</c:v>
                </c:pt>
                <c:pt idx="579">
                  <c:v>1.0935394371779619</c:v>
                </c:pt>
                <c:pt idx="580">
                  <c:v>1.0959175584621474</c:v>
                </c:pt>
                <c:pt idx="581">
                  <c:v>1.0922512881490281</c:v>
                </c:pt>
                <c:pt idx="582">
                  <c:v>1.1018628616726112</c:v>
                </c:pt>
                <c:pt idx="583">
                  <c:v>1.1019619500594522</c:v>
                </c:pt>
                <c:pt idx="584">
                  <c:v>1.0949266745937367</c:v>
                </c:pt>
                <c:pt idx="585">
                  <c:v>1.09710661910424</c:v>
                </c:pt>
                <c:pt idx="586">
                  <c:v>1.0968093539437169</c:v>
                </c:pt>
                <c:pt idx="587">
                  <c:v>1.0976020610384454</c:v>
                </c:pt>
                <c:pt idx="588">
                  <c:v>1.089080459770114</c:v>
                </c:pt>
                <c:pt idx="589">
                  <c:v>1.093836702338485</c:v>
                </c:pt>
                <c:pt idx="590">
                  <c:v>1.0970075307173988</c:v>
                </c:pt>
                <c:pt idx="591">
                  <c:v>1.1090963139120082</c:v>
                </c:pt>
                <c:pt idx="592">
                  <c:v>1.1241577487118497</c:v>
                </c:pt>
                <c:pt idx="593">
                  <c:v>1.1208878319460946</c:v>
                </c:pt>
                <c:pt idx="594">
                  <c:v>1.1121680539040812</c:v>
                </c:pt>
                <c:pt idx="595">
                  <c:v>1.1142489100277437</c:v>
                </c:pt>
                <c:pt idx="596">
                  <c:v>1.1177170035671806</c:v>
                </c:pt>
                <c:pt idx="597">
                  <c:v>1.1188069758224324</c:v>
                </c:pt>
                <c:pt idx="598">
                  <c:v>1.1262386048355122</c:v>
                </c:pt>
                <c:pt idx="599">
                  <c:v>1.1316884661117703</c:v>
                </c:pt>
                <c:pt idx="600">
                  <c:v>1.1274276654776048</c:v>
                </c:pt>
                <c:pt idx="601">
                  <c:v>1.1328775267538631</c:v>
                </c:pt>
                <c:pt idx="602">
                  <c:v>1.1318866428854526</c:v>
                </c:pt>
                <c:pt idx="603">
                  <c:v>1.1378319460959163</c:v>
                </c:pt>
                <c:pt idx="604">
                  <c:v>1.1402100673801017</c:v>
                </c:pt>
                <c:pt idx="605">
                  <c:v>1.1411018628616711</c:v>
                </c:pt>
                <c:pt idx="606">
                  <c:v>1.1371383273880287</c:v>
                </c:pt>
                <c:pt idx="607">
                  <c:v>1.1337693222354326</c:v>
                </c:pt>
                <c:pt idx="608">
                  <c:v>1.1384264764169625</c:v>
                </c:pt>
                <c:pt idx="609">
                  <c:v>1.1465517241379297</c:v>
                </c:pt>
                <c:pt idx="610">
                  <c:v>1.1526952041220755</c:v>
                </c:pt>
                <c:pt idx="611">
                  <c:v>1.1611177170035658</c:v>
                </c:pt>
                <c:pt idx="612">
                  <c:v>1.163000396353546</c:v>
                </c:pt>
                <c:pt idx="613">
                  <c:v>1.1673602853745526</c:v>
                </c:pt>
                <c:pt idx="614">
                  <c:v>1.1610186286167248</c:v>
                </c:pt>
                <c:pt idx="615">
                  <c:v>1.1623067776456586</c:v>
                </c:pt>
                <c:pt idx="616">
                  <c:v>1.1633967499009101</c:v>
                </c:pt>
                <c:pt idx="617">
                  <c:v>1.1652794292508901</c:v>
                </c:pt>
                <c:pt idx="618">
                  <c:v>1.142588188664287</c:v>
                </c:pt>
                <c:pt idx="619">
                  <c:v>1.1369401506143464</c:v>
                </c:pt>
                <c:pt idx="620">
                  <c:v>1.1409036860879891</c:v>
                </c:pt>
                <c:pt idx="621">
                  <c:v>1.1522988505747112</c:v>
                </c:pt>
                <c:pt idx="622">
                  <c:v>1.1539833531510091</c:v>
                </c:pt>
                <c:pt idx="623">
                  <c:v>1.1540824415378501</c:v>
                </c:pt>
                <c:pt idx="624">
                  <c:v>1.1527942925089163</c:v>
                </c:pt>
                <c:pt idx="625">
                  <c:v>1.1565596512088767</c:v>
                </c:pt>
                <c:pt idx="626">
                  <c:v>1.1652794292508901</c:v>
                </c:pt>
                <c:pt idx="627">
                  <c:v>1.1716210860087179</c:v>
                </c:pt>
                <c:pt idx="628">
                  <c:v>1.1771700356718175</c:v>
                </c:pt>
                <c:pt idx="629">
                  <c:v>1.1858898137138312</c:v>
                </c:pt>
                <c:pt idx="630">
                  <c:v>1.1944114149821623</c:v>
                </c:pt>
                <c:pt idx="631">
                  <c:v>1.1855925485533076</c:v>
                </c:pt>
                <c:pt idx="632">
                  <c:v>1.2017439556084011</c:v>
                </c:pt>
                <c:pt idx="633">
                  <c:v>1.2071938168846592</c:v>
                </c:pt>
                <c:pt idx="634">
                  <c:v>1.2344431232659514</c:v>
                </c:pt>
                <c:pt idx="635">
                  <c:v>1.2576298057867599</c:v>
                </c:pt>
                <c:pt idx="636">
                  <c:v>1.2543598890210048</c:v>
                </c:pt>
                <c:pt idx="637">
                  <c:v>1.2328577090764943</c:v>
                </c:pt>
                <c:pt idx="638">
                  <c:v>1.2516845025762962</c:v>
                </c:pt>
                <c:pt idx="639">
                  <c:v>1.2602061038446273</c:v>
                </c:pt>
                <c:pt idx="640">
                  <c:v>1.2597106619104219</c:v>
                </c:pt>
                <c:pt idx="641">
                  <c:v>1.2555489496630972</c:v>
                </c:pt>
                <c:pt idx="642">
                  <c:v>1.2434601664684877</c:v>
                </c:pt>
                <c:pt idx="643">
                  <c:v>1.2220570749108184</c:v>
                </c:pt>
                <c:pt idx="644">
                  <c:v>1.2445501387237394</c:v>
                </c:pt>
                <c:pt idx="645">
                  <c:v>1.2483154974236998</c:v>
                </c:pt>
                <c:pt idx="646">
                  <c:v>1.2381093935790706</c:v>
                </c:pt>
                <c:pt idx="647">
                  <c:v>1.2392984542211631</c:v>
                </c:pt>
                <c:pt idx="648">
                  <c:v>1.2636741973840646</c:v>
                </c:pt>
                <c:pt idx="649">
                  <c:v>1.2558462148236207</c:v>
                </c:pt>
                <c:pt idx="650">
                  <c:v>1.2600079270709454</c:v>
                </c:pt>
                <c:pt idx="651">
                  <c:v>1.2575307173999188</c:v>
                </c:pt>
                <c:pt idx="652">
                  <c:v>1.267340467697184</c:v>
                </c:pt>
                <c:pt idx="653">
                  <c:v>1.2489100277447465</c:v>
                </c:pt>
                <c:pt idx="654">
                  <c:v>1.2502972651605215</c:v>
                </c:pt>
                <c:pt idx="655">
                  <c:v>1.2564407451446675</c:v>
                </c:pt>
                <c:pt idx="656">
                  <c:v>1.2561434799841444</c:v>
                </c:pt>
                <c:pt idx="657">
                  <c:v>1.2719976218787143</c:v>
                </c:pt>
                <c:pt idx="658">
                  <c:v>1.2772493063812904</c:v>
                </c:pt>
                <c:pt idx="659">
                  <c:v>1.2659532302814096</c:v>
                </c:pt>
                <c:pt idx="660">
                  <c:v>1.2843836702338471</c:v>
                </c:pt>
                <c:pt idx="661">
                  <c:v>1.2866627031311915</c:v>
                </c:pt>
                <c:pt idx="662">
                  <c:v>1.3026159334126026</c:v>
                </c:pt>
                <c:pt idx="663">
                  <c:v>1.2778438367023373</c:v>
                </c:pt>
                <c:pt idx="664">
                  <c:v>1.2686286167261183</c:v>
                </c:pt>
                <c:pt idx="665">
                  <c:v>1.2579270709472836</c:v>
                </c:pt>
                <c:pt idx="666">
                  <c:v>1.2789338089575886</c:v>
                </c:pt>
                <c:pt idx="667">
                  <c:v>1.2832936979785954</c:v>
                </c:pt>
                <c:pt idx="668">
                  <c:v>1.2571343638525549</c:v>
                </c:pt>
                <c:pt idx="669">
                  <c:v>1.2618906064209261</c:v>
                </c:pt>
                <c:pt idx="670">
                  <c:v>1.2774474831549727</c:v>
                </c:pt>
                <c:pt idx="671">
                  <c:v>1.2749702734839463</c:v>
                </c:pt>
                <c:pt idx="672">
                  <c:v>1.2811137534680921</c:v>
                </c:pt>
                <c:pt idx="673">
                  <c:v>1.2915180340864034</c:v>
                </c:pt>
                <c:pt idx="674">
                  <c:v>1.3028141101862847</c:v>
                </c:pt>
                <c:pt idx="675">
                  <c:v>1.2950852160126818</c:v>
                </c:pt>
                <c:pt idx="676">
                  <c:v>1.3096512088783181</c:v>
                </c:pt>
                <c:pt idx="677">
                  <c:v>1.3005350772889404</c:v>
                </c:pt>
                <c:pt idx="678">
                  <c:v>1.2855727308759402</c:v>
                </c:pt>
                <c:pt idx="679">
                  <c:v>1.2879508521601255</c:v>
                </c:pt>
                <c:pt idx="680">
                  <c:v>1.2774474831549727</c:v>
                </c:pt>
                <c:pt idx="681">
                  <c:v>1.2801228695996816</c:v>
                </c:pt>
                <c:pt idx="682">
                  <c:v>1.2977606024573907</c:v>
                </c:pt>
                <c:pt idx="683">
                  <c:v>1.2941934205311123</c:v>
                </c:pt>
                <c:pt idx="684">
                  <c:v>1.3007332540626224</c:v>
                </c:pt>
                <c:pt idx="685">
                  <c:v>1.2915180340864034</c:v>
                </c:pt>
                <c:pt idx="686">
                  <c:v>1.293797066983748</c:v>
                </c:pt>
                <c:pt idx="687">
                  <c:v>1.3074712643678144</c:v>
                </c:pt>
                <c:pt idx="688">
                  <c:v>1.2897344431232645</c:v>
                </c:pt>
                <c:pt idx="689">
                  <c:v>1.2783392786365422</c:v>
                </c:pt>
                <c:pt idx="690">
                  <c:v>1.2718985334918731</c:v>
                </c:pt>
                <c:pt idx="691">
                  <c:v>1.2775465715418135</c:v>
                </c:pt>
                <c:pt idx="692">
                  <c:v>1.2724930638129195</c:v>
                </c:pt>
                <c:pt idx="693">
                  <c:v>1.2476218787158129</c:v>
                </c:pt>
                <c:pt idx="694">
                  <c:v>1.2457391993658327</c:v>
                </c:pt>
                <c:pt idx="695">
                  <c:v>1.254260800634164</c:v>
                </c:pt>
                <c:pt idx="696">
                  <c:v>1.2588188664288529</c:v>
                </c:pt>
                <c:pt idx="697">
                  <c:v>1.2604042806183098</c:v>
                </c:pt>
                <c:pt idx="698">
                  <c:v>1.262386048355131</c:v>
                </c:pt>
                <c:pt idx="699">
                  <c:v>1.2719976218787141</c:v>
                </c:pt>
                <c:pt idx="700">
                  <c:v>1.267241379310343</c:v>
                </c:pt>
                <c:pt idx="701">
                  <c:v>1.2616924296472436</c:v>
                </c:pt>
                <c:pt idx="702">
                  <c:v>1.2655568767340448</c:v>
                </c:pt>
                <c:pt idx="703">
                  <c:v>1.2773483947681312</c:v>
                </c:pt>
                <c:pt idx="704">
                  <c:v>1.281708283789138</c:v>
                </c:pt>
                <c:pt idx="705">
                  <c:v>1.2706103844629391</c:v>
                </c:pt>
                <c:pt idx="706">
                  <c:v>1.2680340864050714</c:v>
                </c:pt>
                <c:pt idx="707">
                  <c:v>1.260998810939356</c:v>
                </c:pt>
                <c:pt idx="708">
                  <c:v>1.2701149425287337</c:v>
                </c:pt>
                <c:pt idx="709">
                  <c:v>1.2652596115735215</c:v>
                </c:pt>
                <c:pt idx="710">
                  <c:v>1.2535671819262761</c:v>
                </c:pt>
                <c:pt idx="711">
                  <c:v>1.2717003567181908</c:v>
                </c:pt>
                <c:pt idx="712">
                  <c:v>1.2688267934997999</c:v>
                </c:pt>
                <c:pt idx="713">
                  <c:v>1.2718985334918731</c:v>
                </c:pt>
                <c:pt idx="714">
                  <c:v>1.2773483947681312</c:v>
                </c:pt>
                <c:pt idx="715">
                  <c:v>1.2805192231470452</c:v>
                </c:pt>
                <c:pt idx="716">
                  <c:v>1.2813119302417737</c:v>
                </c:pt>
                <c:pt idx="717">
                  <c:v>1.2857709076496218</c:v>
                </c:pt>
                <c:pt idx="718">
                  <c:v>1.2891399128022176</c:v>
                </c:pt>
                <c:pt idx="719">
                  <c:v>1.2859690844233038</c:v>
                </c:pt>
                <c:pt idx="720">
                  <c:v>1.289833531510105</c:v>
                </c:pt>
                <c:pt idx="721">
                  <c:v>1.2848791121680518</c:v>
                </c:pt>
                <c:pt idx="722">
                  <c:v>1.3071739992072908</c:v>
                </c:pt>
                <c:pt idx="723">
                  <c:v>1.3291716210860065</c:v>
                </c:pt>
                <c:pt idx="724">
                  <c:v>1.3227308759413376</c:v>
                </c:pt>
                <c:pt idx="725">
                  <c:v>1.3117320650019799</c:v>
                </c:pt>
                <c:pt idx="726">
                  <c:v>1.3174791914387614</c:v>
                </c:pt>
                <c:pt idx="727">
                  <c:v>1.3223345223939735</c:v>
                </c:pt>
                <c:pt idx="728">
                  <c:v>1.3174791914387614</c:v>
                </c:pt>
                <c:pt idx="729">
                  <c:v>1.3115338882282979</c:v>
                </c:pt>
              </c:numCache>
            </c:numRef>
          </c:val>
          <c:smooth val="0"/>
          <c:extLst>
            <c:ext xmlns:c16="http://schemas.microsoft.com/office/drawing/2014/chart" uri="{C3380CC4-5D6E-409C-BE32-E72D297353CC}">
              <c16:uniqueId val="{00000002-83BF-45A9-8FF8-3D99A3E70A66}"/>
            </c:ext>
          </c:extLst>
        </c:ser>
        <c:dLbls>
          <c:showLegendKey val="0"/>
          <c:showVal val="0"/>
          <c:showCatName val="0"/>
          <c:showSerName val="0"/>
          <c:showPercent val="0"/>
          <c:showBubbleSize val="0"/>
        </c:dLbls>
        <c:marker val="1"/>
        <c:smooth val="0"/>
        <c:axId val="1356356543"/>
        <c:axId val="1356357791"/>
      </c:lineChart>
      <c:dateAx>
        <c:axId val="1356356543"/>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prstDash val="solid"/>
            <a:round/>
          </a:ln>
        </c:spPr>
        <c:txPr>
          <a:bodyPr rot="-60000000" vert="horz"/>
          <a:lstStyle/>
          <a:p>
            <a:pPr>
              <a:defRPr/>
            </a:pPr>
            <a:endParaRPr lang="zh-CN"/>
          </a:p>
        </c:txPr>
        <c:crossAx val="1356357791"/>
        <c:crosses val="autoZero"/>
        <c:auto val="0"/>
        <c:lblOffset val="100"/>
        <c:baseTimeUnit val="days"/>
        <c:majorUnit val="1"/>
        <c:majorTimeUnit val="years"/>
      </c:dateAx>
      <c:valAx>
        <c:axId val="1356357791"/>
        <c:scaling>
          <c:orientation val="minMax"/>
          <c:min val="0.70000000000000007"/>
        </c:scaling>
        <c:delete val="0"/>
        <c:axPos val="l"/>
        <c:numFmt formatCode="General" sourceLinked="1"/>
        <c:majorTickMark val="none"/>
        <c:minorTickMark val="none"/>
        <c:tickLblPos val="nextTo"/>
        <c:spPr>
          <a:noFill/>
          <a:ln>
            <a:noFill/>
            <a:prstDash val="solid"/>
          </a:ln>
        </c:spPr>
        <c:txPr>
          <a:bodyPr rot="-60000000" vert="horz"/>
          <a:lstStyle/>
          <a:p>
            <a:pPr>
              <a:defRPr/>
            </a:pPr>
            <a:endParaRPr lang="zh-CN"/>
          </a:p>
        </c:txPr>
        <c:crossAx val="1356356543"/>
        <c:crosses val="autoZero"/>
        <c:crossBetween val="between"/>
      </c:valAx>
      <c:valAx>
        <c:axId val="810345168"/>
        <c:scaling>
          <c:orientation val="minMax"/>
        </c:scaling>
        <c:delete val="0"/>
        <c:axPos val="r"/>
        <c:numFmt formatCode="0.00" sourceLinked="1"/>
        <c:majorTickMark val="out"/>
        <c:minorTickMark val="none"/>
        <c:tickLblPos val="nextTo"/>
        <c:crossAx val="810360144"/>
        <c:crosses val="max"/>
        <c:crossBetween val="between"/>
      </c:valAx>
      <c:catAx>
        <c:axId val="810360144"/>
        <c:scaling>
          <c:orientation val="minMax"/>
        </c:scaling>
        <c:delete val="1"/>
        <c:axPos val="b"/>
        <c:numFmt formatCode="yyyy\-mm\-dd" sourceLinked="1"/>
        <c:majorTickMark val="out"/>
        <c:minorTickMark val="none"/>
        <c:tickLblPos val="nextTo"/>
        <c:crossAx val="810345168"/>
        <c:crosses val="autoZero"/>
        <c:auto val="0"/>
        <c:lblAlgn val="ctr"/>
        <c:lblOffset val="100"/>
        <c:noMultiLvlLbl val="0"/>
      </c:catAx>
    </c:plotArea>
    <c:legend>
      <c:legendPos val="b"/>
      <c:overlay val="0"/>
      <c:spPr>
        <a:noFill/>
        <a:ln>
          <a:noFill/>
          <a:prstDash val="solid"/>
        </a:ln>
      </c:spPr>
      <c:txPr>
        <a:bodyPr rot="0" vert="horz"/>
        <a:lstStyle/>
        <a:p>
          <a:pPr>
            <a:defRPr/>
          </a:pPr>
          <a:endParaRPr lang="zh-CN"/>
        </a:p>
      </c:txPr>
    </c:legend>
    <c:plotVisOnly val="1"/>
    <c:dispBlanksAs val="gap"/>
    <c:showDLblsOverMax val="0"/>
  </c:chart>
  <c:spPr>
    <a:ln>
      <a:noFill/>
    </a:ln>
  </c:spPr>
  <c:txPr>
    <a:bodyPr/>
    <a:lstStyle/>
    <a:p>
      <a:pPr>
        <a:defRPr sz="1200"/>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fld id="{BC680E47-062E-42E7-8E27-4B060F702E15}" type="datetimeFigureOut">
              <a:rPr lang="zh-CN" altLang="en-US" smtClean="0"/>
              <a:t>2026/6/29</a:t>
            </a:fld>
            <a:endParaRPr lang="zh-CN" altLang="en-US"/>
          </a:p>
        </p:txBody>
      </p:sp>
      <p:sp>
        <p:nvSpPr>
          <p:cNvPr id="4" name="页脚占位符 3"/>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D39E3FCF-2251-42BD-9B69-0781D19898E5}" type="slidenum">
              <a:rPr lang="zh-CN" altLang="en-US" smtClean="0"/>
              <a:t>‹#›</a:t>
            </a:fld>
            <a:endParaRPr lang="zh-CN" altLang="en-US"/>
          </a:p>
        </p:txBody>
      </p:sp>
    </p:spTree>
    <p:extLst>
      <p:ext uri="{BB962C8B-B14F-4D97-AF65-F5344CB8AC3E}">
        <p14:creationId xmlns:p14="http://schemas.microsoft.com/office/powerpoint/2010/main" val="1375370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8427" cy="513508"/>
          </a:xfrm>
          <a:prstGeom prst="rect">
            <a:avLst/>
          </a:prstGeom>
        </p:spPr>
        <p:txBody>
          <a:bodyPr vert="horz" lIns="94796" tIns="47398" rIns="94796" bIns="47398" rtlCol="0"/>
          <a:lstStyle>
            <a:lvl1pPr algn="l">
              <a:defRPr sz="1200"/>
            </a:lvl1pPr>
          </a:lstStyle>
          <a:p>
            <a:endParaRPr lang="zh-CN" altLang="en-US"/>
          </a:p>
        </p:txBody>
      </p:sp>
      <p:sp>
        <p:nvSpPr>
          <p:cNvPr id="3" name="日期占位符 2"/>
          <p:cNvSpPr>
            <a:spLocks noGrp="1"/>
          </p:cNvSpPr>
          <p:nvPr>
            <p:ph type="dt" idx="1"/>
          </p:nvPr>
        </p:nvSpPr>
        <p:spPr>
          <a:xfrm>
            <a:off x="4023994" y="0"/>
            <a:ext cx="3078427" cy="513508"/>
          </a:xfrm>
          <a:prstGeom prst="rect">
            <a:avLst/>
          </a:prstGeom>
        </p:spPr>
        <p:txBody>
          <a:bodyPr vert="horz" lIns="94796" tIns="47398" rIns="94796" bIns="47398" rtlCol="0"/>
          <a:lstStyle>
            <a:lvl1pPr algn="r">
              <a:defRPr sz="1200"/>
            </a:lvl1pPr>
          </a:lstStyle>
          <a:p>
            <a:fld id="{F466E333-F744-46C7-88DA-8F6BA4E5E4E9}"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2579688" y="1279525"/>
            <a:ext cx="1944687" cy="3454400"/>
          </a:xfrm>
          <a:prstGeom prst="rect">
            <a:avLst/>
          </a:prstGeom>
          <a:noFill/>
          <a:ln w="12700">
            <a:solidFill>
              <a:prstClr val="black"/>
            </a:solidFill>
          </a:ln>
        </p:spPr>
        <p:txBody>
          <a:bodyPr vert="horz" lIns="94796" tIns="47398" rIns="94796" bIns="47398"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4796" tIns="47398" rIns="94796" bIns="47398"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721108"/>
            <a:ext cx="3078427" cy="513507"/>
          </a:xfrm>
          <a:prstGeom prst="rect">
            <a:avLst/>
          </a:prstGeom>
        </p:spPr>
        <p:txBody>
          <a:bodyPr vert="horz" lIns="94796" tIns="47398" rIns="94796" bIns="47398"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994" y="9721108"/>
            <a:ext cx="3078427" cy="513507"/>
          </a:xfrm>
          <a:prstGeom prst="rect">
            <a:avLst/>
          </a:prstGeom>
        </p:spPr>
        <p:txBody>
          <a:bodyPr vert="horz" lIns="94796" tIns="47398" rIns="94796" bIns="47398" rtlCol="0" anchor="b"/>
          <a:lstStyle>
            <a:lvl1pPr algn="r">
              <a:defRPr sz="1200"/>
            </a:lvl1pPr>
          </a:lstStyle>
          <a:p>
            <a:fld id="{4B143227-131F-41B2-AE7E-B24FCA1DF9A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143227-131F-41B2-AE7E-B24FCA1DF9A4}" type="slidenum">
              <a:rPr lang="zh-CN" altLang="en-US" smtClean="0"/>
              <a:t>4</a:t>
            </a:fld>
            <a:endParaRPr lang="zh-CN" altLang="en-US"/>
          </a:p>
        </p:txBody>
      </p:sp>
    </p:spTree>
    <p:extLst>
      <p:ext uri="{BB962C8B-B14F-4D97-AF65-F5344CB8AC3E}">
        <p14:creationId xmlns:p14="http://schemas.microsoft.com/office/powerpoint/2010/main" val="1330588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143227-131F-41B2-AE7E-B24FCA1DF9A4}" type="slidenum">
              <a:rPr lang="zh-CN" altLang="en-US" smtClean="0"/>
              <a:t>11</a:t>
            </a:fld>
            <a:endParaRPr lang="zh-CN" altLang="en-US"/>
          </a:p>
        </p:txBody>
      </p:sp>
    </p:spTree>
    <p:extLst>
      <p:ext uri="{BB962C8B-B14F-4D97-AF65-F5344CB8AC3E}">
        <p14:creationId xmlns:p14="http://schemas.microsoft.com/office/powerpoint/2010/main" val="537578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143227-131F-41B2-AE7E-B24FCA1DF9A4}" type="slidenum">
              <a:rPr lang="zh-CN" altLang="en-US" smtClean="0"/>
              <a:t>12</a:t>
            </a:fld>
            <a:endParaRPr lang="zh-CN" altLang="en-US"/>
          </a:p>
        </p:txBody>
      </p:sp>
    </p:spTree>
    <p:extLst>
      <p:ext uri="{BB962C8B-B14F-4D97-AF65-F5344CB8AC3E}">
        <p14:creationId xmlns:p14="http://schemas.microsoft.com/office/powerpoint/2010/main" val="2328619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143227-131F-41B2-AE7E-B24FCA1DF9A4}" type="slidenum">
              <a:rPr lang="zh-CN" altLang="en-US" smtClean="0"/>
              <a:t>14</a:t>
            </a:fld>
            <a:endParaRPr lang="zh-CN" altLang="en-US"/>
          </a:p>
        </p:txBody>
      </p:sp>
    </p:spTree>
    <p:extLst>
      <p:ext uri="{BB962C8B-B14F-4D97-AF65-F5344CB8AC3E}">
        <p14:creationId xmlns:p14="http://schemas.microsoft.com/office/powerpoint/2010/main" val="2106961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579688" y="1279525"/>
            <a:ext cx="1944687"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143227-131F-41B2-AE7E-B24FCA1DF9A4}" type="slidenum">
              <a:rPr lang="zh-CN" altLang="en-US" smtClean="0"/>
              <a:t>25</a:t>
            </a:fld>
            <a:endParaRPr lang="zh-CN" altLang="en-US"/>
          </a:p>
        </p:txBody>
      </p:sp>
    </p:spTree>
    <p:extLst>
      <p:ext uri="{BB962C8B-B14F-4D97-AF65-F5344CB8AC3E}">
        <p14:creationId xmlns:p14="http://schemas.microsoft.com/office/powerpoint/2010/main" val="520791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579688" y="1279525"/>
            <a:ext cx="1944687" cy="34544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143227-131F-41B2-AE7E-B24FCA1DF9A4}" type="slidenum">
              <a:rPr lang="zh-CN" altLang="en-US" smtClean="0"/>
              <a:t>26</a:t>
            </a:fld>
            <a:endParaRPr lang="zh-CN" altLang="en-US"/>
          </a:p>
        </p:txBody>
      </p:sp>
    </p:spTree>
    <p:extLst>
      <p:ext uri="{BB962C8B-B14F-4D97-AF65-F5344CB8AC3E}">
        <p14:creationId xmlns:p14="http://schemas.microsoft.com/office/powerpoint/2010/main" val="3342893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矩形 6"/>
          <p:cNvSpPr/>
          <p:nvPr userDrawn="1"/>
        </p:nvSpPr>
        <p:spPr>
          <a:xfrm>
            <a:off x="1741716" y="11814629"/>
            <a:ext cx="5450114" cy="246221"/>
          </a:xfrm>
          <a:prstGeom prst="rect">
            <a:avLst/>
          </a:prstGeom>
        </p:spPr>
        <p:txBody>
          <a:bodyPr wrap="square">
            <a:spAutoFit/>
          </a:bodyPr>
          <a:lstStyle/>
          <a:p>
            <a:r>
              <a:rPr lang="zh-CN" altLang="en-US" sz="1000" baseline="0" dirty="0">
                <a:solidFill>
                  <a:schemeClr val="bg2">
                    <a:lumMod val="75000"/>
                  </a:schemeClr>
                </a:solidFill>
              </a:rPr>
              <a:t>数据来源：</a:t>
            </a:r>
            <a:r>
              <a:rPr lang="en-US" altLang="zh-CN" sz="1000" baseline="0" dirty="0">
                <a:solidFill>
                  <a:schemeClr val="bg2">
                    <a:lumMod val="75000"/>
                  </a:schemeClr>
                </a:solidFill>
              </a:rPr>
              <a:t>WIND </a:t>
            </a:r>
            <a:r>
              <a:rPr lang="zh-CN" altLang="en-US" sz="1000" baseline="0" dirty="0">
                <a:solidFill>
                  <a:schemeClr val="bg2">
                    <a:lumMod val="75000"/>
                  </a:schemeClr>
                </a:solidFill>
              </a:rPr>
              <a:t>，截至</a:t>
            </a:r>
            <a:r>
              <a:rPr lang="en-US" altLang="zh-CN" sz="1000" baseline="0" dirty="0">
                <a:solidFill>
                  <a:schemeClr val="bg2">
                    <a:lumMod val="75000"/>
                  </a:schemeClr>
                </a:solidFill>
              </a:rPr>
              <a:t>2026/2/28</a:t>
            </a:r>
            <a:r>
              <a:rPr lang="zh-CN" altLang="en-US" sz="1000" baseline="0" dirty="0">
                <a:solidFill>
                  <a:schemeClr val="bg2">
                    <a:lumMod val="75000"/>
                  </a:schemeClr>
                </a:solidFill>
              </a:rPr>
              <a:t>。涉及第三方预测数据仅供参考，不作为投资建议。</a:t>
            </a:r>
            <a:endParaRPr lang="zh-CN" altLang="en-US" sz="1000" baseline="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文本框 6"/>
          <p:cNvSpPr txBox="1"/>
          <p:nvPr userDrawn="1"/>
        </p:nvSpPr>
        <p:spPr>
          <a:xfrm>
            <a:off x="4152900" y="2108707"/>
            <a:ext cx="2705099" cy="405893"/>
          </a:xfrm>
          <a:prstGeom prst="rect">
            <a:avLst/>
          </a:prstGeom>
          <a:noFill/>
        </p:spPr>
        <p:txBody>
          <a:bodyPr wrap="square" rtlCol="0">
            <a:spAutoFit/>
          </a:bodyPr>
          <a:lstStyle/>
          <a:p>
            <a:r>
              <a:rPr lang="zh-CN" altLang="en-US" sz="1000" dirty="0">
                <a:solidFill>
                  <a:schemeClr val="accent3">
                    <a:lumMod val="60000"/>
                    <a:lumOff val="40000"/>
                  </a:schemeClr>
                </a:solidFill>
                <a:effectLst>
                  <a:outerShdw blurRad="50800" dist="50800" dir="5400000" algn="ctr" rotWithShape="0">
                    <a:schemeClr val="accent3">
                      <a:lumMod val="20000"/>
                      <a:lumOff val="80000"/>
                    </a:schemeClr>
                  </a:outerShdw>
                </a:effectLst>
              </a:rPr>
              <a:t>雷达图综合得分仅对渠道和机构客户参考，不得对个人投资者宣传</a:t>
            </a:r>
          </a:p>
        </p:txBody>
      </p:sp>
      <p:sp>
        <p:nvSpPr>
          <p:cNvPr id="8" name="矩形 7"/>
          <p:cNvSpPr/>
          <p:nvPr userDrawn="1"/>
        </p:nvSpPr>
        <p:spPr>
          <a:xfrm>
            <a:off x="1741716" y="11814629"/>
            <a:ext cx="5450114" cy="246221"/>
          </a:xfrm>
          <a:prstGeom prst="rect">
            <a:avLst/>
          </a:prstGeom>
        </p:spPr>
        <p:txBody>
          <a:bodyPr wrap="square">
            <a:spAutoFit/>
          </a:bodyPr>
          <a:lstStyle/>
          <a:p>
            <a:r>
              <a:rPr lang="zh-CN" altLang="en-US" sz="1000" baseline="0" dirty="0">
                <a:solidFill>
                  <a:schemeClr val="bg2">
                    <a:lumMod val="75000"/>
                  </a:schemeClr>
                </a:solidFill>
              </a:rPr>
              <a:t>数据来源：</a:t>
            </a:r>
            <a:r>
              <a:rPr lang="en-US" altLang="zh-CN" sz="1000" baseline="0" dirty="0">
                <a:solidFill>
                  <a:schemeClr val="bg2">
                    <a:lumMod val="75000"/>
                  </a:schemeClr>
                </a:solidFill>
              </a:rPr>
              <a:t>WIND </a:t>
            </a:r>
            <a:r>
              <a:rPr lang="zh-CN" altLang="en-US" sz="1000" baseline="0" dirty="0">
                <a:solidFill>
                  <a:schemeClr val="bg2">
                    <a:lumMod val="75000"/>
                  </a:schemeClr>
                </a:solidFill>
              </a:rPr>
              <a:t>，截至</a:t>
            </a:r>
            <a:r>
              <a:rPr lang="en-US" altLang="zh-CN" sz="1000" baseline="0" dirty="0">
                <a:solidFill>
                  <a:schemeClr val="bg2">
                    <a:lumMod val="75000"/>
                  </a:schemeClr>
                </a:solidFill>
              </a:rPr>
              <a:t>2026/2/28</a:t>
            </a:r>
            <a:r>
              <a:rPr lang="zh-CN" altLang="en-US" sz="1000" baseline="0" dirty="0">
                <a:solidFill>
                  <a:schemeClr val="bg2">
                    <a:lumMod val="75000"/>
                  </a:schemeClr>
                </a:solidFill>
              </a:rPr>
              <a:t>。涉及第三方预测数据仅供参考，不作为投资建议。</a:t>
            </a:r>
            <a:endParaRPr lang="zh-CN" altLang="en-US" sz="1000" baseline="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472381" y="4453467"/>
            <a:ext cx="2901255" cy="655037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3471863" y="4453467"/>
            <a:ext cx="2915543" cy="655037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C515871-AE98-41FE-9A59-752DA4CF6BBB}" type="datetime1">
              <a:rPr lang="zh-CN" altLang="en-US" smtClean="0"/>
              <a:t>2026/6/29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E1A3532-0BA7-4C0D-AB47-887BE5FFB2D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A1E6985-7142-4EB9-A8DA-7DE161C4A975}" type="datetime1">
              <a:rPr lang="zh-CN" altLang="en-US" smtClean="0"/>
              <a:t>2026/6/29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E1A3532-0BA7-4C0D-AB47-887BE5FFB2D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E94CCE-AC97-417F-AE15-633A2CF1BD67}" type="datetime1">
              <a:rPr lang="zh-CN" altLang="en-US" smtClean="0"/>
              <a:t>2026/6/29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E1A3532-0BA7-4C0D-AB47-887BE5FFB2D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612BBF17-D239-4AA4-92AC-383F19F223A0}" type="datetime1">
              <a:rPr lang="zh-CN" altLang="en-US" smtClean="0"/>
              <a:t>2026/6/29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E1A3532-0BA7-4C0D-AB47-887BE5FFB2D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CAD5B9F2-AABA-494F-86E0-546DA5D4FC9A}" type="datetime1">
              <a:rPr lang="zh-CN" altLang="en-US" smtClean="0"/>
              <a:t>2026/6/29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E1A3532-0BA7-4C0D-AB47-887BE5FFB2D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7735090-39D9-4CBB-A487-EF2B9253420E}" type="datetime1">
              <a:rPr lang="zh-CN" altLang="en-US" smtClean="0"/>
              <a:t>2026/6/29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E1A3532-0BA7-4C0D-AB47-887BE5FFB2D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471488" y="649111"/>
            <a:ext cx="4350544" cy="1033215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6E35691-AA9D-4A89-B8FA-E15A0588035F}" type="datetime1">
              <a:rPr lang="zh-CN" altLang="en-US" smtClean="0"/>
              <a:t>2026/6/29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E1A3532-0BA7-4C0D-AB47-887BE5FFB2D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E358595-17B8-42E4-A5B6-02765B4CE2DE}" type="datetime1">
              <a:rPr lang="zh-CN" altLang="en-US" smtClean="0"/>
              <a:t>2026/6/29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E1A3532-0BA7-4C0D-AB47-887BE5FFB2D2}" type="slidenum">
              <a:rPr lang="zh-CN" altLang="en-US" smtClean="0"/>
              <a:t>‹#›</a:t>
            </a:fld>
            <a:endParaRPr lang="zh-CN" altLang="en-US"/>
          </a:p>
        </p:txBody>
      </p:sp>
    </p:spTree>
    <p:extLst>
      <p:ext uri="{BB962C8B-B14F-4D97-AF65-F5344CB8AC3E}">
        <p14:creationId xmlns:p14="http://schemas.microsoft.com/office/powerpoint/2010/main" val="8305820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2489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矩形 6"/>
          <p:cNvSpPr/>
          <p:nvPr userDrawn="1"/>
        </p:nvSpPr>
        <p:spPr>
          <a:xfrm>
            <a:off x="1741716" y="11814629"/>
            <a:ext cx="5450114"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数据来源：</a:t>
            </a:r>
            <a:r>
              <a:rPr kumimoji="0" lang="en-US" altLang="zh-CN"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WIND </a:t>
            </a: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，截至</a:t>
            </a:r>
            <a:r>
              <a:rPr kumimoji="0" lang="en-US" altLang="zh-CN"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2024/11/30</a:t>
            </a: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。涉及第三方预测数据仅供参考，不作为投资建议。</a:t>
            </a:r>
            <a:endParaRPr kumimoji="0" lang="zh-CN" altLang="en-US" sz="10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13929341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文本框 6"/>
          <p:cNvSpPr txBox="1"/>
          <p:nvPr userDrawn="1"/>
        </p:nvSpPr>
        <p:spPr>
          <a:xfrm>
            <a:off x="4152900" y="2108707"/>
            <a:ext cx="2705099" cy="40589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A5A5A5">
                    <a:lumMod val="60000"/>
                    <a:lumOff val="40000"/>
                  </a:srgbClr>
                </a:solidFill>
                <a:effectLst>
                  <a:outerShdw blurRad="50800" dist="50800" dir="5400000" algn="ctr" rotWithShape="0">
                    <a:srgbClr val="A5A5A5">
                      <a:lumMod val="20000"/>
                      <a:lumOff val="80000"/>
                    </a:srgbClr>
                  </a:outerShdw>
                </a:effectLst>
                <a:uLnTx/>
                <a:uFillTx/>
                <a:latin typeface="Calibri"/>
                <a:ea typeface="等线" panose="02010600030101010101" pitchFamily="2" charset="-122"/>
                <a:cs typeface="+mn-cs"/>
              </a:rPr>
              <a:t>雷达图综合得分仅对渠道和机构客户参考，不得对个人投资者宣传</a:t>
            </a:r>
          </a:p>
        </p:txBody>
      </p:sp>
      <p:sp>
        <p:nvSpPr>
          <p:cNvPr id="8" name="矩形 7"/>
          <p:cNvSpPr/>
          <p:nvPr userDrawn="1"/>
        </p:nvSpPr>
        <p:spPr>
          <a:xfrm>
            <a:off x="1741716" y="11814629"/>
            <a:ext cx="5450114"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数据来源：</a:t>
            </a:r>
            <a:r>
              <a:rPr kumimoji="0" lang="en-US" altLang="zh-CN"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WIND </a:t>
            </a: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，截至</a:t>
            </a:r>
            <a:r>
              <a:rPr kumimoji="0" lang="en-US" altLang="zh-CN"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2024/11/30</a:t>
            </a: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。涉及第三方预测数据仅供参考，不作为投资建议。</a:t>
            </a:r>
            <a:endParaRPr kumimoji="0" lang="zh-CN" altLang="en-US" sz="10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17085556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445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472381" y="4453467"/>
            <a:ext cx="2901255" cy="655037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3471863" y="4453467"/>
            <a:ext cx="2915543" cy="6550379"/>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C515871-AE98-41FE-9A59-752DA4CF6BBB}" type="datetime1">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2026/6/29</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E1A3532-0BA7-4C0D-AB47-887BE5FFB2D2}" type="slidenum">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27809961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A1E6985-7142-4EB9-A8DA-7DE161C4A975}" type="datetime1">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2026/6/29</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E1A3532-0BA7-4C0D-AB47-887BE5FFB2D2}" type="slidenum">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1097143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5E94CCE-AC97-417F-AE15-633A2CF1BD67}" type="datetime1">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2026/6/29</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E1A3532-0BA7-4C0D-AB47-887BE5FFB2D2}" type="slidenum">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27781161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12BBF17-D239-4AA4-92AC-383F19F223A0}" type="datetime1">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2026/6/29</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E1A3532-0BA7-4C0D-AB47-887BE5FFB2D2}" type="slidenum">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6231194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AD5B9F2-AABA-494F-86E0-546DA5D4FC9A}" type="datetime1">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2026/6/29</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E1A3532-0BA7-4C0D-AB47-887BE5FFB2D2}" type="slidenum">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1865575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7735090-39D9-4CBB-A487-EF2B9253420E}" type="datetime1">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2026/6/29</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E1A3532-0BA7-4C0D-AB47-887BE5FFB2D2}" type="slidenum">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15579246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471488" y="649111"/>
            <a:ext cx="4350544" cy="1033215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6E35691-AA9D-4A89-B8FA-E15A0588035F}" type="datetime1">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2026/6/29</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E1A3532-0BA7-4C0D-AB47-887BE5FFB2D2}" type="slidenum">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19564659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7" name="文本框 6"/>
          <p:cNvSpPr txBox="1"/>
          <p:nvPr userDrawn="1"/>
        </p:nvSpPr>
        <p:spPr>
          <a:xfrm>
            <a:off x="4152900" y="2108707"/>
            <a:ext cx="2705099" cy="40589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A5A5A5">
                    <a:lumMod val="60000"/>
                    <a:lumOff val="40000"/>
                  </a:srgbClr>
                </a:solidFill>
                <a:effectLst>
                  <a:outerShdw blurRad="50800" dist="50800" dir="5400000" algn="ctr" rotWithShape="0">
                    <a:srgbClr val="A5A5A5">
                      <a:lumMod val="20000"/>
                      <a:lumOff val="80000"/>
                    </a:srgbClr>
                  </a:outerShdw>
                </a:effectLst>
                <a:uLnTx/>
                <a:uFillTx/>
                <a:latin typeface="Calibri"/>
                <a:ea typeface="等线" panose="02010600030101010101" pitchFamily="2" charset="-122"/>
                <a:cs typeface="+mn-cs"/>
              </a:rPr>
              <a:t>雷达图综合得分仅对渠道和机构客户参考，不得对个人投资者宣传</a:t>
            </a:r>
          </a:p>
        </p:txBody>
      </p:sp>
      <p:sp>
        <p:nvSpPr>
          <p:cNvPr id="8" name="矩形 7"/>
          <p:cNvSpPr/>
          <p:nvPr userDrawn="1"/>
        </p:nvSpPr>
        <p:spPr>
          <a:xfrm>
            <a:off x="1741716" y="11814629"/>
            <a:ext cx="5450114" cy="24622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数据来源：</a:t>
            </a:r>
            <a:r>
              <a:rPr kumimoji="0" lang="en-US" altLang="zh-CN"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WIND </a:t>
            </a: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，截至</a:t>
            </a:r>
            <a:r>
              <a:rPr kumimoji="0" lang="en-US" altLang="zh-CN"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2024/08/31</a:t>
            </a:r>
            <a:r>
              <a:rPr kumimoji="0" lang="zh-CN" altLang="en-US" sz="1000" b="0" i="0" u="none" strike="noStrike" kern="1200" cap="none" spc="0" normalizeH="0" baseline="0" noProof="0" dirty="0">
                <a:ln>
                  <a:noFill/>
                </a:ln>
                <a:solidFill>
                  <a:srgbClr val="E7E6E6">
                    <a:lumMod val="75000"/>
                  </a:srgbClr>
                </a:solidFill>
                <a:effectLst/>
                <a:uLnTx/>
                <a:uFillTx/>
                <a:latin typeface="Calibri"/>
                <a:ea typeface="等线" panose="02010600030101010101" pitchFamily="2" charset="-122"/>
                <a:cs typeface="+mn-cs"/>
              </a:rPr>
              <a:t>。涉及第三方预测数据仅供参考，不作为投资建议。</a:t>
            </a:r>
            <a:endParaRPr kumimoji="0" lang="zh-CN" altLang="en-US" sz="1000" b="0" i="0" u="none" strike="noStrike" kern="1200" cap="none" spc="0" normalizeH="0" baseline="0" noProof="0" dirty="0">
              <a:ln>
                <a:noFill/>
              </a:ln>
              <a:solidFill>
                <a:prstClr val="black"/>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15465353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E358595-17B8-42E4-A5B6-02765B4CE2DE}" type="datetime1">
              <a:rPr lang="zh-CN" altLang="en-US" smtClean="0"/>
              <a:t>2026/6/29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E1A3532-0BA7-4C0D-AB47-887BE5FFB2D2}" type="slidenum">
              <a:rPr lang="zh-CN" altLang="en-US" smtClean="0"/>
              <a:t>‹#›</a:t>
            </a:fld>
            <a:endParaRPr lang="zh-CN" altLang="en-US"/>
          </a:p>
        </p:txBody>
      </p:sp>
    </p:spTree>
    <p:extLst>
      <p:ext uri="{BB962C8B-B14F-4D97-AF65-F5344CB8AC3E}">
        <p14:creationId xmlns:p14="http://schemas.microsoft.com/office/powerpoint/2010/main" val="2726451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75000"/>
                  </a:schemeClr>
                </a:solidFill>
              </a:defRPr>
            </a:lvl1pPr>
          </a:lstStyle>
          <a:p>
            <a:fld id="{C232963D-D371-44CB-A9AA-CC3CE96BE748}" type="datetime1">
              <a:rPr lang="zh-CN" altLang="en-US" smtClean="0"/>
              <a:t>2026/6/29</a:t>
            </a:fld>
            <a:endParaRPr lang="zh-CN" altLang="en-US"/>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75000"/>
                  </a:schemeClr>
                </a:solidFill>
              </a:defRPr>
            </a:lvl1pPr>
          </a:lstStyle>
          <a:p>
            <a:fld id="{AE1A3532-0BA7-4C0D-AB47-887BE5FF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C232963D-D371-44CB-A9AA-CC3CE96BE748}" type="datetime1">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l" defTabSz="457200" rtl="0" eaLnBrk="1" fontAlgn="auto" latinLnBrk="0" hangingPunct="1">
                <a:lnSpc>
                  <a:spcPct val="100000"/>
                </a:lnSpc>
                <a:spcBef>
                  <a:spcPts val="0"/>
                </a:spcBef>
                <a:spcAft>
                  <a:spcPts val="0"/>
                </a:spcAft>
                <a:buClrTx/>
                <a:buSzTx/>
                <a:buFontTx/>
                <a:buNone/>
                <a:tabLst/>
                <a:defRPr/>
              </a:pPr>
              <a:t>2026/6/29</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AE1A3532-0BA7-4C0D-AB47-887BE5FFB2D2}" type="slidenum">
              <a:rPr kumimoji="0" lang="zh-CN" altLang="en-US" sz="900" b="0" i="0" u="none" strike="noStrike" kern="1200" cap="none" spc="0" normalizeH="0" baseline="0" noProof="0" smtClean="0">
                <a:ln>
                  <a:noFill/>
                </a:ln>
                <a:solidFill>
                  <a:prstClr val="black">
                    <a:tint val="75000"/>
                  </a:prstClr>
                </a:solidFill>
                <a:effectLst/>
                <a:uLnTx/>
                <a:uFillTx/>
                <a:latin typeface="Calibri"/>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zh-CN" altLang="en-US" sz="900" b="0" i="0" u="none" strike="noStrike" kern="1200" cap="none" spc="0" normalizeH="0" baseline="0" noProof="0">
              <a:ln>
                <a:noFill/>
              </a:ln>
              <a:solidFill>
                <a:prstClr val="black">
                  <a:tint val="75000"/>
                </a:prstClr>
              </a:solidFill>
              <a:effectLst/>
              <a:uLnTx/>
              <a:uFillTx/>
              <a:latin typeface="Calibri"/>
              <a:ea typeface="等线" panose="02010600030101010101" pitchFamily="2" charset="-122"/>
              <a:cs typeface="+mn-cs"/>
            </a:endParaRPr>
          </a:p>
        </p:txBody>
      </p:sp>
    </p:spTree>
    <p:extLst>
      <p:ext uri="{BB962C8B-B14F-4D97-AF65-F5344CB8AC3E}">
        <p14:creationId xmlns:p14="http://schemas.microsoft.com/office/powerpoint/2010/main" val="3507293774"/>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1.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4.xml"/><Relationship Id="rId1" Type="http://schemas.openxmlformats.org/officeDocument/2006/relationships/tags" Target="../tags/tag20.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chart" Target="../charts/chart1.xml"/><Relationship Id="rId2" Type="http://schemas.openxmlformats.org/officeDocument/2006/relationships/slideLayout" Target="../slideLayouts/slideLayout25.xml"/><Relationship Id="rId1" Type="http://schemas.openxmlformats.org/officeDocument/2006/relationships/tags" Target="../tags/tag21.xml"/><Relationship Id="rId6" Type="http://schemas.openxmlformats.org/officeDocument/2006/relationships/image" Target="../media/image4.png"/><Relationship Id="rId5" Type="http://schemas.openxmlformats.org/officeDocument/2006/relationships/image" Target="../media/image3.jpe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5.xml"/><Relationship Id="rId1" Type="http://schemas.openxmlformats.org/officeDocument/2006/relationships/tags" Target="../tags/tag22.xml"/><Relationship Id="rId6" Type="http://schemas.openxmlformats.org/officeDocument/2006/relationships/chart" Target="../charts/char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15.xml"/><Relationship Id="rId1" Type="http://schemas.openxmlformats.org/officeDocument/2006/relationships/tags" Target="../tags/tag2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chart" Target="../charts/chart4.xml"/><Relationship Id="rId2" Type="http://schemas.openxmlformats.org/officeDocument/2006/relationships/slideLayout" Target="../slideLayouts/slideLayout15.xml"/><Relationship Id="rId1" Type="http://schemas.openxmlformats.org/officeDocument/2006/relationships/tags" Target="../tags/tag24.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chart" Target="../charts/chart5.xml"/><Relationship Id="rId2" Type="http://schemas.openxmlformats.org/officeDocument/2006/relationships/slideLayout" Target="../slideLayouts/slideLayout15.xml"/><Relationship Id="rId1" Type="http://schemas.openxmlformats.org/officeDocument/2006/relationships/tags" Target="../tags/tag25.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chart" Target="../charts/chart6.xml"/><Relationship Id="rId2" Type="http://schemas.openxmlformats.org/officeDocument/2006/relationships/slideLayout" Target="../slideLayouts/slideLayout3.xml"/><Relationship Id="rId1" Type="http://schemas.openxmlformats.org/officeDocument/2006/relationships/tags" Target="../tags/tag26.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notesSlide" Target="../notesSlides/notesSlide3.xml"/><Relationship Id="rId7"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2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chart" Target="../charts/chart8.xml"/><Relationship Id="rId2" Type="http://schemas.openxmlformats.org/officeDocument/2006/relationships/slideLayout" Target="../slideLayouts/slideLayout12.xml"/><Relationship Id="rId1" Type="http://schemas.openxmlformats.org/officeDocument/2006/relationships/tags" Target="../tags/tag28.xml"/><Relationship Id="rId6" Type="http://schemas.openxmlformats.org/officeDocument/2006/relationships/image" Target="../media/image4.png"/><Relationship Id="rId5" Type="http://schemas.openxmlformats.org/officeDocument/2006/relationships/image" Target="../media/image3.jpe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notesSlide" Target="../notesSlides/notesSlide4.xml"/><Relationship Id="rId7"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tags" Target="../tags/tag29.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5.xml"/><Relationship Id="rId1" Type="http://schemas.openxmlformats.org/officeDocument/2006/relationships/tags" Target="../tags/tag30.xml"/><Relationship Id="rId6" Type="http://schemas.openxmlformats.org/officeDocument/2006/relationships/chart" Target="../charts/chart10.xml"/><Relationship Id="rId5" Type="http://schemas.openxmlformats.org/officeDocument/2006/relationships/image" Target="../media/image4.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chart" Target="../charts/chart11.xml"/><Relationship Id="rId7" Type="http://schemas.microsoft.com/office/2007/relationships/hdphoto" Target="../media/hdphoto1.wdp"/><Relationship Id="rId2" Type="http://schemas.openxmlformats.org/officeDocument/2006/relationships/slideLayout" Target="../slideLayouts/slideLayout3.xml"/><Relationship Id="rId1" Type="http://schemas.openxmlformats.org/officeDocument/2006/relationships/tags" Target="../tags/tag3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chart" Target="../charts/chart12.xml"/><Relationship Id="rId2" Type="http://schemas.openxmlformats.org/officeDocument/2006/relationships/slideLayout" Target="../slideLayouts/slideLayout15.xml"/><Relationship Id="rId1" Type="http://schemas.openxmlformats.org/officeDocument/2006/relationships/tags" Target="../tags/tag3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chart" Target="../charts/chart13.xml"/><Relationship Id="rId2" Type="http://schemas.openxmlformats.org/officeDocument/2006/relationships/slideLayout" Target="../slideLayouts/slideLayout3.xml"/><Relationship Id="rId1" Type="http://schemas.openxmlformats.org/officeDocument/2006/relationships/tags" Target="../tags/tag33.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chart" Target="../charts/chart14.xml"/><Relationship Id="rId2" Type="http://schemas.openxmlformats.org/officeDocument/2006/relationships/slideLayout" Target="../slideLayouts/slideLayout15.xml"/><Relationship Id="rId1" Type="http://schemas.openxmlformats.org/officeDocument/2006/relationships/tags" Target="../tags/tag34.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slideLayout" Target="../slideLayouts/slideLayout3.xml"/><Relationship Id="rId1" Type="http://schemas.openxmlformats.org/officeDocument/2006/relationships/tags" Target="../tags/tag3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chart" Target="../charts/chart17.xml"/><Relationship Id="rId2" Type="http://schemas.openxmlformats.org/officeDocument/2006/relationships/slideLayout" Target="../slideLayouts/slideLayout3.xml"/><Relationship Id="rId1" Type="http://schemas.openxmlformats.org/officeDocument/2006/relationships/tags" Target="../tags/tag36.xml"/><Relationship Id="rId6" Type="http://schemas.openxmlformats.org/officeDocument/2006/relationships/image" Target="../media/image5.png"/><Relationship Id="rId5" Type="http://schemas.openxmlformats.org/officeDocument/2006/relationships/chart" Target="../charts/chart16.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chart" Target="../charts/chart18.xml"/><Relationship Id="rId7" Type="http://schemas.microsoft.com/office/2007/relationships/hdphoto" Target="../media/hdphoto1.wdp"/><Relationship Id="rId2" Type="http://schemas.openxmlformats.org/officeDocument/2006/relationships/slideLayout" Target="../slideLayouts/slideLayout3.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chart" Target="../charts/chart19.xml"/><Relationship Id="rId2" Type="http://schemas.openxmlformats.org/officeDocument/2006/relationships/slideLayout" Target="../slideLayouts/slideLayout2.xml"/><Relationship Id="rId1" Type="http://schemas.openxmlformats.org/officeDocument/2006/relationships/tags" Target="../tags/tag38.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39.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tags" Target="../tags/tag40.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635" y="0"/>
            <a:ext cx="6859270" cy="12192000"/>
          </a:xfrm>
          <a:prstGeom prst="rect">
            <a:avLst/>
          </a:prstGeom>
          <a:gradFill>
            <a:gsLst>
              <a:gs pos="0">
                <a:srgbClr val="004776">
                  <a:alpha val="14000"/>
                  <a:lumMod val="82000"/>
                  <a:lumOff val="18000"/>
                </a:srgbClr>
              </a:gs>
              <a:gs pos="77000">
                <a:schemeClr val="accent1">
                  <a:lumMod val="30000"/>
                  <a:lumOff val="70000"/>
                  <a:alpha val="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旗黑-55简" panose="00020600040101010101" charset="-128"/>
              <a:ea typeface="汉仪旗黑-55简" panose="00020600040101010101" charset="-128"/>
              <a:cs typeface="汉仪旗黑-55简" panose="00020600040101010101" charset="-128"/>
            </a:endParaRPr>
          </a:p>
        </p:txBody>
      </p:sp>
      <p:pic>
        <p:nvPicPr>
          <p:cNvPr id="11" name="图片 10" descr="图片310"/>
          <p:cNvPicPr>
            <a:picLocks noChangeAspect="1"/>
          </p:cNvPicPr>
          <p:nvPr/>
        </p:nvPicPr>
        <p:blipFill>
          <a:blip r:embed="rId18"/>
          <a:stretch>
            <a:fillRect/>
          </a:stretch>
        </p:blipFill>
        <p:spPr>
          <a:xfrm>
            <a:off x="386080" y="8319770"/>
            <a:ext cx="6363970" cy="4888865"/>
          </a:xfrm>
          <a:prstGeom prst="rect">
            <a:avLst/>
          </a:prstGeom>
        </p:spPr>
      </p:pic>
      <p:sp>
        <p:nvSpPr>
          <p:cNvPr id="4" name="灯片编号占位符 3"/>
          <p:cNvSpPr>
            <a:spLocks noGrp="1"/>
          </p:cNvSpPr>
          <p:nvPr>
            <p:ph type="sldNum" sz="quarter" idx="4294967295"/>
          </p:nvPr>
        </p:nvSpPr>
        <p:spPr>
          <a:xfrm>
            <a:off x="5314950" y="13225463"/>
            <a:ext cx="1543050" cy="649287"/>
          </a:xfrm>
        </p:spPr>
        <p:txBody>
          <a:bodyPr/>
          <a:lstStyle/>
          <a:p>
            <a:fld id="{AE1A3532-0BA7-4C0D-AB47-887BE5FFB2D2}" type="slidenum">
              <a:rPr lang="zh-CN" altLang="en-US" smtClean="0"/>
              <a:t>1</a:t>
            </a:fld>
            <a:endParaRPr lang="zh-CN" altLang="en-US"/>
          </a:p>
        </p:txBody>
      </p:sp>
      <p:sp>
        <p:nvSpPr>
          <p:cNvPr id="8" name="Freeform 6"/>
          <p:cNvSpPr/>
          <p:nvPr>
            <p:custDataLst>
              <p:tags r:id="rId2"/>
            </p:custDataLst>
          </p:nvPr>
        </p:nvSpPr>
        <p:spPr bwMode="auto">
          <a:xfrm>
            <a:off x="4375785" y="9894570"/>
            <a:ext cx="2482215" cy="4340225"/>
          </a:xfrm>
          <a:custGeom>
            <a:avLst/>
            <a:gdLst>
              <a:gd name="T0" fmla="*/ 2800 w 7702"/>
              <a:gd name="T1" fmla="*/ 0 h 5409"/>
              <a:gd name="T2" fmla="*/ 7702 w 7702"/>
              <a:gd name="T3" fmla="*/ 0 h 5409"/>
              <a:gd name="T4" fmla="*/ 4901 w 7702"/>
              <a:gd name="T5" fmla="*/ 5409 h 5409"/>
              <a:gd name="T6" fmla="*/ 0 w 7702"/>
              <a:gd name="T7" fmla="*/ 5409 h 5409"/>
              <a:gd name="T8" fmla="*/ 2800 w 7702"/>
              <a:gd name="T9" fmla="*/ 0 h 5409"/>
            </a:gdLst>
            <a:ahLst/>
            <a:cxnLst>
              <a:cxn ang="0">
                <a:pos x="T0" y="T1"/>
              </a:cxn>
              <a:cxn ang="0">
                <a:pos x="T2" y="T3"/>
              </a:cxn>
              <a:cxn ang="0">
                <a:pos x="T4" y="T5"/>
              </a:cxn>
              <a:cxn ang="0">
                <a:pos x="T6" y="T7"/>
              </a:cxn>
              <a:cxn ang="0">
                <a:pos x="T8" y="T9"/>
              </a:cxn>
            </a:cxnLst>
            <a:rect l="0" t="0" r="r" b="b"/>
            <a:pathLst>
              <a:path w="4272" h="6834">
                <a:moveTo>
                  <a:pt x="3518" y="0"/>
                </a:moveTo>
                <a:lnTo>
                  <a:pt x="4272" y="0"/>
                </a:lnTo>
                <a:lnTo>
                  <a:pt x="4272" y="6834"/>
                </a:lnTo>
                <a:lnTo>
                  <a:pt x="0" y="6834"/>
                </a:lnTo>
                <a:lnTo>
                  <a:pt x="3518" y="0"/>
                </a:lnTo>
                <a:close/>
              </a:path>
            </a:pathLst>
          </a:custGeom>
          <a:gradFill>
            <a:gsLst>
              <a:gs pos="0">
                <a:srgbClr val="0067A2"/>
              </a:gs>
              <a:gs pos="100000">
                <a:schemeClr val="accent1">
                  <a:lumMod val="30000"/>
                  <a:lumOff val="70000"/>
                  <a:alpha val="77000"/>
                </a:schemeClr>
              </a:gs>
            </a:gsLst>
            <a:lin ang="5400000"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汉仪旗黑-55简" panose="00020600040101010101" charset="-128"/>
            </a:endParaRPr>
          </a:p>
        </p:txBody>
      </p:sp>
      <p:sp>
        <p:nvSpPr>
          <p:cNvPr id="9" name="Freeform 7"/>
          <p:cNvSpPr/>
          <p:nvPr>
            <p:custDataLst>
              <p:tags r:id="rId3"/>
            </p:custDataLst>
          </p:nvPr>
        </p:nvSpPr>
        <p:spPr bwMode="auto">
          <a:xfrm>
            <a:off x="-556260" y="8319770"/>
            <a:ext cx="2246630" cy="3268345"/>
          </a:xfrm>
          <a:custGeom>
            <a:avLst/>
            <a:gdLst>
              <a:gd name="T0" fmla="*/ 2704 w 3909"/>
              <a:gd name="T1" fmla="*/ 0 h 5201"/>
              <a:gd name="T2" fmla="*/ 3909 w 3909"/>
              <a:gd name="T3" fmla="*/ 0 h 5201"/>
              <a:gd name="T4" fmla="*/ 1205 w 3909"/>
              <a:gd name="T5" fmla="*/ 5201 h 5201"/>
              <a:gd name="T6" fmla="*/ 0 w 3909"/>
              <a:gd name="T7" fmla="*/ 5201 h 5201"/>
              <a:gd name="T8" fmla="*/ 2704 w 3909"/>
              <a:gd name="T9" fmla="*/ 0 h 5201"/>
            </a:gdLst>
            <a:ahLst/>
            <a:cxnLst>
              <a:cxn ang="0">
                <a:pos x="T0" y="T1"/>
              </a:cxn>
              <a:cxn ang="0">
                <a:pos x="T2" y="T3"/>
              </a:cxn>
              <a:cxn ang="0">
                <a:pos x="T4" y="T5"/>
              </a:cxn>
              <a:cxn ang="0">
                <a:pos x="T6" y="T7"/>
              </a:cxn>
              <a:cxn ang="0">
                <a:pos x="T8" y="T9"/>
              </a:cxn>
            </a:cxnLst>
            <a:rect l="0" t="0" r="r" b="b"/>
            <a:pathLst>
              <a:path w="3909" h="5201">
                <a:moveTo>
                  <a:pt x="2704" y="0"/>
                </a:moveTo>
                <a:lnTo>
                  <a:pt x="3909" y="0"/>
                </a:lnTo>
                <a:lnTo>
                  <a:pt x="1205" y="5201"/>
                </a:lnTo>
                <a:lnTo>
                  <a:pt x="0" y="5201"/>
                </a:lnTo>
                <a:lnTo>
                  <a:pt x="2704" y="0"/>
                </a:lnTo>
                <a:close/>
              </a:path>
            </a:pathLst>
          </a:custGeom>
          <a:gradFill>
            <a:gsLst>
              <a:gs pos="0">
                <a:srgbClr val="0067A2"/>
              </a:gs>
              <a:gs pos="100000">
                <a:schemeClr val="accent1">
                  <a:lumMod val="30000"/>
                  <a:lumOff val="70000"/>
                  <a:alpha val="0"/>
                </a:schemeClr>
              </a:gs>
            </a:gsLst>
            <a:lin ang="5400000"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汉仪旗黑-55简" panose="00020600040101010101" charset="-128"/>
            </a:endParaRPr>
          </a:p>
        </p:txBody>
      </p:sp>
      <p:sp>
        <p:nvSpPr>
          <p:cNvPr id="10" name="Freeform 8"/>
          <p:cNvSpPr/>
          <p:nvPr>
            <p:custDataLst>
              <p:tags r:id="rId4"/>
            </p:custDataLst>
          </p:nvPr>
        </p:nvSpPr>
        <p:spPr bwMode="auto">
          <a:xfrm>
            <a:off x="963295" y="12125960"/>
            <a:ext cx="1446530" cy="2108200"/>
          </a:xfrm>
          <a:custGeom>
            <a:avLst/>
            <a:gdLst>
              <a:gd name="T0" fmla="*/ 1404 w 2030"/>
              <a:gd name="T1" fmla="*/ 0 h 2705"/>
              <a:gd name="T2" fmla="*/ 2030 w 2030"/>
              <a:gd name="T3" fmla="*/ 0 h 2705"/>
              <a:gd name="T4" fmla="*/ 626 w 2030"/>
              <a:gd name="T5" fmla="*/ 2705 h 2705"/>
              <a:gd name="T6" fmla="*/ 0 w 2030"/>
              <a:gd name="T7" fmla="*/ 2705 h 2705"/>
              <a:gd name="T8" fmla="*/ 1404 w 2030"/>
              <a:gd name="T9" fmla="*/ 0 h 2705"/>
            </a:gdLst>
            <a:ahLst/>
            <a:cxnLst>
              <a:cxn ang="0">
                <a:pos x="T0" y="T1"/>
              </a:cxn>
              <a:cxn ang="0">
                <a:pos x="T2" y="T3"/>
              </a:cxn>
              <a:cxn ang="0">
                <a:pos x="T4" y="T5"/>
              </a:cxn>
              <a:cxn ang="0">
                <a:pos x="T6" y="T7"/>
              </a:cxn>
              <a:cxn ang="0">
                <a:pos x="T8" y="T9"/>
              </a:cxn>
            </a:cxnLst>
            <a:rect l="0" t="0" r="r" b="b"/>
            <a:pathLst>
              <a:path w="2030" h="2705">
                <a:moveTo>
                  <a:pt x="1404" y="0"/>
                </a:moveTo>
                <a:lnTo>
                  <a:pt x="2030" y="0"/>
                </a:lnTo>
                <a:lnTo>
                  <a:pt x="626" y="2705"/>
                </a:lnTo>
                <a:lnTo>
                  <a:pt x="0" y="2705"/>
                </a:lnTo>
                <a:lnTo>
                  <a:pt x="1404" y="0"/>
                </a:lnTo>
                <a:close/>
              </a:path>
            </a:pathLst>
          </a:custGeom>
          <a:gradFill>
            <a:gsLst>
              <a:gs pos="0">
                <a:srgbClr val="0067A2"/>
              </a:gs>
              <a:gs pos="100000">
                <a:schemeClr val="accent1">
                  <a:lumMod val="30000"/>
                  <a:lumOff val="70000"/>
                  <a:alpha val="0"/>
                </a:schemeClr>
              </a:gs>
            </a:gsLst>
            <a:lin ang="18900000"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汉仪旗黑-55简" panose="00020600040101010101" charset="-128"/>
            </a:endParaRPr>
          </a:p>
        </p:txBody>
      </p:sp>
      <p:grpSp>
        <p:nvGrpSpPr>
          <p:cNvPr id="38" name="组合 37"/>
          <p:cNvGrpSpPr/>
          <p:nvPr/>
        </p:nvGrpSpPr>
        <p:grpSpPr>
          <a:xfrm>
            <a:off x="6081395" y="13478510"/>
            <a:ext cx="305435" cy="293370"/>
            <a:chOff x="17116" y="9730"/>
            <a:chExt cx="896" cy="788"/>
          </a:xfrm>
          <a:solidFill>
            <a:srgbClr val="004776"/>
          </a:solidFill>
        </p:grpSpPr>
        <p:sp>
          <p:nvSpPr>
            <p:cNvPr id="26" name="椭圆 25"/>
            <p:cNvSpPr/>
            <p:nvPr>
              <p:custDataLst>
                <p:tags r:id="rId8"/>
              </p:custDataLst>
            </p:nvPr>
          </p:nvSpPr>
          <p:spPr>
            <a:xfrm>
              <a:off x="17116" y="9730"/>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sp>
          <p:nvSpPr>
            <p:cNvPr id="27" name="椭圆 26"/>
            <p:cNvSpPr/>
            <p:nvPr>
              <p:custDataLst>
                <p:tags r:id="rId9"/>
              </p:custDataLst>
            </p:nvPr>
          </p:nvSpPr>
          <p:spPr>
            <a:xfrm>
              <a:off x="17484" y="9730"/>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sp>
          <p:nvSpPr>
            <p:cNvPr id="28" name="椭圆 27"/>
            <p:cNvSpPr/>
            <p:nvPr>
              <p:custDataLst>
                <p:tags r:id="rId10"/>
              </p:custDataLst>
            </p:nvPr>
          </p:nvSpPr>
          <p:spPr>
            <a:xfrm>
              <a:off x="17116" y="10066"/>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sp>
          <p:nvSpPr>
            <p:cNvPr id="29" name="椭圆 28"/>
            <p:cNvSpPr/>
            <p:nvPr>
              <p:custDataLst>
                <p:tags r:id="rId11"/>
              </p:custDataLst>
            </p:nvPr>
          </p:nvSpPr>
          <p:spPr>
            <a:xfrm>
              <a:off x="17484" y="10066"/>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sp>
          <p:nvSpPr>
            <p:cNvPr id="30" name="椭圆 29"/>
            <p:cNvSpPr/>
            <p:nvPr>
              <p:custDataLst>
                <p:tags r:id="rId12"/>
              </p:custDataLst>
            </p:nvPr>
          </p:nvSpPr>
          <p:spPr>
            <a:xfrm>
              <a:off x="17836" y="9730"/>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sp>
          <p:nvSpPr>
            <p:cNvPr id="32" name="椭圆 31"/>
            <p:cNvSpPr/>
            <p:nvPr>
              <p:custDataLst>
                <p:tags r:id="rId13"/>
              </p:custDataLst>
            </p:nvPr>
          </p:nvSpPr>
          <p:spPr>
            <a:xfrm>
              <a:off x="17836" y="10066"/>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sp>
          <p:nvSpPr>
            <p:cNvPr id="34" name="椭圆 33"/>
            <p:cNvSpPr/>
            <p:nvPr>
              <p:custDataLst>
                <p:tags r:id="rId14"/>
              </p:custDataLst>
            </p:nvPr>
          </p:nvSpPr>
          <p:spPr>
            <a:xfrm>
              <a:off x="17116" y="10342"/>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sp>
          <p:nvSpPr>
            <p:cNvPr id="35" name="椭圆 34"/>
            <p:cNvSpPr/>
            <p:nvPr>
              <p:custDataLst>
                <p:tags r:id="rId15"/>
              </p:custDataLst>
            </p:nvPr>
          </p:nvSpPr>
          <p:spPr>
            <a:xfrm>
              <a:off x="17484" y="10342"/>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sp>
          <p:nvSpPr>
            <p:cNvPr id="36" name="椭圆 35"/>
            <p:cNvSpPr/>
            <p:nvPr>
              <p:custDataLst>
                <p:tags r:id="rId16"/>
              </p:custDataLst>
            </p:nvPr>
          </p:nvSpPr>
          <p:spPr>
            <a:xfrm>
              <a:off x="17836" y="10342"/>
              <a:ext cx="176" cy="17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汉仪旗黑-55简" panose="00020600040101010101" charset="-128"/>
              </a:endParaRPr>
            </a:p>
          </p:txBody>
        </p:sp>
      </p:grpSp>
      <p:sp>
        <p:nvSpPr>
          <p:cNvPr id="12" name="Freeform 5"/>
          <p:cNvSpPr/>
          <p:nvPr userDrawn="1">
            <p:custDataLst>
              <p:tags r:id="rId5"/>
            </p:custDataLst>
          </p:nvPr>
        </p:nvSpPr>
        <p:spPr bwMode="auto">
          <a:xfrm>
            <a:off x="374015" y="8308975"/>
            <a:ext cx="6376035" cy="4899660"/>
          </a:xfrm>
          <a:custGeom>
            <a:avLst/>
            <a:gdLst>
              <a:gd name="T0" fmla="*/ 2801 w 7700"/>
              <a:gd name="T1" fmla="*/ 0 h 5412"/>
              <a:gd name="T2" fmla="*/ 7700 w 7700"/>
              <a:gd name="T3" fmla="*/ 0 h 5412"/>
              <a:gd name="T4" fmla="*/ 4902 w 7700"/>
              <a:gd name="T5" fmla="*/ 5412 h 5412"/>
              <a:gd name="T6" fmla="*/ 0 w 7700"/>
              <a:gd name="T7" fmla="*/ 5412 h 5412"/>
              <a:gd name="T8" fmla="*/ 2801 w 7700"/>
              <a:gd name="T9" fmla="*/ 0 h 5412"/>
            </a:gdLst>
            <a:ahLst/>
            <a:cxnLst>
              <a:cxn ang="0">
                <a:pos x="T0" y="T1"/>
              </a:cxn>
              <a:cxn ang="0">
                <a:pos x="T2" y="T3"/>
              </a:cxn>
              <a:cxn ang="0">
                <a:pos x="T4" y="T5"/>
              </a:cxn>
              <a:cxn ang="0">
                <a:pos x="T6" y="T7"/>
              </a:cxn>
              <a:cxn ang="0">
                <a:pos x="T8" y="T9"/>
              </a:cxn>
            </a:cxnLst>
            <a:rect l="0" t="0" r="r" b="b"/>
            <a:pathLst>
              <a:path w="7700" h="5412">
                <a:moveTo>
                  <a:pt x="2801" y="0"/>
                </a:moveTo>
                <a:lnTo>
                  <a:pt x="7700" y="0"/>
                </a:lnTo>
                <a:lnTo>
                  <a:pt x="4902" y="5412"/>
                </a:lnTo>
                <a:lnTo>
                  <a:pt x="0" y="5412"/>
                </a:lnTo>
                <a:lnTo>
                  <a:pt x="2801" y="0"/>
                </a:lnTo>
                <a:close/>
              </a:path>
            </a:pathLst>
          </a:custGeom>
          <a:gradFill>
            <a:gsLst>
              <a:gs pos="100000">
                <a:srgbClr val="FAFBFD">
                  <a:alpha val="0"/>
                </a:srgbClr>
              </a:gs>
              <a:gs pos="25000">
                <a:srgbClr val="22618A"/>
              </a:gs>
            </a:gsLst>
            <a:lin ang="16200000" scaled="0"/>
          </a:gradFill>
          <a:ln>
            <a:noFill/>
          </a:ln>
          <a:effectLst>
            <a:outerShdw blurRad="165100" dist="38100" dir="5400000" algn="t" rotWithShape="0">
              <a:srgbClr val="769FB8">
                <a:alpha val="30000"/>
              </a:srgbClr>
            </a:outerShdw>
          </a:effectLst>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汉仪旗黑-55简" panose="00020600040101010101" charset="-128"/>
            </a:endParaRPr>
          </a:p>
        </p:txBody>
      </p:sp>
      <p:sp>
        <p:nvSpPr>
          <p:cNvPr id="7" name="矩形 6"/>
          <p:cNvSpPr/>
          <p:nvPr>
            <p:custDataLst>
              <p:tags r:id="rId6"/>
            </p:custDataLst>
          </p:nvPr>
        </p:nvSpPr>
        <p:spPr>
          <a:xfrm>
            <a:off x="1540510" y="11111230"/>
            <a:ext cx="2244725" cy="1191260"/>
          </a:xfrm>
          <a:prstGeom prst="rect">
            <a:avLst/>
          </a:prstGeom>
        </p:spPr>
        <p:txBody>
          <a:bodyPr wrap="square">
            <a:noAutofit/>
          </a:bodyPr>
          <a:lstStyle/>
          <a:p>
            <a:pPr algn="dist">
              <a:lnSpc>
                <a:spcPct val="100000"/>
              </a:lnSpc>
            </a:pPr>
            <a:r>
              <a:rPr lang="en-US" altLang="zh-CN" sz="2800" dirty="0">
                <a:solidFill>
                  <a:schemeClr val="bg1"/>
                </a:solidFill>
                <a:uFillTx/>
                <a:latin typeface="Microsoft YaHei Regular" panose="020B0502040204020203" charset="-122"/>
                <a:ea typeface="Microsoft YaHei Regular" panose="020B0502040204020203" charset="-122"/>
                <a:cs typeface="汉仪旗黑-55简" panose="00020600040101010101" charset="-128"/>
                <a:sym typeface="+mn-ea"/>
              </a:rPr>
              <a:t>HUAAN</a:t>
            </a:r>
          </a:p>
        </p:txBody>
      </p:sp>
      <p:pic>
        <p:nvPicPr>
          <p:cNvPr id="15" name="图片 14" descr="资源 1"/>
          <p:cNvPicPr>
            <a:picLocks noChangeAspect="1"/>
          </p:cNvPicPr>
          <p:nvPr/>
        </p:nvPicPr>
        <p:blipFill>
          <a:blip r:embed="rId19"/>
          <a:stretch>
            <a:fillRect/>
          </a:stretch>
        </p:blipFill>
        <p:spPr>
          <a:xfrm>
            <a:off x="396875" y="433070"/>
            <a:ext cx="2024380" cy="518795"/>
          </a:xfrm>
          <a:prstGeom prst="rect">
            <a:avLst/>
          </a:prstGeom>
        </p:spPr>
      </p:pic>
      <p:sp>
        <p:nvSpPr>
          <p:cNvPr id="16" name="文本框 15"/>
          <p:cNvSpPr txBox="1"/>
          <p:nvPr/>
        </p:nvSpPr>
        <p:spPr>
          <a:xfrm>
            <a:off x="962660" y="4048760"/>
            <a:ext cx="5614670" cy="1543050"/>
          </a:xfrm>
          <a:prstGeom prst="rect">
            <a:avLst/>
          </a:prstGeom>
          <a:noFill/>
        </p:spPr>
        <p:txBody>
          <a:bodyPr wrap="square" rtlCol="0" anchor="t">
            <a:noAutofit/>
          </a:bodyPr>
          <a:lstStyle/>
          <a:p>
            <a:pPr algn="dist"/>
            <a:r>
              <a:rPr lang="zh-CN" altLang="en-US" sz="4400" b="1" dirty="0">
                <a:solidFill>
                  <a:srgbClr val="0070C0"/>
                </a:solidFill>
                <a:latin typeface="Microsoft YaHei Bold" panose="020B0502040204020203" charset="-122"/>
                <a:ea typeface="Microsoft YaHei Bold" panose="020B0502040204020203" charset="-122"/>
                <a:cs typeface="Microsoft YaHei Bold" panose="020B0502040204020203" charset="-122"/>
              </a:rPr>
              <a:t>华安ETF投资月报</a:t>
            </a:r>
          </a:p>
        </p:txBody>
      </p:sp>
      <p:sp>
        <p:nvSpPr>
          <p:cNvPr id="17" name="文本框 16"/>
          <p:cNvSpPr txBox="1"/>
          <p:nvPr/>
        </p:nvSpPr>
        <p:spPr>
          <a:xfrm>
            <a:off x="4029559" y="5069840"/>
            <a:ext cx="2484271" cy="954107"/>
          </a:xfrm>
          <a:prstGeom prst="rect">
            <a:avLst/>
          </a:prstGeom>
          <a:noFill/>
        </p:spPr>
        <p:txBody>
          <a:bodyPr wrap="square" rtlCol="0" anchor="t">
            <a:spAutoFit/>
          </a:bodyPr>
          <a:lstStyle/>
          <a:p>
            <a:pPr algn="dist"/>
            <a:r>
              <a:rPr lang="en-US" altLang="zh-CN" sz="2800" dirty="0">
                <a:latin typeface="Microsoft YaHei" panose="020B0502040204020203" charset="-122"/>
                <a:ea typeface="Microsoft YaHei" panose="020B0502040204020203" charset="-122"/>
                <a:cs typeface="Microsoft YaHei" panose="020B0502040204020203" charset="-122"/>
              </a:rPr>
              <a:t>{{year}}</a:t>
            </a:r>
            <a:r>
              <a:rPr lang="zh-CN" altLang="en-US" sz="2800" dirty="0">
                <a:latin typeface="Microsoft YaHei" panose="020B0502040204020203" charset="-122"/>
                <a:ea typeface="Microsoft YaHei" panose="020B0502040204020203" charset="-122"/>
                <a:cs typeface="Microsoft YaHei" panose="020B0502040204020203" charset="-122"/>
              </a:rPr>
              <a:t>年</a:t>
            </a:r>
            <a:r>
              <a:rPr lang="en-US" altLang="zh-CN" sz="2800" dirty="0">
                <a:latin typeface="Microsoft YaHei" panose="020B0502040204020203" charset="-122"/>
                <a:ea typeface="Microsoft YaHei" panose="020B0502040204020203" charset="-122"/>
                <a:cs typeface="Microsoft YaHei" panose="020B0502040204020203" charset="-122"/>
              </a:rPr>
              <a:t>{{month}}</a:t>
            </a:r>
            <a:r>
              <a:rPr lang="zh-CN" altLang="en-US" sz="2800" dirty="0">
                <a:latin typeface="Microsoft YaHei" panose="020B0502040204020203" charset="-122"/>
                <a:ea typeface="Microsoft YaHei" panose="020B0502040204020203" charset="-122"/>
                <a:cs typeface="Microsoft YaHei" panose="020B0502040204020203" charset="-122"/>
              </a:rPr>
              <a:t>月</a:t>
            </a:r>
          </a:p>
        </p:txBody>
      </p:sp>
      <p:sp>
        <p:nvSpPr>
          <p:cNvPr id="18" name="矩形 17"/>
          <p:cNvSpPr/>
          <p:nvPr>
            <p:custDataLst>
              <p:tags r:id="rId7"/>
            </p:custDataLst>
          </p:nvPr>
        </p:nvSpPr>
        <p:spPr>
          <a:xfrm>
            <a:off x="2588260" y="11588115"/>
            <a:ext cx="2244725" cy="1191260"/>
          </a:xfrm>
          <a:prstGeom prst="rect">
            <a:avLst/>
          </a:prstGeom>
        </p:spPr>
        <p:txBody>
          <a:bodyPr wrap="square">
            <a:noAutofit/>
          </a:bodyPr>
          <a:lstStyle/>
          <a:p>
            <a:pPr algn="dist">
              <a:lnSpc>
                <a:spcPct val="100000"/>
              </a:lnSpc>
            </a:pPr>
            <a:r>
              <a:rPr lang="en-US" altLang="zh-CN" sz="2800" dirty="0">
                <a:solidFill>
                  <a:schemeClr val="bg1"/>
                </a:solidFill>
                <a:uFillTx/>
                <a:latin typeface="Microsoft YaHei Regular" panose="020B0502040204020203" charset="-122"/>
                <a:ea typeface="Microsoft YaHei Regular" panose="020B0502040204020203" charset="-122"/>
                <a:cs typeface="汉仪旗黑-55简" panose="00020600040101010101" charset="-128"/>
                <a:sym typeface="+mn-ea"/>
              </a:rPr>
              <a:t>FUNDS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0" y="-634"/>
            <a:ext cx="6858000" cy="1471894"/>
            <a:chOff x="0" y="-634"/>
            <a:chExt cx="6858000" cy="1471894"/>
          </a:xfrm>
        </p:grpSpPr>
        <p:pic>
          <p:nvPicPr>
            <p:cNvPr id="16" name="图片 15" descr="风向标头图"/>
            <p:cNvPicPr>
              <a:picLocks noChangeAspect="1"/>
            </p:cNvPicPr>
            <p:nvPr/>
          </p:nvPicPr>
          <p:blipFill>
            <a:blip r:embed="rId3"/>
            <a:stretch>
              <a:fillRect/>
            </a:stretch>
          </p:blipFill>
          <p:spPr>
            <a:xfrm>
              <a:off x="0" y="-634"/>
              <a:ext cx="6858000" cy="1471894"/>
            </a:xfrm>
            <a:prstGeom prst="rect">
              <a:avLst/>
            </a:prstGeom>
          </p:spPr>
        </p:pic>
        <p:pic>
          <p:nvPicPr>
            <p:cNvPr id="17" name="图片 16"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21" name="矩形 20"/>
          <p:cNvSpPr/>
          <p:nvPr/>
        </p:nvSpPr>
        <p:spPr>
          <a:xfrm>
            <a:off x="458573" y="1749115"/>
            <a:ext cx="6052242" cy="8097601"/>
          </a:xfrm>
          <a:prstGeom prst="rect">
            <a:avLst/>
          </a:prstGeom>
        </p:spPr>
        <p:txBody>
          <a:bodyPr wrap="square">
            <a:spAutoFit/>
          </a:bodyPr>
          <a:lstStyle/>
          <a:p>
            <a:pPr marL="0" lvl="2" algn="just">
              <a:lnSpc>
                <a:spcPct val="110000"/>
              </a:lnSpc>
              <a:spcBef>
                <a:spcPts val="600"/>
              </a:spcBef>
              <a:spcAft>
                <a:spcPts val="600"/>
              </a:spcAft>
            </a:pPr>
            <a:r>
              <a:rPr lang="en-US" altLang="zh-CN" sz="3200" b="1" dirty="0">
                <a:solidFill>
                  <a:srgbClr val="2581B5"/>
                </a:solidFill>
                <a:latin typeface="楷体" panose="02010609060101010101" pitchFamily="49" charset="-122"/>
                <a:ea typeface="楷体" panose="02010609060101010101" pitchFamily="49" charset="-122"/>
              </a:rPr>
              <a:t>A</a:t>
            </a:r>
            <a:r>
              <a:rPr lang="zh-CN" altLang="en-US" sz="3200" b="1" dirty="0">
                <a:solidFill>
                  <a:srgbClr val="2581B5"/>
                </a:solidFill>
                <a:latin typeface="楷体" panose="02010609060101010101" pitchFamily="49" charset="-122"/>
                <a:ea typeface="楷体" panose="02010609060101010101" pitchFamily="49" charset="-122"/>
              </a:rPr>
              <a:t>股</a:t>
            </a:r>
            <a:r>
              <a:rPr lang="en-US" altLang="zh-CN" sz="3200" b="1" dirty="0">
                <a:solidFill>
                  <a:srgbClr val="2581B5"/>
                </a:solidFill>
                <a:latin typeface="楷体" panose="02010609060101010101" pitchFamily="49" charset="-122"/>
                <a:ea typeface="楷体" panose="02010609060101010101" pitchFamily="49" charset="-122"/>
              </a:rPr>
              <a:t>/</a:t>
            </a:r>
            <a:r>
              <a:rPr lang="zh-CN" altLang="en-US" sz="3200" b="1" dirty="0">
                <a:solidFill>
                  <a:srgbClr val="2581B5"/>
                </a:solidFill>
                <a:latin typeface="楷体" panose="02010609060101010101" pitchFamily="49" charset="-122"/>
                <a:ea typeface="楷体" panose="02010609060101010101" pitchFamily="49" charset="-122"/>
              </a:rPr>
              <a:t>港股权益市场回顾和展望</a:t>
            </a:r>
            <a:endParaRPr lang="en-US" altLang="zh-CN" sz="2000" b="1" dirty="0">
              <a:solidFill>
                <a:srgbClr val="2581B5"/>
              </a:solidFill>
              <a:latin typeface="Arial" panose="020B0604020202020204" pitchFamily="34" charset="0"/>
              <a:ea typeface="楷体" panose="02010609060101010101" pitchFamily="49" charset="-122"/>
              <a:cs typeface="Arial" panose="020B0604020202020204" pitchFamily="34" charset="0"/>
            </a:endParaRPr>
          </a:p>
          <a:p>
            <a:pPr marL="0" lvl="2" algn="just">
              <a:lnSpc>
                <a:spcPct val="110000"/>
              </a:lnSpc>
              <a:spcBef>
                <a:spcPts val="1200"/>
              </a:spcBef>
              <a:spcAft>
                <a:spcPts val="600"/>
              </a:spcAft>
            </a:pPr>
            <a:r>
              <a:rPr lang="en-US" altLang="zh-CN" sz="2000" dirty="0">
                <a:latin typeface="楷体" panose="02010609060101010101" pitchFamily="49" charset="-122"/>
                <a:ea typeface="楷体" panose="02010609060101010101" pitchFamily="49" charset="-122"/>
                <a:cs typeface="Arial" panose="020B0604020202020204" pitchFamily="34" charset="0"/>
              </a:rPr>
              <a:t>2026</a:t>
            </a:r>
            <a:r>
              <a:rPr lang="zh-CN" altLang="en-US" sz="2000" dirty="0">
                <a:latin typeface="楷体" panose="02010609060101010101" pitchFamily="49" charset="-122"/>
                <a:ea typeface="楷体" panose="02010609060101010101" pitchFamily="49" charset="-122"/>
                <a:cs typeface="Arial" panose="020B0604020202020204" pitchFamily="34" charset="0"/>
              </a:rPr>
              <a:t>年</a:t>
            </a:r>
            <a:r>
              <a:rPr lang="en-US" altLang="zh-CN" sz="2000" dirty="0">
                <a:latin typeface="楷体" panose="02010609060101010101" pitchFamily="49" charset="-122"/>
                <a:ea typeface="楷体" panose="02010609060101010101" pitchFamily="49" charset="-122"/>
                <a:cs typeface="Arial" panose="020B0604020202020204" pitchFamily="34" charset="0"/>
              </a:rPr>
              <a:t>3</a:t>
            </a:r>
            <a:r>
              <a:rPr lang="zh-CN" altLang="en-US" sz="2000" dirty="0">
                <a:latin typeface="楷体" panose="02010609060101010101" pitchFamily="49" charset="-122"/>
                <a:ea typeface="楷体" panose="02010609060101010101" pitchFamily="49" charset="-122"/>
                <a:cs typeface="Arial" panose="020B0604020202020204" pitchFamily="34" charset="0"/>
              </a:rPr>
              <a:t>月，</a:t>
            </a:r>
            <a:r>
              <a:rPr lang="en-US" altLang="zh-CN" sz="2000" dirty="0">
                <a:latin typeface="楷体" panose="02010609060101010101" pitchFamily="49" charset="-122"/>
                <a:ea typeface="楷体" panose="02010609060101010101" pitchFamily="49" charset="-122"/>
                <a:cs typeface="Arial" panose="020B0604020202020204" pitchFamily="34" charset="0"/>
              </a:rPr>
              <a:t>A</a:t>
            </a:r>
            <a:r>
              <a:rPr lang="zh-CN" altLang="en-US" sz="2000" dirty="0">
                <a:latin typeface="楷体" panose="02010609060101010101" pitchFamily="49" charset="-122"/>
                <a:ea typeface="楷体" panose="02010609060101010101" pitchFamily="49" charset="-122"/>
                <a:cs typeface="Arial" panose="020B0604020202020204" pitchFamily="34" charset="0"/>
              </a:rPr>
              <a:t>股市场在经历</a:t>
            </a:r>
            <a:r>
              <a:rPr lang="en-US" altLang="zh-CN" sz="2000" dirty="0">
                <a:latin typeface="楷体" panose="02010609060101010101" pitchFamily="49" charset="-122"/>
                <a:ea typeface="楷体" panose="02010609060101010101" pitchFamily="49" charset="-122"/>
                <a:cs typeface="Arial" panose="020B0604020202020204" pitchFamily="34" charset="0"/>
              </a:rPr>
              <a:t>2</a:t>
            </a:r>
            <a:r>
              <a:rPr lang="zh-CN" altLang="en-US" sz="2000" dirty="0">
                <a:latin typeface="楷体" panose="02010609060101010101" pitchFamily="49" charset="-122"/>
                <a:ea typeface="楷体" panose="02010609060101010101" pitchFamily="49" charset="-122"/>
                <a:cs typeface="Arial" panose="020B0604020202020204" pitchFamily="34" charset="0"/>
              </a:rPr>
              <a:t>月春节后的活跃行情后，整体呈现调整态势。主要指数普遍下跌，市场情绪趋于谨慎，成交额小幅放量但杠杆资金持续流出。​涨幅居前板块​包括银行、煤炭等防御性板块和电力、公用事业等，</a:t>
            </a:r>
            <a:r>
              <a:rPr lang="zh-CN" altLang="en-US" sz="2000">
                <a:latin typeface="楷体" panose="02010609060101010101" pitchFamily="49" charset="-122"/>
                <a:ea typeface="楷体" panose="02010609060101010101" pitchFamily="49" charset="-122"/>
                <a:cs typeface="Arial" panose="020B0604020202020204" pitchFamily="34" charset="0"/>
              </a:rPr>
              <a:t>​科技板块</a:t>
            </a:r>
            <a:r>
              <a:rPr lang="zh-CN" altLang="en-US" sz="2000" dirty="0">
                <a:latin typeface="楷体" panose="02010609060101010101" pitchFamily="49" charset="-122"/>
                <a:ea typeface="楷体" panose="02010609060101010101" pitchFamily="49" charset="-122"/>
                <a:cs typeface="Arial" panose="020B0604020202020204" pitchFamily="34" charset="0"/>
              </a:rPr>
              <a:t>承压。市场风格从</a:t>
            </a:r>
            <a:r>
              <a:rPr lang="en-US" altLang="zh-CN" sz="2000" dirty="0">
                <a:latin typeface="楷体" panose="02010609060101010101" pitchFamily="49" charset="-122"/>
                <a:ea typeface="楷体" panose="02010609060101010101" pitchFamily="49" charset="-122"/>
                <a:cs typeface="Arial" panose="020B0604020202020204" pitchFamily="34" charset="0"/>
              </a:rPr>
              <a:t>2</a:t>
            </a:r>
            <a:r>
              <a:rPr lang="zh-CN" altLang="en-US" sz="2000" dirty="0">
                <a:latin typeface="楷体" panose="02010609060101010101" pitchFamily="49" charset="-122"/>
                <a:ea typeface="楷体" panose="02010609060101010101" pitchFamily="49" charset="-122"/>
                <a:cs typeface="Arial" panose="020B0604020202020204" pitchFamily="34" charset="0"/>
              </a:rPr>
              <a:t>月的</a:t>
            </a:r>
            <a:r>
              <a:rPr lang="en-US" altLang="zh-CN" sz="2000" dirty="0">
                <a:latin typeface="楷体" panose="02010609060101010101" pitchFamily="49" charset="-122"/>
                <a:ea typeface="楷体" panose="02010609060101010101" pitchFamily="49" charset="-122"/>
                <a:cs typeface="Arial" panose="020B0604020202020204" pitchFamily="34" charset="0"/>
              </a:rPr>
              <a:t>"</a:t>
            </a:r>
            <a:r>
              <a:rPr lang="zh-CN" altLang="en-US" sz="2000" dirty="0">
                <a:latin typeface="楷体" panose="02010609060101010101" pitchFamily="49" charset="-122"/>
                <a:ea typeface="楷体" panose="02010609060101010101" pitchFamily="49" charset="-122"/>
                <a:cs typeface="Arial" panose="020B0604020202020204" pitchFamily="34" charset="0"/>
              </a:rPr>
              <a:t>高景气、低估值实物资产</a:t>
            </a:r>
            <a:r>
              <a:rPr lang="en-US" altLang="zh-CN" sz="2000" dirty="0">
                <a:latin typeface="楷体" panose="02010609060101010101" pitchFamily="49" charset="-122"/>
                <a:ea typeface="楷体" panose="02010609060101010101" pitchFamily="49" charset="-122"/>
                <a:cs typeface="Arial" panose="020B0604020202020204" pitchFamily="34" charset="0"/>
              </a:rPr>
              <a:t>"</a:t>
            </a:r>
            <a:r>
              <a:rPr lang="zh-CN" altLang="en-US" sz="2000" dirty="0">
                <a:latin typeface="楷体" panose="02010609060101010101" pitchFamily="49" charset="-122"/>
                <a:ea typeface="楷体" panose="02010609060101010101" pitchFamily="49" charset="-122"/>
                <a:cs typeface="Arial" panose="020B0604020202020204" pitchFamily="34" charset="0"/>
              </a:rPr>
              <a:t>向更纯粹的防御性资产倾斜，市场风险偏好明显下降。</a:t>
            </a:r>
            <a:endParaRPr lang="en-US" altLang="zh-CN" sz="2000" dirty="0">
              <a:latin typeface="楷体" panose="02010609060101010101" pitchFamily="49" charset="-122"/>
              <a:ea typeface="楷体" panose="02010609060101010101" pitchFamily="49" charset="-122"/>
              <a:cs typeface="Arial" panose="020B0604020202020204" pitchFamily="34" charset="0"/>
            </a:endParaRPr>
          </a:p>
          <a:p>
            <a:pPr marL="0" lvl="2" algn="just">
              <a:lnSpc>
                <a:spcPct val="110000"/>
              </a:lnSpc>
              <a:spcBef>
                <a:spcPts val="1200"/>
              </a:spcBef>
              <a:spcAft>
                <a:spcPts val="600"/>
              </a:spcAft>
            </a:pPr>
            <a:r>
              <a:rPr lang="en-US" altLang="zh-CN" sz="2000" dirty="0">
                <a:latin typeface="楷体" panose="02010609060101010101" pitchFamily="49" charset="-122"/>
                <a:ea typeface="楷体" panose="02010609060101010101" pitchFamily="49" charset="-122"/>
                <a:cs typeface="Arial" panose="020B0604020202020204" pitchFamily="34" charset="0"/>
              </a:rPr>
              <a:t>2026</a:t>
            </a:r>
            <a:r>
              <a:rPr lang="zh-CN" altLang="en-US" sz="2000" dirty="0">
                <a:latin typeface="楷体" panose="02010609060101010101" pitchFamily="49" charset="-122"/>
                <a:ea typeface="楷体" panose="02010609060101010101" pitchFamily="49" charset="-122"/>
                <a:cs typeface="Arial" panose="020B0604020202020204" pitchFamily="34" charset="0"/>
              </a:rPr>
              <a:t>年</a:t>
            </a:r>
            <a:r>
              <a:rPr lang="en-US" altLang="zh-CN" sz="2000" dirty="0">
                <a:latin typeface="楷体" panose="02010609060101010101" pitchFamily="49" charset="-122"/>
                <a:ea typeface="楷体" panose="02010609060101010101" pitchFamily="49" charset="-122"/>
                <a:cs typeface="Arial" panose="020B0604020202020204" pitchFamily="34" charset="0"/>
              </a:rPr>
              <a:t>3</a:t>
            </a:r>
            <a:r>
              <a:rPr lang="zh-CN" altLang="en-US" sz="2000" dirty="0">
                <a:latin typeface="楷体" panose="02010609060101010101" pitchFamily="49" charset="-122"/>
                <a:ea typeface="楷体" panose="02010609060101010101" pitchFamily="49" charset="-122"/>
                <a:cs typeface="Arial" panose="020B0604020202020204" pitchFamily="34" charset="0"/>
              </a:rPr>
              <a:t>月，港股市场承压下行。地缘冲突压制风险偏好，油价升温引发市场对滞胀风险担忧。全球避险情绪升温导致外资从新兴市场撤离，港股作为离岸市场受相应冲击。若中东局势进一步恶化或油价持续高企，市场可能面临更大调整压力，但国内经济复苏预期、政策支持以及低估值优势为市场提供长期支撑。</a:t>
            </a:r>
          </a:p>
          <a:p>
            <a:pPr marL="0" lvl="2" algn="just">
              <a:lnSpc>
                <a:spcPct val="110000"/>
              </a:lnSpc>
              <a:spcBef>
                <a:spcPts val="1200"/>
              </a:spcBef>
              <a:spcAft>
                <a:spcPts val="600"/>
              </a:spcAft>
            </a:pPr>
            <a:r>
              <a:rPr lang="zh-CN" altLang="en-US" sz="2000" dirty="0">
                <a:latin typeface="楷体" panose="02010609060101010101" pitchFamily="49" charset="-122"/>
                <a:ea typeface="楷体" panose="02010609060101010101" pitchFamily="49" charset="-122"/>
                <a:cs typeface="Arial" panose="020B0604020202020204" pitchFamily="34" charset="0"/>
              </a:rPr>
              <a:t>​</a:t>
            </a:r>
            <a:r>
              <a:rPr lang="en-US" altLang="zh-CN" sz="2000" dirty="0">
                <a:latin typeface="楷体" panose="02010609060101010101" pitchFamily="49" charset="-122"/>
                <a:ea typeface="楷体" panose="02010609060101010101" pitchFamily="49" charset="-122"/>
                <a:cs typeface="Arial" panose="020B0604020202020204" pitchFamily="34" charset="0"/>
              </a:rPr>
              <a:t>4</a:t>
            </a:r>
            <a:r>
              <a:rPr lang="zh-CN" altLang="en-US" sz="2000" dirty="0">
                <a:latin typeface="楷体" panose="02010609060101010101" pitchFamily="49" charset="-122"/>
                <a:ea typeface="楷体" panose="02010609060101010101" pitchFamily="49" charset="-122"/>
                <a:cs typeface="Arial" panose="020B0604020202020204" pitchFamily="34" charset="0"/>
              </a:rPr>
              <a:t>月全球宏观定价美伊冲突背景下的全球通胀，美联储流动性偏紧，市场风险偏好有所降低。叠加一季度财报季，投资需聚焦业绩确定性，</a:t>
            </a:r>
            <a:r>
              <a:rPr lang="en-US" altLang="zh-CN" sz="2000" dirty="0">
                <a:latin typeface="楷体" panose="02010609060101010101" pitchFamily="49" charset="-122"/>
                <a:ea typeface="楷体" panose="02010609060101010101" pitchFamily="49" charset="-122"/>
                <a:cs typeface="Arial" panose="020B0604020202020204" pitchFamily="34" charset="0"/>
              </a:rPr>
              <a:t>4</a:t>
            </a:r>
            <a:r>
              <a:rPr lang="zh-CN" altLang="en-US" sz="2000" dirty="0">
                <a:latin typeface="楷体" panose="02010609060101010101" pitchFamily="49" charset="-122"/>
                <a:ea typeface="楷体" panose="02010609060101010101" pitchFamily="49" charset="-122"/>
                <a:cs typeface="Arial" panose="020B0604020202020204" pitchFamily="34" charset="0"/>
              </a:rPr>
              <a:t>月季节性看好大盘价值风格。三条配置主线：</a:t>
            </a:r>
            <a:r>
              <a:rPr lang="en-US" altLang="zh-CN" sz="2000" b="1" dirty="0">
                <a:latin typeface="楷体" panose="02010609060101010101" pitchFamily="49" charset="-122"/>
                <a:ea typeface="楷体" panose="02010609060101010101" pitchFamily="49" charset="-122"/>
                <a:cs typeface="Arial" panose="020B0604020202020204" pitchFamily="34" charset="0"/>
              </a:rPr>
              <a:t>1</a:t>
            </a:r>
            <a:r>
              <a:rPr lang="zh-CN" altLang="en-US" sz="2000" b="1" dirty="0">
                <a:latin typeface="楷体" panose="02010609060101010101" pitchFamily="49" charset="-122"/>
                <a:ea typeface="楷体" panose="02010609060101010101" pitchFamily="49" charset="-122"/>
                <a:cs typeface="Arial" panose="020B0604020202020204" pitchFamily="34" charset="0"/>
              </a:rPr>
              <a:t>）红利：</a:t>
            </a:r>
            <a:r>
              <a:rPr lang="en-US" altLang="zh-CN" sz="2000" dirty="0">
                <a:latin typeface="楷体" panose="02010609060101010101" pitchFamily="49" charset="-122"/>
                <a:ea typeface="楷体" panose="02010609060101010101" pitchFamily="49" charset="-122"/>
                <a:cs typeface="Arial" panose="020B0604020202020204" pitchFamily="34" charset="0"/>
              </a:rPr>
              <a:t>4</a:t>
            </a:r>
            <a:r>
              <a:rPr lang="zh-CN" altLang="en-US" sz="2000" dirty="0">
                <a:latin typeface="楷体" panose="02010609060101010101" pitchFamily="49" charset="-122"/>
                <a:ea typeface="楷体" panose="02010609060101010101" pitchFamily="49" charset="-122"/>
                <a:cs typeface="Arial" panose="020B0604020202020204" pitchFamily="34" charset="0"/>
              </a:rPr>
              <a:t>月季节性叠加风险偏好，关注红利与周期品机会；</a:t>
            </a:r>
            <a:r>
              <a:rPr lang="en-US" altLang="zh-CN" sz="2000" b="1" dirty="0">
                <a:latin typeface="楷体" panose="02010609060101010101" pitchFamily="49" charset="-122"/>
                <a:ea typeface="楷体" panose="02010609060101010101" pitchFamily="49" charset="-122"/>
                <a:cs typeface="Arial" panose="020B0604020202020204" pitchFamily="34" charset="0"/>
              </a:rPr>
              <a:t>2</a:t>
            </a:r>
            <a:r>
              <a:rPr lang="zh-CN" altLang="en-US" sz="2000" b="1" dirty="0">
                <a:latin typeface="楷体" panose="02010609060101010101" pitchFamily="49" charset="-122"/>
                <a:ea typeface="楷体" panose="02010609060101010101" pitchFamily="49" charset="-122"/>
                <a:cs typeface="Arial" panose="020B0604020202020204" pitchFamily="34" charset="0"/>
              </a:rPr>
              <a:t>）金融：</a:t>
            </a:r>
            <a:r>
              <a:rPr lang="zh-CN" altLang="en-US" sz="2000" dirty="0">
                <a:latin typeface="楷体" panose="02010609060101010101" pitchFamily="49" charset="-122"/>
                <a:ea typeface="楷体" panose="02010609060101010101" pitchFamily="49" charset="-122"/>
                <a:cs typeface="Arial" panose="020B0604020202020204" pitchFamily="34" charset="0"/>
              </a:rPr>
              <a:t>低估值安全边际，对指数稳定性的配置功能；</a:t>
            </a:r>
            <a:r>
              <a:rPr lang="en-US" altLang="zh-CN" sz="2000" b="1" dirty="0">
                <a:latin typeface="楷体" panose="02010609060101010101" pitchFamily="49" charset="-122"/>
                <a:ea typeface="楷体" panose="02010609060101010101" pitchFamily="49" charset="-122"/>
                <a:cs typeface="Arial" panose="020B0604020202020204" pitchFamily="34" charset="0"/>
              </a:rPr>
              <a:t>3</a:t>
            </a:r>
            <a:r>
              <a:rPr lang="zh-CN" altLang="en-US" sz="2000" b="1" dirty="0">
                <a:latin typeface="楷体" panose="02010609060101010101" pitchFamily="49" charset="-122"/>
                <a:ea typeface="楷体" panose="02010609060101010101" pitchFamily="49" charset="-122"/>
                <a:cs typeface="Arial" panose="020B0604020202020204" pitchFamily="34" charset="0"/>
              </a:rPr>
              <a:t>）新能源：</a:t>
            </a:r>
            <a:r>
              <a:rPr lang="zh-CN" altLang="en-US" sz="2000" dirty="0">
                <a:latin typeface="楷体" panose="02010609060101010101" pitchFamily="49" charset="-122"/>
                <a:ea typeface="楷体" panose="02010609060101010101" pitchFamily="49" charset="-122"/>
                <a:cs typeface="Arial" panose="020B0604020202020204" pitchFamily="34" charset="0"/>
              </a:rPr>
              <a:t>制造板块聚焦全球能源危机下的新能源配置机会。</a:t>
            </a:r>
          </a:p>
        </p:txBody>
      </p:sp>
      <p:sp>
        <p:nvSpPr>
          <p:cNvPr id="9" name="文本框 8"/>
          <p:cNvSpPr txBox="1"/>
          <p:nvPr/>
        </p:nvSpPr>
        <p:spPr>
          <a:xfrm>
            <a:off x="511564" y="492283"/>
            <a:ext cx="5054526" cy="584775"/>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国内市场</a:t>
            </a:r>
          </a:p>
        </p:txBody>
      </p:sp>
      <p:sp>
        <p:nvSpPr>
          <p:cNvPr id="10" name="矩形 9"/>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graphicFrame>
        <p:nvGraphicFramePr>
          <p:cNvPr id="8" name="表格 7"/>
          <p:cNvGraphicFramePr>
            <a:graphicFrameLocks noGrp="1"/>
          </p:cNvGraphicFramePr>
          <p:nvPr>
            <p:extLst>
              <p:ext uri="{D42A27DB-BD31-4B8C-83A1-F6EECF244321}">
                <p14:modId xmlns:p14="http://schemas.microsoft.com/office/powerpoint/2010/main" val="2427007358"/>
              </p:ext>
            </p:extLst>
          </p:nvPr>
        </p:nvGraphicFramePr>
        <p:xfrm>
          <a:off x="222988" y="10124571"/>
          <a:ext cx="6523412" cy="1487840"/>
        </p:xfrm>
        <a:graphic>
          <a:graphicData uri="http://schemas.openxmlformats.org/drawingml/2006/table">
            <a:tbl>
              <a:tblPr firstRow="1" bandRow="1">
                <a:tableStyleId>{5A111915-BE36-4E01-A7E5-04B1672EAD32}</a:tableStyleId>
              </a:tblPr>
              <a:tblGrid>
                <a:gridCol w="6523412">
                  <a:extLst>
                    <a:ext uri="{9D8B030D-6E8A-4147-A177-3AD203B41FA5}">
                      <a16:colId xmlns:a16="http://schemas.microsoft.com/office/drawing/2014/main" val="20000"/>
                    </a:ext>
                  </a:extLst>
                </a:gridCol>
              </a:tblGrid>
              <a:tr h="371960">
                <a:tc>
                  <a:txBody>
                    <a:bodyPr/>
                    <a:lstStyle/>
                    <a:p>
                      <a:pPr algn="l"/>
                      <a:r>
                        <a:rPr lang="zh-CN" altLang="en-US" sz="1800" dirty="0"/>
                        <a:t>相关产品</a:t>
                      </a:r>
                    </a:p>
                  </a:txBody>
                  <a:tcPr>
                    <a:solidFill>
                      <a:srgbClr val="2581B5"/>
                    </a:solidFill>
                  </a:tcPr>
                </a:tc>
                <a:extLst>
                  <a:ext uri="{0D108BD9-81ED-4DB2-BD59-A6C34878D82A}">
                    <a16:rowId xmlns:a16="http://schemas.microsoft.com/office/drawing/2014/main" val="10000"/>
                  </a:ext>
                </a:extLst>
              </a:tr>
              <a:tr h="371960">
                <a:tc>
                  <a:txBody>
                    <a:bodyPr/>
                    <a:lstStyle/>
                    <a:p>
                      <a:r>
                        <a:rPr lang="zh-CN" altLang="en-US" sz="1600" b="0" dirty="0">
                          <a:latin typeface="楷体" panose="02010609060101010101" pitchFamily="49" charset="-122"/>
                          <a:ea typeface="楷体" panose="02010609060101010101" pitchFamily="49" charset="-122"/>
                        </a:rPr>
                        <a:t>沪深</a:t>
                      </a:r>
                      <a:r>
                        <a:rPr lang="en-US" altLang="zh-CN" sz="1600" b="0" dirty="0">
                          <a:latin typeface="楷体" panose="02010609060101010101" pitchFamily="49" charset="-122"/>
                          <a:ea typeface="楷体" panose="02010609060101010101" pitchFamily="49" charset="-122"/>
                        </a:rPr>
                        <a:t>300ETF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515390.SH)        A500ETF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159359.SZ</a:t>
                      </a:r>
                      <a:r>
                        <a:rPr lang="zh-CN" altLang="en-US" sz="1600" b="0" dirty="0">
                          <a:latin typeface="楷体" panose="02010609060101010101" pitchFamily="49" charset="-122"/>
                          <a:ea typeface="楷体" panose="02010609060101010101" pitchFamily="49" charset="-122"/>
                        </a:rPr>
                        <a:t>）</a:t>
                      </a:r>
                    </a:p>
                  </a:txBody>
                  <a:tcPr anchor="ctr"/>
                </a:tc>
                <a:extLst>
                  <a:ext uri="{0D108BD9-81ED-4DB2-BD59-A6C34878D82A}">
                    <a16:rowId xmlns:a16="http://schemas.microsoft.com/office/drawing/2014/main" val="10001"/>
                  </a:ext>
                </a:extLst>
              </a:tr>
              <a:tr h="371960">
                <a:tc>
                  <a:txBody>
                    <a:bodyPr/>
                    <a:lstStyle/>
                    <a:p>
                      <a:r>
                        <a:rPr lang="zh-CN" altLang="en-US" sz="1600" b="0" dirty="0">
                          <a:latin typeface="楷体" panose="02010609060101010101" pitchFamily="49" charset="-122"/>
                          <a:ea typeface="楷体" panose="02010609060101010101" pitchFamily="49" charset="-122"/>
                        </a:rPr>
                        <a:t>恒生科技</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513580.SH</a:t>
                      </a:r>
                      <a:r>
                        <a:rPr lang="zh-CN" altLang="en-US" sz="1600" b="0" dirty="0">
                          <a:latin typeface="楷体" panose="02010609060101010101" pitchFamily="49" charset="-122"/>
                          <a:ea typeface="楷体" panose="02010609060101010101" pitchFamily="49" charset="-122"/>
                        </a:rPr>
                        <a:t>）      恒生互联网</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159688.SZ</a:t>
                      </a:r>
                      <a:r>
                        <a:rPr lang="zh-CN" altLang="en-US" sz="1600" b="0" dirty="0">
                          <a:latin typeface="楷体" panose="02010609060101010101" pitchFamily="49" charset="-122"/>
                          <a:ea typeface="楷体" panose="02010609060101010101" pitchFamily="49" charset="-122"/>
                        </a:rPr>
                        <a:t>）</a:t>
                      </a:r>
                    </a:p>
                  </a:txBody>
                  <a:tcPr anchor="ctr"/>
                </a:tc>
                <a:extLst>
                  <a:ext uri="{0D108BD9-81ED-4DB2-BD59-A6C34878D82A}">
                    <a16:rowId xmlns:a16="http://schemas.microsoft.com/office/drawing/2014/main" val="3646502726"/>
                  </a:ext>
                </a:extLst>
              </a:tr>
              <a:tr h="371960">
                <a:tc>
                  <a:txBody>
                    <a:bodyPr/>
                    <a:lstStyle/>
                    <a:p>
                      <a:r>
                        <a:rPr lang="zh-CN" altLang="en-US" sz="1600" b="0" dirty="0">
                          <a:latin typeface="楷体" panose="02010609060101010101" pitchFamily="49" charset="-122"/>
                          <a:ea typeface="楷体" panose="02010609060101010101" pitchFamily="49" charset="-122"/>
                        </a:rPr>
                        <a:t>港股通恒生科技</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520840.SH</a:t>
                      </a:r>
                      <a:r>
                        <a:rPr lang="zh-CN" altLang="en-US" sz="1600" b="0" dirty="0">
                          <a:latin typeface="楷体" panose="02010609060101010101" pitchFamily="49" charset="-122"/>
                          <a:ea typeface="楷体" panose="02010609060101010101" pitchFamily="49" charset="-122"/>
                        </a:rPr>
                        <a:t>）港股通恒生</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520940.SH</a:t>
                      </a:r>
                      <a:r>
                        <a:rPr lang="zh-CN" altLang="en-US" sz="1600" b="0" dirty="0">
                          <a:latin typeface="楷体" panose="02010609060101010101" pitchFamily="49" charset="-122"/>
                          <a:ea typeface="楷体" panose="02010609060101010101" pitchFamily="49" charset="-122"/>
                        </a:rPr>
                        <a:t>）</a:t>
                      </a:r>
                    </a:p>
                  </a:txBody>
                  <a:tcPr anchor="ctr"/>
                </a:tc>
                <a:extLst>
                  <a:ext uri="{0D108BD9-81ED-4DB2-BD59-A6C34878D82A}">
                    <a16:rowId xmlns:a16="http://schemas.microsoft.com/office/drawing/2014/main" val="4123931465"/>
                  </a:ext>
                </a:extLst>
              </a:tr>
            </a:tbl>
          </a:graphicData>
        </a:graphic>
      </p:graphicFrame>
    </p:spTree>
    <p:extLst>
      <p:ext uri="{BB962C8B-B14F-4D97-AF65-F5344CB8AC3E}">
        <p14:creationId xmlns:p14="http://schemas.microsoft.com/office/powerpoint/2010/main" val="2922308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0" y="-634"/>
            <a:ext cx="6858000" cy="1471894"/>
            <a:chOff x="0" y="-634"/>
            <a:chExt cx="6858000" cy="1471894"/>
          </a:xfrm>
        </p:grpSpPr>
        <p:pic>
          <p:nvPicPr>
            <p:cNvPr id="15" name="图片 14" descr="风向标头图"/>
            <p:cNvPicPr>
              <a:picLocks noChangeAspect="1"/>
            </p:cNvPicPr>
            <p:nvPr/>
          </p:nvPicPr>
          <p:blipFill>
            <a:blip r:embed="rId3"/>
            <a:stretch>
              <a:fillRect/>
            </a:stretch>
          </p:blipFill>
          <p:spPr>
            <a:xfrm>
              <a:off x="0" y="-634"/>
              <a:ext cx="6858000" cy="1471894"/>
            </a:xfrm>
            <a:prstGeom prst="rect">
              <a:avLst/>
            </a:prstGeom>
          </p:spPr>
        </p:pic>
        <p:pic>
          <p:nvPicPr>
            <p:cNvPr id="16" name="图片 15"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21" name="矩形 20"/>
          <p:cNvSpPr/>
          <p:nvPr/>
        </p:nvSpPr>
        <p:spPr>
          <a:xfrm>
            <a:off x="334588" y="1501833"/>
            <a:ext cx="6252478" cy="8846011"/>
          </a:xfrm>
          <a:prstGeom prst="rect">
            <a:avLst/>
          </a:prstGeom>
          <a:ln>
            <a:solidFill>
              <a:schemeClr val="bg1"/>
            </a:solidFill>
          </a:ln>
        </p:spPr>
        <p:txBody>
          <a:bodyPr wrap="square">
            <a:spAutoFit/>
          </a:bodyPr>
          <a:lstStyle/>
          <a:p>
            <a:pPr marL="0" lvl="2" algn="just">
              <a:spcBef>
                <a:spcPts val="600"/>
              </a:spcBef>
              <a:spcAft>
                <a:spcPts val="600"/>
              </a:spcAft>
            </a:pPr>
            <a:r>
              <a:rPr lang="zh-CN" altLang="en-US" sz="3200" b="1" dirty="0">
                <a:solidFill>
                  <a:srgbClr val="2581B5"/>
                </a:solidFill>
                <a:latin typeface="楷体" panose="02010609060101010101" pitchFamily="49" charset="-122"/>
                <a:ea typeface="楷体" panose="02010609060101010101" pitchFamily="49" charset="-122"/>
              </a:rPr>
              <a:t>海外市场回顾和展望</a:t>
            </a:r>
            <a:endParaRPr lang="en-US" altLang="zh-CN" sz="2000" dirty="0">
              <a:latin typeface="楷体" panose="02010609060101010101" pitchFamily="49" charset="-122"/>
              <a:ea typeface="楷体" panose="02010609060101010101" pitchFamily="49" charset="-122"/>
              <a:cs typeface="Arial" panose="020B0604020202020204" pitchFamily="34" charset="0"/>
            </a:endParaRPr>
          </a:p>
          <a:p>
            <a:pPr marL="0" lvl="2" algn="just">
              <a:lnSpc>
                <a:spcPts val="2900"/>
              </a:lnSpc>
              <a:spcBef>
                <a:spcPts val="1200"/>
              </a:spcBef>
              <a:spcAft>
                <a:spcPts val="600"/>
              </a:spcAft>
            </a:pPr>
            <a:r>
              <a:rPr lang="zh-CN" altLang="en-US" b="1" dirty="0">
                <a:solidFill>
                  <a:srgbClr val="2581B5"/>
                </a:solidFill>
                <a:latin typeface="楷体" panose="02010609060101010101" pitchFamily="49" charset="-122"/>
                <a:ea typeface="楷体" panose="02010609060101010101" pitchFamily="49" charset="-122"/>
                <a:cs typeface="Arial" panose="020B0604020202020204" pitchFamily="34" charset="0"/>
              </a:rPr>
              <a:t>美国：</a:t>
            </a:r>
            <a:r>
              <a:rPr lang="zh-CN" altLang="en-US" dirty="0">
                <a:latin typeface="楷体" panose="02010609060101010101" pitchFamily="49" charset="-122"/>
                <a:ea typeface="楷体" panose="02010609060101010101" pitchFamily="49" charset="-122"/>
                <a:cs typeface="Arial" panose="020B0604020202020204" pitchFamily="34" charset="0"/>
              </a:rPr>
              <a:t>本次</a:t>
            </a:r>
            <a:r>
              <a:rPr lang="en-US" altLang="zh-CN" dirty="0">
                <a:latin typeface="楷体" panose="02010609060101010101" pitchFamily="49" charset="-122"/>
                <a:ea typeface="楷体" panose="02010609060101010101" pitchFamily="49" charset="-122"/>
                <a:cs typeface="Arial" panose="020B0604020202020204" pitchFamily="34" charset="0"/>
              </a:rPr>
              <a:t>3</a:t>
            </a:r>
            <a:r>
              <a:rPr lang="zh-CN" altLang="en-US" dirty="0">
                <a:latin typeface="楷体" panose="02010609060101010101" pitchFamily="49" charset="-122"/>
                <a:ea typeface="楷体" panose="02010609060101010101" pitchFamily="49" charset="-122"/>
                <a:cs typeface="Arial" panose="020B0604020202020204" pitchFamily="34" charset="0"/>
              </a:rPr>
              <a:t>月美联储议息会议如期按兵不动，备受关注的“点阵图”显示，美联储官员维持</a:t>
            </a:r>
            <a:r>
              <a:rPr lang="en-US" altLang="zh-CN" dirty="0">
                <a:latin typeface="楷体" panose="02010609060101010101" pitchFamily="49" charset="-122"/>
                <a:ea typeface="楷体" panose="02010609060101010101" pitchFamily="49" charset="-122"/>
                <a:cs typeface="Arial" panose="020B0604020202020204" pitchFamily="34" charset="0"/>
              </a:rPr>
              <a:t>2026</a:t>
            </a:r>
            <a:r>
              <a:rPr lang="zh-CN" altLang="en-US" dirty="0">
                <a:latin typeface="楷体" panose="02010609060101010101" pitchFamily="49" charset="-122"/>
                <a:ea typeface="楷体" panose="02010609060101010101" pitchFamily="49" charset="-122"/>
                <a:cs typeface="Arial" panose="020B0604020202020204" pitchFamily="34" charset="0"/>
              </a:rPr>
              <a:t>年降息一次的预测，</a:t>
            </a:r>
            <a:r>
              <a:rPr lang="en-US" altLang="zh-CN" dirty="0">
                <a:latin typeface="楷体" panose="02010609060101010101" pitchFamily="49" charset="-122"/>
                <a:ea typeface="楷体" panose="02010609060101010101" pitchFamily="49" charset="-122"/>
                <a:cs typeface="Arial" panose="020B0604020202020204" pitchFamily="34" charset="0"/>
              </a:rPr>
              <a:t>2027</a:t>
            </a:r>
            <a:r>
              <a:rPr lang="zh-CN" altLang="en-US" dirty="0">
                <a:latin typeface="楷体" panose="02010609060101010101" pitchFamily="49" charset="-122"/>
                <a:ea typeface="楷体" panose="02010609060101010101" pitchFamily="49" charset="-122"/>
                <a:cs typeface="Arial" panose="020B0604020202020204" pitchFamily="34" charset="0"/>
              </a:rPr>
              <a:t>年再降息一次，长期政策利率从</a:t>
            </a:r>
            <a:r>
              <a:rPr lang="en-US" altLang="zh-CN" dirty="0">
                <a:latin typeface="楷体" panose="02010609060101010101" pitchFamily="49" charset="-122"/>
                <a:ea typeface="楷体" panose="02010609060101010101" pitchFamily="49" charset="-122"/>
                <a:cs typeface="Arial" panose="020B0604020202020204" pitchFamily="34" charset="0"/>
              </a:rPr>
              <a:t>3.0%</a:t>
            </a:r>
            <a:r>
              <a:rPr lang="zh-CN" altLang="en-US" dirty="0">
                <a:latin typeface="楷体" panose="02010609060101010101" pitchFamily="49" charset="-122"/>
                <a:ea typeface="楷体" panose="02010609060101010101" pitchFamily="49" charset="-122"/>
                <a:cs typeface="Arial" panose="020B0604020202020204" pitchFamily="34" charset="0"/>
              </a:rPr>
              <a:t>上调至</a:t>
            </a:r>
            <a:r>
              <a:rPr lang="en-US" altLang="zh-CN" dirty="0">
                <a:latin typeface="楷体" panose="02010609060101010101" pitchFamily="49" charset="-122"/>
                <a:ea typeface="楷体" panose="02010609060101010101" pitchFamily="49" charset="-122"/>
                <a:cs typeface="Arial" panose="020B0604020202020204" pitchFamily="34" charset="0"/>
              </a:rPr>
              <a:t>3.1%</a:t>
            </a:r>
            <a:r>
              <a:rPr lang="zh-CN" altLang="en-US" dirty="0">
                <a:latin typeface="楷体" panose="02010609060101010101" pitchFamily="49" charset="-122"/>
                <a:ea typeface="楷体" panose="02010609060101010101" pitchFamily="49" charset="-122"/>
                <a:cs typeface="Arial" panose="020B0604020202020204" pitchFamily="34" charset="0"/>
              </a:rPr>
              <a:t>。美联储主席鲍威尔在发布会上释放了两个鹰派信号：一是明确表示“若通胀无进展则不降息”，二是在司法部调查撤销前不会离开美联储。他还表示，加息的可能性确实被讨论过，但绝大多数人认为加息不是基准情形。对于中东局势，鲍威尔认为此次供给冲击应当是“一次性的”，但其对通胀的影响仍需观察。</a:t>
            </a:r>
            <a:endParaRPr lang="en-US" altLang="zh-CN" dirty="0">
              <a:latin typeface="楷体" panose="02010609060101010101" pitchFamily="49" charset="-122"/>
              <a:ea typeface="楷体" panose="02010609060101010101" pitchFamily="49" charset="-122"/>
              <a:cs typeface="Arial" panose="020B0604020202020204" pitchFamily="34" charset="0"/>
            </a:endParaRPr>
          </a:p>
          <a:p>
            <a:pPr lvl="0">
              <a:lnSpc>
                <a:spcPct val="150000"/>
              </a:lnSpc>
            </a:pPr>
            <a:r>
              <a:rPr lang="zh-CN" altLang="en-US" b="1" dirty="0">
                <a:solidFill>
                  <a:srgbClr val="2581B5"/>
                </a:solidFill>
                <a:latin typeface="楷体" panose="02010609060101010101" pitchFamily="49" charset="-122"/>
                <a:ea typeface="楷体" panose="02010609060101010101" pitchFamily="49" charset="-122"/>
                <a:cs typeface="Arial" panose="020B0604020202020204" pitchFamily="34" charset="0"/>
              </a:rPr>
              <a:t>欧洲：</a:t>
            </a:r>
            <a:r>
              <a:rPr lang="zh-CN" altLang="zh-CN" dirty="0">
                <a:latin typeface="楷体" panose="02010609060101010101" pitchFamily="49" charset="-122"/>
                <a:ea typeface="楷体" panose="02010609060101010101" pitchFamily="49" charset="-122"/>
                <a:cs typeface="Arial" panose="020B0604020202020204" pitchFamily="34" charset="0"/>
              </a:rPr>
              <a:t>欧洲央行</a:t>
            </a:r>
            <a:r>
              <a:rPr lang="zh-CN" altLang="en-US" dirty="0">
                <a:latin typeface="楷体" panose="02010609060101010101" pitchFamily="49" charset="-122"/>
                <a:ea typeface="楷体" panose="02010609060101010101" pitchFamily="49" charset="-122"/>
                <a:cs typeface="Arial" panose="020B0604020202020204" pitchFamily="34" charset="0"/>
              </a:rPr>
              <a:t>本月维持利率不变，同时</a:t>
            </a:r>
            <a:r>
              <a:rPr lang="zh-CN" altLang="zh-CN" dirty="0">
                <a:latin typeface="楷体" panose="02010609060101010101" pitchFamily="49" charset="-122"/>
                <a:ea typeface="楷体" panose="02010609060101010101" pitchFamily="49" charset="-122"/>
                <a:cs typeface="Arial" panose="020B0604020202020204" pitchFamily="34" charset="0"/>
              </a:rPr>
              <a:t>明确表示，中东冲突带来通胀上行风险和经济增长下行风险。欧央行上调中期通胀预期，预计</a:t>
            </a:r>
            <a:r>
              <a:rPr lang="en-US" altLang="zh-CN" dirty="0">
                <a:latin typeface="楷体" panose="02010609060101010101" pitchFamily="49" charset="-122"/>
                <a:ea typeface="楷体" panose="02010609060101010101" pitchFamily="49" charset="-122"/>
                <a:cs typeface="Arial" panose="020B0604020202020204" pitchFamily="34" charset="0"/>
              </a:rPr>
              <a:t>26</a:t>
            </a:r>
            <a:r>
              <a:rPr lang="zh-CN" altLang="zh-CN" dirty="0">
                <a:latin typeface="楷体" panose="02010609060101010101" pitchFamily="49" charset="-122"/>
                <a:ea typeface="楷体" panose="02010609060101010101" pitchFamily="49" charset="-122"/>
                <a:cs typeface="Arial" panose="020B0604020202020204" pitchFamily="34" charset="0"/>
              </a:rPr>
              <a:t>年通胀率为</a:t>
            </a:r>
            <a:r>
              <a:rPr lang="en-US" altLang="zh-CN" dirty="0">
                <a:latin typeface="楷体" panose="02010609060101010101" pitchFamily="49" charset="-122"/>
                <a:ea typeface="楷体" panose="02010609060101010101" pitchFamily="49" charset="-122"/>
                <a:cs typeface="Arial" panose="020B0604020202020204" pitchFamily="34" charset="0"/>
              </a:rPr>
              <a:t>2.6%</a:t>
            </a:r>
            <a:r>
              <a:rPr lang="zh-CN" altLang="zh-CN" dirty="0">
                <a:latin typeface="楷体" panose="02010609060101010101" pitchFamily="49" charset="-122"/>
                <a:ea typeface="楷体" panose="02010609060101010101" pitchFamily="49" charset="-122"/>
                <a:cs typeface="Arial" panose="020B0604020202020204" pitchFamily="34" charset="0"/>
              </a:rPr>
              <a:t>。</a:t>
            </a:r>
          </a:p>
          <a:p>
            <a:pPr marL="0" lvl="2" algn="just">
              <a:lnSpc>
                <a:spcPts val="2900"/>
              </a:lnSpc>
              <a:spcBef>
                <a:spcPts val="1200"/>
              </a:spcBef>
              <a:spcAft>
                <a:spcPts val="600"/>
              </a:spcAft>
            </a:pPr>
            <a:r>
              <a:rPr lang="zh-CN" altLang="en-US" b="1" dirty="0">
                <a:solidFill>
                  <a:srgbClr val="2581B5"/>
                </a:solidFill>
                <a:latin typeface="楷体" panose="02010609060101010101" pitchFamily="49" charset="-122"/>
                <a:ea typeface="楷体" panose="02010609060101010101" pitchFamily="49" charset="-122"/>
                <a:cs typeface="Arial" panose="020B0604020202020204" pitchFamily="34" charset="0"/>
              </a:rPr>
              <a:t>日本：</a:t>
            </a:r>
            <a:r>
              <a:rPr lang="zh-CN" altLang="en-US" dirty="0">
                <a:latin typeface="楷体" panose="02010609060101010101" pitchFamily="49" charset="-122"/>
                <a:ea typeface="楷体" panose="02010609060101010101" pitchFamily="49" charset="-122"/>
                <a:cs typeface="Arial" panose="020B0604020202020204" pitchFamily="34" charset="0"/>
              </a:rPr>
              <a:t>日本央行维持基准利率于</a:t>
            </a:r>
            <a:r>
              <a:rPr lang="en-US" altLang="zh-CN" dirty="0">
                <a:latin typeface="楷体" panose="02010609060101010101" pitchFamily="49" charset="-122"/>
                <a:ea typeface="楷体" panose="02010609060101010101" pitchFamily="49" charset="-122"/>
                <a:cs typeface="Arial" panose="020B0604020202020204" pitchFamily="34" charset="0"/>
              </a:rPr>
              <a:t>0.75%</a:t>
            </a:r>
            <a:r>
              <a:rPr lang="zh-CN" altLang="en-US" dirty="0">
                <a:latin typeface="楷体" panose="02010609060101010101" pitchFamily="49" charset="-122"/>
                <a:ea typeface="楷体" panose="02010609060101010101" pitchFamily="49" charset="-122"/>
                <a:cs typeface="Arial" panose="020B0604020202020204" pitchFamily="34" charset="0"/>
              </a:rPr>
              <a:t>不变，为连续第二次会议保持政策不动。日本央行同时表示，将从可持续、稳定实现</a:t>
            </a:r>
            <a:r>
              <a:rPr lang="en-US" altLang="zh-CN" dirty="0">
                <a:latin typeface="楷体" panose="02010609060101010101" pitchFamily="49" charset="-122"/>
                <a:ea typeface="楷体" panose="02010609060101010101" pitchFamily="49" charset="-122"/>
                <a:cs typeface="Arial" panose="020B0604020202020204" pitchFamily="34" charset="0"/>
              </a:rPr>
              <a:t>2%</a:t>
            </a:r>
            <a:r>
              <a:rPr lang="zh-CN" altLang="en-US" dirty="0">
                <a:latin typeface="楷体" panose="02010609060101010101" pitchFamily="49" charset="-122"/>
                <a:ea typeface="楷体" panose="02010609060101010101" pitchFamily="49" charset="-122"/>
                <a:cs typeface="Arial" panose="020B0604020202020204" pitchFamily="34" charset="0"/>
              </a:rPr>
              <a:t>通胀目标的角度出发适当实施货币政策，并将根据经济和物价的改善情况继续上调政策利率。</a:t>
            </a:r>
            <a:r>
              <a:rPr lang="en-US" altLang="zh-CN" dirty="0">
                <a:latin typeface="楷体" panose="02010609060101010101" pitchFamily="49" charset="-122"/>
                <a:ea typeface="楷体" panose="02010609060101010101" pitchFamily="49" charset="-122"/>
                <a:cs typeface="Arial" panose="020B0604020202020204" pitchFamily="34" charset="0"/>
              </a:rPr>
              <a:t>2</a:t>
            </a:r>
            <a:r>
              <a:rPr lang="zh-CN" altLang="en-US" dirty="0">
                <a:latin typeface="楷体" panose="02010609060101010101" pitchFamily="49" charset="-122"/>
                <a:ea typeface="楷体" panose="02010609060101010101" pitchFamily="49" charset="-122"/>
                <a:cs typeface="Arial" panose="020B0604020202020204" pitchFamily="34" charset="0"/>
              </a:rPr>
              <a:t>月消费者价格指数（</a:t>
            </a:r>
            <a:r>
              <a:rPr lang="en-US" altLang="zh-CN" dirty="0">
                <a:latin typeface="楷体" panose="02010609060101010101" pitchFamily="49" charset="-122"/>
                <a:ea typeface="楷体" panose="02010609060101010101" pitchFamily="49" charset="-122"/>
                <a:cs typeface="Arial" panose="020B0604020202020204" pitchFamily="34" charset="0"/>
              </a:rPr>
              <a:t>CPI</a:t>
            </a:r>
            <a:r>
              <a:rPr lang="zh-CN" altLang="en-US" dirty="0">
                <a:latin typeface="楷体" panose="02010609060101010101" pitchFamily="49" charset="-122"/>
                <a:ea typeface="楷体" panose="02010609060101010101" pitchFamily="49" charset="-122"/>
                <a:cs typeface="Arial" panose="020B0604020202020204" pitchFamily="34" charset="0"/>
              </a:rPr>
              <a:t>）同比涨幅降至</a:t>
            </a:r>
            <a:r>
              <a:rPr lang="en-US" altLang="zh-CN" dirty="0">
                <a:latin typeface="楷体" panose="02010609060101010101" pitchFamily="49" charset="-122"/>
                <a:ea typeface="楷体" panose="02010609060101010101" pitchFamily="49" charset="-122"/>
                <a:cs typeface="Arial" panose="020B0604020202020204" pitchFamily="34" charset="0"/>
              </a:rPr>
              <a:t>1.3%</a:t>
            </a:r>
            <a:r>
              <a:rPr lang="zh-CN" altLang="en-US" dirty="0">
                <a:latin typeface="楷体" panose="02010609060101010101" pitchFamily="49" charset="-122"/>
                <a:ea typeface="楷体" panose="02010609060101010101" pitchFamily="49" charset="-122"/>
                <a:cs typeface="Arial" panose="020B0604020202020204" pitchFamily="34" charset="0"/>
              </a:rPr>
              <a:t>，为</a:t>
            </a:r>
            <a:r>
              <a:rPr lang="en-US" altLang="zh-CN" dirty="0">
                <a:latin typeface="楷体" panose="02010609060101010101" pitchFamily="49" charset="-122"/>
                <a:ea typeface="楷体" panose="02010609060101010101" pitchFamily="49" charset="-122"/>
                <a:cs typeface="Arial" panose="020B0604020202020204" pitchFamily="34" charset="0"/>
              </a:rPr>
              <a:t>2022</a:t>
            </a:r>
            <a:r>
              <a:rPr lang="zh-CN" altLang="en-US" dirty="0">
                <a:latin typeface="楷体" panose="02010609060101010101" pitchFamily="49" charset="-122"/>
                <a:ea typeface="楷体" panose="02010609060101010101" pitchFamily="49" charset="-122"/>
                <a:cs typeface="Arial" panose="020B0604020202020204" pitchFamily="34" charset="0"/>
              </a:rPr>
              <a:t>年</a:t>
            </a:r>
            <a:r>
              <a:rPr lang="en-US" altLang="zh-CN" dirty="0">
                <a:latin typeface="楷体" panose="02010609060101010101" pitchFamily="49" charset="-122"/>
                <a:ea typeface="楷体" panose="02010609060101010101" pitchFamily="49" charset="-122"/>
                <a:cs typeface="Arial" panose="020B0604020202020204" pitchFamily="34" charset="0"/>
              </a:rPr>
              <a:t>3</a:t>
            </a:r>
            <a:r>
              <a:rPr lang="zh-CN" altLang="en-US" dirty="0">
                <a:latin typeface="楷体" panose="02010609060101010101" pitchFamily="49" charset="-122"/>
                <a:ea typeface="楷体" panose="02010609060101010101" pitchFamily="49" charset="-122"/>
                <a:cs typeface="Arial" panose="020B0604020202020204" pitchFamily="34" charset="0"/>
              </a:rPr>
              <a:t>月以来最低水平，连续第四个月回落，并跌破日本央行</a:t>
            </a:r>
            <a:r>
              <a:rPr lang="en-US" altLang="zh-CN" dirty="0">
                <a:latin typeface="楷体" panose="02010609060101010101" pitchFamily="49" charset="-122"/>
                <a:ea typeface="楷体" panose="02010609060101010101" pitchFamily="49" charset="-122"/>
                <a:cs typeface="Arial" panose="020B0604020202020204" pitchFamily="34" charset="0"/>
              </a:rPr>
              <a:t>2%</a:t>
            </a:r>
            <a:r>
              <a:rPr lang="zh-CN" altLang="en-US" dirty="0">
                <a:latin typeface="楷体" panose="02010609060101010101" pitchFamily="49" charset="-122"/>
                <a:ea typeface="楷体" panose="02010609060101010101" pitchFamily="49" charset="-122"/>
                <a:cs typeface="Arial" panose="020B0604020202020204" pitchFamily="34" charset="0"/>
              </a:rPr>
              <a:t>的政策目标。与此同时，剔除生鲜食品的核心</a:t>
            </a:r>
            <a:r>
              <a:rPr lang="en-US" altLang="zh-CN" dirty="0">
                <a:latin typeface="楷体" panose="02010609060101010101" pitchFamily="49" charset="-122"/>
                <a:ea typeface="楷体" panose="02010609060101010101" pitchFamily="49" charset="-122"/>
                <a:cs typeface="Arial" panose="020B0604020202020204" pitchFamily="34" charset="0"/>
              </a:rPr>
              <a:t>CPI</a:t>
            </a:r>
            <a:r>
              <a:rPr lang="zh-CN" altLang="en-US" dirty="0">
                <a:latin typeface="楷体" panose="02010609060101010101" pitchFamily="49" charset="-122"/>
                <a:ea typeface="楷体" panose="02010609060101010101" pitchFamily="49" charset="-122"/>
                <a:cs typeface="Arial" panose="020B0604020202020204" pitchFamily="34" charset="0"/>
              </a:rPr>
              <a:t>涨幅降至</a:t>
            </a:r>
            <a:r>
              <a:rPr lang="en-US" altLang="zh-CN" dirty="0">
                <a:latin typeface="楷体" panose="02010609060101010101" pitchFamily="49" charset="-122"/>
                <a:ea typeface="楷体" panose="02010609060101010101" pitchFamily="49" charset="-122"/>
                <a:cs typeface="Arial" panose="020B0604020202020204" pitchFamily="34" charset="0"/>
              </a:rPr>
              <a:t>1.6%</a:t>
            </a:r>
            <a:r>
              <a:rPr lang="zh-CN" altLang="en-US" dirty="0">
                <a:latin typeface="楷体" panose="02010609060101010101" pitchFamily="49" charset="-122"/>
                <a:ea typeface="楷体" panose="02010609060101010101" pitchFamily="49" charset="-122"/>
                <a:cs typeface="Arial" panose="020B0604020202020204" pitchFamily="34" charset="0"/>
              </a:rPr>
              <a:t>，低于市场预期的</a:t>
            </a:r>
            <a:r>
              <a:rPr lang="en-US" altLang="zh-CN" dirty="0">
                <a:latin typeface="楷体" panose="02010609060101010101" pitchFamily="49" charset="-122"/>
                <a:ea typeface="楷体" panose="02010609060101010101" pitchFamily="49" charset="-122"/>
                <a:cs typeface="Arial" panose="020B0604020202020204" pitchFamily="34" charset="0"/>
              </a:rPr>
              <a:t>1.7%</a:t>
            </a:r>
            <a:r>
              <a:rPr lang="zh-CN" altLang="en-US" dirty="0">
                <a:latin typeface="楷体" panose="02010609060101010101" pitchFamily="49" charset="-122"/>
                <a:ea typeface="楷体" panose="02010609060101010101" pitchFamily="49" charset="-122"/>
                <a:cs typeface="Arial" panose="020B0604020202020204" pitchFamily="34" charset="0"/>
              </a:rPr>
              <a:t>，亦为近四年来首次跌破</a:t>
            </a:r>
            <a:r>
              <a:rPr lang="en-US" altLang="zh-CN" dirty="0">
                <a:latin typeface="楷体" panose="02010609060101010101" pitchFamily="49" charset="-122"/>
                <a:ea typeface="楷体" panose="02010609060101010101" pitchFamily="49" charset="-122"/>
                <a:cs typeface="Arial" panose="020B0604020202020204" pitchFamily="34" charset="0"/>
              </a:rPr>
              <a:t>2%</a:t>
            </a:r>
            <a:r>
              <a:rPr lang="zh-CN" altLang="en-US" dirty="0">
                <a:latin typeface="楷体" panose="02010609060101010101" pitchFamily="49" charset="-122"/>
                <a:ea typeface="楷体" panose="02010609060101010101" pitchFamily="49" charset="-122"/>
                <a:cs typeface="Arial" panose="020B0604020202020204" pitchFamily="34" charset="0"/>
              </a:rPr>
              <a:t>目标。</a:t>
            </a:r>
          </a:p>
        </p:txBody>
      </p:sp>
      <p:sp>
        <p:nvSpPr>
          <p:cNvPr id="11" name="文本框 10"/>
          <p:cNvSpPr txBox="1"/>
          <p:nvPr/>
        </p:nvSpPr>
        <p:spPr>
          <a:xfrm>
            <a:off x="502202" y="617220"/>
            <a:ext cx="5054526" cy="584775"/>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海外宏观</a:t>
            </a:r>
          </a:p>
        </p:txBody>
      </p:sp>
      <p:sp>
        <p:nvSpPr>
          <p:cNvPr id="12" name="矩形 11"/>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graphicFrame>
        <p:nvGraphicFramePr>
          <p:cNvPr id="9" name="表格 8"/>
          <p:cNvGraphicFramePr>
            <a:graphicFrameLocks noGrp="1"/>
          </p:cNvGraphicFramePr>
          <p:nvPr>
            <p:extLst>
              <p:ext uri="{D42A27DB-BD31-4B8C-83A1-F6EECF244321}">
                <p14:modId xmlns:p14="http://schemas.microsoft.com/office/powerpoint/2010/main" val="1422755617"/>
              </p:ext>
            </p:extLst>
          </p:nvPr>
        </p:nvGraphicFramePr>
        <p:xfrm>
          <a:off x="540033" y="10519458"/>
          <a:ext cx="5841588" cy="1244582"/>
        </p:xfrm>
        <a:graphic>
          <a:graphicData uri="http://schemas.openxmlformats.org/drawingml/2006/table">
            <a:tbl>
              <a:tblPr firstRow="1" bandRow="1">
                <a:tableStyleId>{5A111915-BE36-4E01-A7E5-04B1672EAD32}</a:tableStyleId>
              </a:tblPr>
              <a:tblGrid>
                <a:gridCol w="2920794">
                  <a:extLst>
                    <a:ext uri="{9D8B030D-6E8A-4147-A177-3AD203B41FA5}">
                      <a16:colId xmlns:a16="http://schemas.microsoft.com/office/drawing/2014/main" val="20000"/>
                    </a:ext>
                  </a:extLst>
                </a:gridCol>
                <a:gridCol w="2920794">
                  <a:extLst>
                    <a:ext uri="{9D8B030D-6E8A-4147-A177-3AD203B41FA5}">
                      <a16:colId xmlns:a16="http://schemas.microsoft.com/office/drawing/2014/main" val="20001"/>
                    </a:ext>
                  </a:extLst>
                </a:gridCol>
              </a:tblGrid>
              <a:tr h="0">
                <a:tc gridSpan="2">
                  <a:txBody>
                    <a:bodyPr/>
                    <a:lstStyle/>
                    <a:p>
                      <a:pPr algn="l"/>
                      <a:r>
                        <a:rPr lang="zh-CN" altLang="en-US" sz="1800" dirty="0"/>
                        <a:t>相关产品</a:t>
                      </a:r>
                    </a:p>
                  </a:txBody>
                  <a:tcPr>
                    <a:solidFill>
                      <a:srgbClr val="2581B5"/>
                    </a:solidFill>
                  </a:tcPr>
                </a:tc>
                <a:tc hMerge="1">
                  <a:txBody>
                    <a:bodyPr/>
                    <a:lstStyle/>
                    <a:p>
                      <a:endParaRPr lang="zh-CN"/>
                    </a:p>
                  </a:txBody>
                  <a:tcPr/>
                </a:tc>
                <a:extLst>
                  <a:ext uri="{0D108BD9-81ED-4DB2-BD59-A6C34878D82A}">
                    <a16:rowId xmlns:a16="http://schemas.microsoft.com/office/drawing/2014/main" val="10000"/>
                  </a:ext>
                </a:extLst>
              </a:tr>
              <a:tr h="439411">
                <a:tc>
                  <a:txBody>
                    <a:bodyPr/>
                    <a:lstStyle/>
                    <a:p>
                      <a:pPr marL="0" marR="0" indent="0" algn="l" defTabSz="685800" rtl="0" eaLnBrk="1" fontAlgn="auto" latinLnBrk="0" hangingPunct="1">
                        <a:lnSpc>
                          <a:spcPct val="100000"/>
                        </a:lnSpc>
                        <a:spcBef>
                          <a:spcPts val="0"/>
                        </a:spcBef>
                        <a:spcAft>
                          <a:spcPts val="0"/>
                        </a:spcAft>
                        <a:buClrTx/>
                        <a:buSzTx/>
                        <a:buFontTx/>
                        <a:buNone/>
                        <a:defRPr/>
                      </a:pPr>
                      <a:r>
                        <a:rPr lang="zh-CN" altLang="en-US" sz="1600" b="0" dirty="0">
                          <a:latin typeface="楷体" panose="02010609060101010101" pitchFamily="49" charset="-122"/>
                          <a:ea typeface="楷体" panose="02010609060101010101" pitchFamily="49" charset="-122"/>
                        </a:rPr>
                        <a:t>纳斯达克</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159632.SZ</a:t>
                      </a:r>
                      <a:r>
                        <a:rPr lang="zh-CN" altLang="en-US" sz="1600" b="0" dirty="0">
                          <a:latin typeface="楷体" panose="02010609060101010101" pitchFamily="49" charset="-122"/>
                          <a:ea typeface="楷体" panose="02010609060101010101" pitchFamily="49" charset="-122"/>
                        </a:rPr>
                        <a:t>）</a:t>
                      </a:r>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defRPr/>
                      </a:pPr>
                      <a:r>
                        <a:rPr lang="zh-CN" altLang="en-US" sz="1600" b="0" dirty="0">
                          <a:latin typeface="楷体" panose="02010609060101010101" pitchFamily="49" charset="-122"/>
                          <a:ea typeface="楷体" panose="02010609060101010101" pitchFamily="49" charset="-122"/>
                        </a:rPr>
                        <a:t>德国</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513030.SH</a:t>
                      </a:r>
                      <a:r>
                        <a:rPr lang="zh-CN" altLang="en-US" sz="1600" b="0" dirty="0">
                          <a:latin typeface="楷体" panose="02010609060101010101" pitchFamily="49" charset="-122"/>
                          <a:ea typeface="楷体" panose="02010609060101010101" pitchFamily="49" charset="-122"/>
                        </a:rPr>
                        <a:t>）</a:t>
                      </a:r>
                    </a:p>
                  </a:txBody>
                  <a:tcPr anchor="ctr"/>
                </a:tc>
                <a:extLst>
                  <a:ext uri="{0D108BD9-81ED-4DB2-BD59-A6C34878D82A}">
                    <a16:rowId xmlns:a16="http://schemas.microsoft.com/office/drawing/2014/main" val="10001"/>
                  </a:ext>
                </a:extLst>
              </a:tr>
              <a:tr h="439411">
                <a:tc>
                  <a:txBody>
                    <a:bodyPr/>
                    <a:lstStyle/>
                    <a:p>
                      <a:r>
                        <a:rPr lang="zh-CN" altLang="en-US" sz="1600" b="0" dirty="0">
                          <a:latin typeface="楷体" panose="02010609060101010101" pitchFamily="49" charset="-122"/>
                          <a:ea typeface="楷体" panose="02010609060101010101" pitchFamily="49" charset="-122"/>
                        </a:rPr>
                        <a:t>日经</a:t>
                      </a:r>
                      <a:r>
                        <a:rPr lang="en-US" altLang="zh-CN" sz="1600" b="0" dirty="0">
                          <a:latin typeface="楷体" panose="02010609060101010101" pitchFamily="49" charset="-122"/>
                          <a:ea typeface="楷体" panose="02010609060101010101" pitchFamily="49" charset="-122"/>
                        </a:rPr>
                        <a:t>225ETF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513880.SH</a:t>
                      </a:r>
                      <a:r>
                        <a:rPr lang="zh-CN" altLang="en-US" sz="1600" b="0" dirty="0">
                          <a:latin typeface="楷体" panose="02010609060101010101" pitchFamily="49" charset="-122"/>
                          <a:ea typeface="楷体" panose="02010609060101010101" pitchFamily="49" charset="-122"/>
                        </a:rPr>
                        <a:t>）</a:t>
                      </a:r>
                    </a:p>
                  </a:txBody>
                  <a:tcPr anchor="ctr"/>
                </a:tc>
                <a:tc>
                  <a:txBody>
                    <a:bodyPr/>
                    <a:lstStyle/>
                    <a:p>
                      <a:pPr marL="0" marR="0" indent="0" algn="l" defTabSz="685800" rtl="0" eaLnBrk="1" fontAlgn="auto" latinLnBrk="0" hangingPunct="1">
                        <a:lnSpc>
                          <a:spcPct val="100000"/>
                        </a:lnSpc>
                        <a:spcBef>
                          <a:spcPts val="0"/>
                        </a:spcBef>
                        <a:spcAft>
                          <a:spcPts val="0"/>
                        </a:spcAft>
                        <a:buClrTx/>
                        <a:buSzTx/>
                        <a:buFontTx/>
                        <a:buNone/>
                        <a:defRPr/>
                      </a:pPr>
                      <a:r>
                        <a:rPr lang="zh-CN" altLang="en-US" sz="1600" b="0" dirty="0">
                          <a:latin typeface="楷体" panose="02010609060101010101" pitchFamily="49" charset="-122"/>
                          <a:ea typeface="楷体" panose="02010609060101010101" pitchFamily="49" charset="-122"/>
                        </a:rPr>
                        <a:t>法国</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zh-CN" altLang="en-US" sz="1600" b="0" baseline="0" dirty="0">
                          <a:latin typeface="楷体" panose="02010609060101010101" pitchFamily="49" charset="-122"/>
                          <a:ea typeface="楷体" panose="02010609060101010101" pitchFamily="49" charset="-122"/>
                        </a:rPr>
                        <a:t>（</a:t>
                      </a:r>
                      <a:r>
                        <a:rPr lang="en-US" altLang="zh-CN" sz="1600" b="0" baseline="0" dirty="0">
                          <a:latin typeface="楷体" panose="02010609060101010101" pitchFamily="49" charset="-122"/>
                          <a:ea typeface="楷体" panose="02010609060101010101" pitchFamily="49" charset="-122"/>
                        </a:rPr>
                        <a:t>513080.SH</a:t>
                      </a:r>
                      <a:r>
                        <a:rPr lang="zh-CN" altLang="en-US" sz="1600" b="0" baseline="0" dirty="0">
                          <a:latin typeface="楷体" panose="02010609060101010101" pitchFamily="49" charset="-122"/>
                          <a:ea typeface="楷体" panose="02010609060101010101" pitchFamily="49" charset="-122"/>
                        </a:rPr>
                        <a:t>）</a:t>
                      </a:r>
                      <a:endParaRPr lang="zh-CN" altLang="en-US" sz="1600" b="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0002"/>
                  </a:ext>
                </a:extLst>
              </a:tr>
            </a:tbl>
          </a:graphicData>
        </a:graphic>
      </p:graphicFrame>
      <p:sp>
        <p:nvSpPr>
          <p:cNvPr id="2" name="文本框 1"/>
          <p:cNvSpPr txBox="1"/>
          <p:nvPr/>
        </p:nvSpPr>
        <p:spPr>
          <a:xfrm>
            <a:off x="2542540" y="11953240"/>
            <a:ext cx="2286000" cy="368300"/>
          </a:xfrm>
          <a:prstGeom prst="rect">
            <a:avLst/>
          </a:prstGeom>
          <a:noFill/>
        </p:spPr>
        <p:txBody>
          <a:bodyPr wrap="square" rtlCol="0">
            <a:spAutoFit/>
          </a:bodyPr>
          <a:lstStyle/>
          <a:p>
            <a:endParaRPr lang="zh-CN" altLang="en-US"/>
          </a:p>
        </p:txBody>
      </p:sp>
    </p:spTree>
    <p:extLst>
      <p:ext uri="{BB962C8B-B14F-4D97-AF65-F5344CB8AC3E}">
        <p14:creationId xmlns:p14="http://schemas.microsoft.com/office/powerpoint/2010/main" val="4005454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1" y="-169967"/>
            <a:ext cx="6858000" cy="1471894"/>
            <a:chOff x="0" y="-634"/>
            <a:chExt cx="6858000" cy="1471894"/>
          </a:xfrm>
        </p:grpSpPr>
        <p:pic>
          <p:nvPicPr>
            <p:cNvPr id="16" name="图片 15" descr="风向标头图"/>
            <p:cNvPicPr>
              <a:picLocks noChangeAspect="1"/>
            </p:cNvPicPr>
            <p:nvPr/>
          </p:nvPicPr>
          <p:blipFill>
            <a:blip r:embed="rId4"/>
            <a:stretch>
              <a:fillRect/>
            </a:stretch>
          </p:blipFill>
          <p:spPr>
            <a:xfrm>
              <a:off x="0" y="-634"/>
              <a:ext cx="6858000" cy="1471894"/>
            </a:xfrm>
            <a:prstGeom prst="rect">
              <a:avLst/>
            </a:prstGeom>
          </p:spPr>
        </p:pic>
        <p:pic>
          <p:nvPicPr>
            <p:cNvPr id="17" name="图片 16" descr="资源 1"/>
            <p:cNvPicPr>
              <a:picLocks noChangeAspect="1"/>
            </p:cNvPicPr>
            <p:nvPr>
              <p:custDataLst>
                <p:tags r:id="rId1"/>
              </p:custDataLst>
            </p:nvPr>
          </p:nvPicPr>
          <p:blipFill>
            <a:blip r:embed="rId5"/>
            <a:stretch>
              <a:fillRect/>
            </a:stretch>
          </p:blipFill>
          <p:spPr>
            <a:xfrm>
              <a:off x="4674870" y="179070"/>
              <a:ext cx="1711960" cy="438150"/>
            </a:xfrm>
            <a:prstGeom prst="rect">
              <a:avLst/>
            </a:prstGeom>
          </p:spPr>
        </p:pic>
      </p:grpSp>
      <p:sp>
        <p:nvSpPr>
          <p:cNvPr id="21" name="矩形 20"/>
          <p:cNvSpPr/>
          <p:nvPr/>
        </p:nvSpPr>
        <p:spPr>
          <a:xfrm>
            <a:off x="377751" y="1529676"/>
            <a:ext cx="6221195" cy="9151223"/>
          </a:xfrm>
          <a:prstGeom prst="rect">
            <a:avLst/>
          </a:prstGeom>
        </p:spPr>
        <p:txBody>
          <a:bodyPr wrap="square">
            <a:spAutoFit/>
          </a:bodyPr>
          <a:lstStyle/>
          <a:p>
            <a:pPr marL="0" lvl="2" algn="just">
              <a:spcBef>
                <a:spcPts val="600"/>
              </a:spcBef>
              <a:spcAft>
                <a:spcPts val="600"/>
              </a:spcAft>
            </a:pPr>
            <a:r>
              <a:rPr lang="zh-CN" altLang="en-US" sz="3200" b="1" dirty="0">
                <a:solidFill>
                  <a:srgbClr val="2581B5"/>
                </a:solidFill>
                <a:latin typeface="楷体" panose="02010609060101010101" pitchFamily="49" charset="-122"/>
                <a:ea typeface="楷体" panose="02010609060101010101" pitchFamily="49" charset="-122"/>
              </a:rPr>
              <a:t>债券市场回顾和展望</a:t>
            </a:r>
            <a:endParaRPr lang="en-US" altLang="zh-CN" sz="3200" b="1" dirty="0">
              <a:solidFill>
                <a:srgbClr val="2581B5"/>
              </a:solidFill>
              <a:latin typeface="楷体" panose="02010609060101010101" pitchFamily="49" charset="-122"/>
              <a:ea typeface="楷体" panose="02010609060101010101" pitchFamily="49" charset="-122"/>
            </a:endParaRPr>
          </a:p>
          <a:p>
            <a:pPr marL="0" lvl="2">
              <a:lnSpc>
                <a:spcPts val="3200"/>
              </a:lnSpc>
              <a:spcBef>
                <a:spcPts val="2400"/>
              </a:spcBef>
              <a:spcAft>
                <a:spcPts val="600"/>
              </a:spcAft>
            </a:pPr>
            <a:r>
              <a:rPr lang="zh-CN" altLang="en-US" b="1" dirty="0">
                <a:solidFill>
                  <a:srgbClr val="2581B5"/>
                </a:solidFill>
                <a:latin typeface="Arial" panose="020B0604020202020204" pitchFamily="34" charset="0"/>
                <a:ea typeface="楷体" panose="02010609060101010101" pitchFamily="49" charset="-122"/>
                <a:cs typeface="Arial" panose="020B0604020202020204" pitchFamily="34" charset="0"/>
              </a:rPr>
              <a:t>国债：</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月国债市场在通胀预期抬头与经济数据回暖的双重压制下，呈现出显著的“短强长弱”分化格局，收益率曲线因此陡峭化上行。尽管资金面维持宽松支撑了短端表现，但受地缘政治引发的油价上涨及政府债供给前置影响，长端利率承压调整，导致</a:t>
            </a:r>
            <a:r>
              <a:rPr lang="en-US" altLang="zh-CN" dirty="0">
                <a:latin typeface="楷体" panose="02010609060101010101" pitchFamily="49" charset="-122"/>
                <a:ea typeface="楷体" panose="02010609060101010101" pitchFamily="49" charset="-122"/>
              </a:rPr>
              <a:t>30</a:t>
            </a:r>
            <a:r>
              <a:rPr lang="zh-CN" altLang="en-US" dirty="0">
                <a:latin typeface="楷体" panose="02010609060101010101" pitchFamily="49" charset="-122"/>
                <a:ea typeface="楷体" panose="02010609060101010101" pitchFamily="49" charset="-122"/>
              </a:rPr>
              <a:t>年与</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年期国债利差走阔至历史高位。展望</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月，债市大概率将延续区间震荡态势，难以出现单边趋势性行情，核心波动区间预计维持在</a:t>
            </a:r>
            <a:r>
              <a:rPr lang="en-US" altLang="zh-CN" dirty="0">
                <a:latin typeface="楷体" panose="02010609060101010101" pitchFamily="49" charset="-122"/>
                <a:ea typeface="楷体" panose="02010609060101010101" pitchFamily="49" charset="-122"/>
              </a:rPr>
              <a:t>1.75%-1.85%</a:t>
            </a:r>
            <a:r>
              <a:rPr lang="zh-CN" altLang="en-US" dirty="0">
                <a:latin typeface="楷体" panose="02010609060101010101" pitchFamily="49" charset="-122"/>
                <a:ea typeface="楷体" panose="02010609060101010101" pitchFamily="49" charset="-122"/>
              </a:rPr>
              <a:t>。市场焦点将集中于超长期特别国债的发行节奏、中东局势演化以及基本面修复的持续性，这些因素将决定利率的边际变化。</a:t>
            </a:r>
            <a:endParaRPr lang="en-US" altLang="zh-CN" dirty="0">
              <a:latin typeface="楷体" panose="02010609060101010101" pitchFamily="49" charset="-122"/>
              <a:ea typeface="楷体" panose="02010609060101010101" pitchFamily="49" charset="-122"/>
            </a:endParaRPr>
          </a:p>
          <a:p>
            <a:pPr marL="0" lvl="2">
              <a:lnSpc>
                <a:spcPts val="3200"/>
              </a:lnSpc>
              <a:spcBef>
                <a:spcPts val="2400"/>
              </a:spcBef>
              <a:spcAft>
                <a:spcPts val="600"/>
              </a:spcAft>
            </a:pPr>
            <a:r>
              <a:rPr lang="zh-CN" altLang="en-US" b="1" dirty="0">
                <a:solidFill>
                  <a:srgbClr val="2581B5"/>
                </a:solidFill>
                <a:latin typeface="Arial" panose="020B0604020202020204" pitchFamily="34" charset="0"/>
                <a:ea typeface="楷体" panose="02010609060101010101" pitchFamily="49" charset="-122"/>
                <a:cs typeface="Arial" panose="020B0604020202020204" pitchFamily="34" charset="0"/>
              </a:rPr>
              <a:t>美债：</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月美债市场经历了从避险驱动到滞胀担忧的剧烈切换，受美伊冲突及油价飙升影响，</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年期收益率波动加剧并反弹至</a:t>
            </a:r>
            <a:r>
              <a:rPr lang="en-US" altLang="zh-CN" dirty="0">
                <a:latin typeface="楷体" panose="02010609060101010101" pitchFamily="49" charset="-122"/>
                <a:ea typeface="楷体" panose="02010609060101010101" pitchFamily="49" charset="-122"/>
              </a:rPr>
              <a:t>4.28%</a:t>
            </a:r>
            <a:r>
              <a:rPr lang="zh-CN" altLang="en-US" dirty="0">
                <a:latin typeface="楷体" panose="02010609060101010101" pitchFamily="49" charset="-122"/>
                <a:ea typeface="楷体" panose="02010609060101010101" pitchFamily="49" charset="-122"/>
              </a:rPr>
              <a:t>附近。受通胀预期升温与政策不确定性双重压制，收益率曲线呈现平坦化特征，</a:t>
            </a:r>
            <a:r>
              <a:rPr lang="en-US" altLang="zh-CN" dirty="0">
                <a:latin typeface="楷体" panose="02010609060101010101" pitchFamily="49" charset="-122"/>
                <a:ea typeface="楷体" panose="02010609060101010101" pitchFamily="49" charset="-122"/>
              </a:rPr>
              <a:t>30</a:t>
            </a:r>
            <a:r>
              <a:rPr lang="zh-CN" altLang="en-US" dirty="0">
                <a:latin typeface="楷体" panose="02010609060101010101" pitchFamily="49" charset="-122"/>
                <a:ea typeface="楷体" panose="02010609060101010101" pitchFamily="49" charset="-122"/>
              </a:rPr>
              <a:t>年与</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年期利差显著扩大。展望</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月，市场核心逻辑将围绕地缘局势演化与美联储政策信号展开，基准情景下预计</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年期美债收益率将在</a:t>
            </a:r>
            <a:r>
              <a:rPr lang="en-US" altLang="zh-CN" dirty="0">
                <a:latin typeface="楷体" panose="02010609060101010101" pitchFamily="49" charset="-122"/>
                <a:ea typeface="楷体" panose="02010609060101010101" pitchFamily="49" charset="-122"/>
              </a:rPr>
              <a:t>4.1%-4.4%</a:t>
            </a:r>
            <a:r>
              <a:rPr lang="zh-CN" altLang="en-US" dirty="0">
                <a:latin typeface="楷体" panose="02010609060101010101" pitchFamily="49" charset="-122"/>
                <a:ea typeface="楷体" panose="02010609060101010101" pitchFamily="49" charset="-122"/>
              </a:rPr>
              <a:t>区间高位震荡。若地缘冲突僵持导致油价维持高位，长端利率将面临持续压制，但若局势缓和或经济数据疲软，收益率存在回落空间。总体而言，需密切关注霍尔木兹海峡局势及后续</a:t>
            </a:r>
            <a:r>
              <a:rPr lang="en-US" altLang="zh-CN" dirty="0">
                <a:latin typeface="楷体" panose="02010609060101010101" pitchFamily="49" charset="-122"/>
                <a:ea typeface="楷体" panose="02010609060101010101" pitchFamily="49" charset="-122"/>
              </a:rPr>
              <a:t>CPI</a:t>
            </a:r>
            <a:r>
              <a:rPr lang="zh-CN" altLang="en-US" dirty="0">
                <a:latin typeface="楷体" panose="02010609060101010101" pitchFamily="49" charset="-122"/>
                <a:ea typeface="楷体" panose="02010609060101010101" pitchFamily="49" charset="-122"/>
              </a:rPr>
              <a:t>数据对降息预期的修正。</a:t>
            </a:r>
          </a:p>
        </p:txBody>
      </p:sp>
      <p:sp>
        <p:nvSpPr>
          <p:cNvPr id="9" name="文本框 8"/>
          <p:cNvSpPr txBox="1"/>
          <p:nvPr/>
        </p:nvSpPr>
        <p:spPr>
          <a:xfrm>
            <a:off x="511564" y="492283"/>
            <a:ext cx="5054526" cy="584775"/>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债券市场</a:t>
            </a:r>
          </a:p>
        </p:txBody>
      </p:sp>
      <p:sp>
        <p:nvSpPr>
          <p:cNvPr id="10" name="矩形 9"/>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graphicFrame>
        <p:nvGraphicFramePr>
          <p:cNvPr id="11" name="表格 10"/>
          <p:cNvGraphicFramePr>
            <a:graphicFrameLocks noGrp="1"/>
          </p:cNvGraphicFramePr>
          <p:nvPr>
            <p:extLst>
              <p:ext uri="{D42A27DB-BD31-4B8C-83A1-F6EECF244321}">
                <p14:modId xmlns:p14="http://schemas.microsoft.com/office/powerpoint/2010/main" val="2466336603"/>
              </p:ext>
            </p:extLst>
          </p:nvPr>
        </p:nvGraphicFramePr>
        <p:xfrm>
          <a:off x="420914" y="10905768"/>
          <a:ext cx="6205424" cy="701040"/>
        </p:xfrm>
        <a:graphic>
          <a:graphicData uri="http://schemas.openxmlformats.org/drawingml/2006/table">
            <a:tbl>
              <a:tblPr firstRow="1" bandRow="1">
                <a:tableStyleId>{5A111915-BE36-4E01-A7E5-04B1672EAD32}</a:tableStyleId>
              </a:tblPr>
              <a:tblGrid>
                <a:gridCol w="3102712">
                  <a:extLst>
                    <a:ext uri="{9D8B030D-6E8A-4147-A177-3AD203B41FA5}">
                      <a16:colId xmlns:a16="http://schemas.microsoft.com/office/drawing/2014/main" val="1591737505"/>
                    </a:ext>
                  </a:extLst>
                </a:gridCol>
                <a:gridCol w="3102712">
                  <a:extLst>
                    <a:ext uri="{9D8B030D-6E8A-4147-A177-3AD203B41FA5}">
                      <a16:colId xmlns:a16="http://schemas.microsoft.com/office/drawing/2014/main" val="2507035621"/>
                    </a:ext>
                  </a:extLst>
                </a:gridCol>
              </a:tblGrid>
              <a:tr h="236654">
                <a:tc gridSpan="2">
                  <a:txBody>
                    <a:bodyPr/>
                    <a:lstStyle/>
                    <a:p>
                      <a:pPr algn="l"/>
                      <a:r>
                        <a:rPr lang="zh-CN" altLang="en-US" sz="1600" dirty="0"/>
                        <a:t>相关产品</a:t>
                      </a:r>
                      <a:r>
                        <a:rPr lang="en-US" altLang="zh-CN" sz="1600" dirty="0"/>
                        <a:t>:</a:t>
                      </a:r>
                      <a:endParaRPr lang="zh-CN" altLang="en-US" sz="1600" b="1" dirty="0">
                        <a:solidFill>
                          <a:schemeClr val="accent5"/>
                        </a:solidFill>
                        <a:latin typeface="+mn-ea"/>
                        <a:ea typeface="+mn-ea"/>
                      </a:endParaRPr>
                    </a:p>
                  </a:txBody>
                  <a:tcPr anchor="ctr">
                    <a:solidFill>
                      <a:srgbClr val="2581B5"/>
                    </a:solidFill>
                  </a:tcPr>
                </a:tc>
                <a:tc hMerge="1">
                  <a:txBody>
                    <a:bodyPr/>
                    <a:lstStyle/>
                    <a:p>
                      <a:pPr algn="ctr"/>
                      <a:endParaRPr lang="zh-CN" altLang="en-US" sz="1600" dirty="0">
                        <a:latin typeface="+mn-ea"/>
                        <a:ea typeface="+mn-ea"/>
                      </a:endParaRPr>
                    </a:p>
                  </a:txBody>
                  <a:tcPr/>
                </a:tc>
                <a:extLst>
                  <a:ext uri="{0D108BD9-81ED-4DB2-BD59-A6C34878D82A}">
                    <a16:rowId xmlns:a16="http://schemas.microsoft.com/office/drawing/2014/main" val="1873251457"/>
                  </a:ext>
                </a:extLst>
              </a:tr>
              <a:tr h="258167">
                <a:tc>
                  <a:txBody>
                    <a:bodyPr/>
                    <a:lstStyle/>
                    <a:p>
                      <a:r>
                        <a:rPr lang="zh-CN" altLang="en-US" sz="1800" b="0" dirty="0">
                          <a:latin typeface="楷体" panose="02010609060101010101" pitchFamily="49" charset="-122"/>
                          <a:ea typeface="楷体" panose="02010609060101010101" pitchFamily="49" charset="-122"/>
                        </a:rPr>
                        <a:t>国开债</a:t>
                      </a:r>
                      <a:r>
                        <a:rPr lang="en-US" altLang="zh-CN" sz="1800" b="0" dirty="0">
                          <a:latin typeface="楷体" panose="02010609060101010101" pitchFamily="49" charset="-122"/>
                          <a:ea typeface="楷体" panose="02010609060101010101" pitchFamily="49" charset="-122"/>
                        </a:rPr>
                        <a:t>ETF</a:t>
                      </a:r>
                      <a:r>
                        <a:rPr lang="zh-CN" altLang="en-US" sz="1800" b="0" dirty="0">
                          <a:latin typeface="楷体" panose="02010609060101010101" pitchFamily="49" charset="-122"/>
                          <a:ea typeface="楷体" panose="02010609060101010101" pitchFamily="49" charset="-122"/>
                        </a:rPr>
                        <a:t>华安（</a:t>
                      </a:r>
                      <a:r>
                        <a:rPr lang="en-US" altLang="zh-CN" sz="1800" b="0" dirty="0">
                          <a:latin typeface="楷体" panose="02010609060101010101" pitchFamily="49" charset="-122"/>
                          <a:ea typeface="楷体" panose="02010609060101010101" pitchFamily="49" charset="-122"/>
                        </a:rPr>
                        <a:t>159649.SZ)</a:t>
                      </a:r>
                      <a:endParaRPr lang="zh-CN" altLang="en-US" sz="1800" b="0" dirty="0">
                        <a:solidFill>
                          <a:schemeClr val="accent5"/>
                        </a:solidFill>
                        <a:latin typeface="楷体" panose="02010609060101010101" pitchFamily="49" charset="-122"/>
                        <a:ea typeface="楷体" panose="02010609060101010101" pitchFamily="49" charset="-122"/>
                      </a:endParaRPr>
                    </a:p>
                  </a:txBody>
                  <a:tcPr anchor="ctr"/>
                </a:tc>
                <a:tc>
                  <a:txBody>
                    <a:bodyPr/>
                    <a:lstStyle/>
                    <a:p>
                      <a:endParaRPr lang="zh-CN" altLang="en-US" sz="1800" b="0" dirty="0">
                        <a:solidFill>
                          <a:schemeClr val="accent5"/>
                        </a:solidFill>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4084364136"/>
                  </a:ext>
                </a:extLst>
              </a:tr>
            </a:tbl>
          </a:graphicData>
        </a:graphic>
      </p:graphicFrame>
    </p:spTree>
    <p:extLst>
      <p:ext uri="{BB962C8B-B14F-4D97-AF65-F5344CB8AC3E}">
        <p14:creationId xmlns:p14="http://schemas.microsoft.com/office/powerpoint/2010/main" val="1400456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0" y="-634"/>
            <a:ext cx="6858000" cy="1471894"/>
            <a:chOff x="0" y="-634"/>
            <a:chExt cx="6858000" cy="1471894"/>
          </a:xfrm>
        </p:grpSpPr>
        <p:pic>
          <p:nvPicPr>
            <p:cNvPr id="13" name="图片 12" descr="风向标头图"/>
            <p:cNvPicPr>
              <a:picLocks noChangeAspect="1"/>
            </p:cNvPicPr>
            <p:nvPr/>
          </p:nvPicPr>
          <p:blipFill>
            <a:blip r:embed="rId3"/>
            <a:stretch>
              <a:fillRect/>
            </a:stretch>
          </p:blipFill>
          <p:spPr>
            <a:xfrm>
              <a:off x="0" y="-634"/>
              <a:ext cx="6858000" cy="1471894"/>
            </a:xfrm>
            <a:prstGeom prst="rect">
              <a:avLst/>
            </a:prstGeom>
          </p:spPr>
        </p:pic>
        <p:pic>
          <p:nvPicPr>
            <p:cNvPr id="14" name="图片 13"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22" name="文本框 21"/>
          <p:cNvSpPr txBox="1"/>
          <p:nvPr/>
        </p:nvSpPr>
        <p:spPr>
          <a:xfrm>
            <a:off x="511564" y="492283"/>
            <a:ext cx="5054526" cy="584775"/>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商品</a:t>
            </a:r>
          </a:p>
        </p:txBody>
      </p:sp>
      <p:sp>
        <p:nvSpPr>
          <p:cNvPr id="23" name="矩形 22"/>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11" name="矩形 10"/>
          <p:cNvSpPr/>
          <p:nvPr/>
        </p:nvSpPr>
        <p:spPr>
          <a:xfrm>
            <a:off x="435310" y="1650964"/>
            <a:ext cx="5987380" cy="8931676"/>
          </a:xfrm>
          <a:prstGeom prst="rect">
            <a:avLst/>
          </a:prstGeom>
        </p:spPr>
        <p:txBody>
          <a:bodyPr wrap="square">
            <a:spAutoFit/>
          </a:bodyPr>
          <a:lstStyle/>
          <a:p>
            <a:pPr marL="0" lvl="2" algn="just">
              <a:lnSpc>
                <a:spcPct val="120000"/>
              </a:lnSpc>
            </a:pPr>
            <a:r>
              <a:rPr lang="zh-CN" altLang="en-US" sz="3200" b="1" dirty="0">
                <a:solidFill>
                  <a:srgbClr val="2581B5"/>
                </a:solidFill>
                <a:latin typeface="楷体" panose="02010609060101010101" pitchFamily="49" charset="-122"/>
                <a:ea typeface="楷体" panose="02010609060101010101" pitchFamily="49" charset="-122"/>
              </a:rPr>
              <a:t>商品市场回顾和展望</a:t>
            </a:r>
            <a:endParaRPr lang="en-US" altLang="zh-CN" sz="3200" b="1" dirty="0">
              <a:solidFill>
                <a:srgbClr val="2581B5"/>
              </a:solidFill>
              <a:latin typeface="楷体" panose="02010609060101010101" pitchFamily="49" charset="-122"/>
              <a:ea typeface="楷体" panose="02010609060101010101" pitchFamily="49" charset="-122"/>
            </a:endParaRPr>
          </a:p>
          <a:p>
            <a:pPr marL="0" lvl="2" algn="just">
              <a:lnSpc>
                <a:spcPct val="120000"/>
              </a:lnSpc>
              <a:spcBef>
                <a:spcPts val="2400"/>
              </a:spcBef>
            </a:pPr>
            <a:r>
              <a:rPr lang="zh-CN" altLang="en-US" sz="2000" b="1" dirty="0">
                <a:latin typeface="楷体" panose="02010609060101010101" pitchFamily="49" charset="-122"/>
                <a:ea typeface="楷体" panose="02010609060101010101" pitchFamily="49" charset="-122"/>
                <a:cs typeface="Arial" panose="020B0604020202020204" pitchFamily="34" charset="0"/>
              </a:rPr>
              <a:t>黄金</a:t>
            </a:r>
            <a:r>
              <a:rPr lang="zh-CN" altLang="en-US" sz="2000" b="1" dirty="0">
                <a:latin typeface="楷体" panose="02010609060101010101" pitchFamily="49" charset="-122"/>
                <a:ea typeface="楷体" panose="02010609060101010101" pitchFamily="49" charset="-122"/>
                <a:cs typeface="Arial" panose="020B0604020202020204" pitchFamily="34" charset="0"/>
                <a:sym typeface="+mn-lt"/>
              </a:rPr>
              <a:t>：</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3</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月黄金表现受美联储加息预期、流动性冲击、部分央行卖出等影响大幅震荡。</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AU9999</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跌</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10.86%</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至</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1018.9</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元</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克，伦敦金跌</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11.54%</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至</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4669.13</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美元</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盎司。</a:t>
            </a:r>
          </a:p>
          <a:p>
            <a:pPr marL="0" lvl="2" algn="just">
              <a:lnSpc>
                <a:spcPct val="120000"/>
              </a:lnSpc>
              <a:spcBef>
                <a:spcPts val="2400"/>
              </a:spcBef>
            </a:pPr>
            <a:r>
              <a:rPr lang="zh-CN" altLang="en-US" sz="2000" dirty="0">
                <a:latin typeface="楷体" panose="02010609060101010101" pitchFamily="49" charset="-122"/>
                <a:ea typeface="楷体" panose="02010609060101010101" pitchFamily="49" charset="-122"/>
                <a:cs typeface="+mn-ea"/>
                <a:sym typeface="+mn-lt"/>
              </a:rPr>
              <a:t>美伊冲突骤然升级，霍尔木兹海峡的封锁令全球能源价格飙升，通胀预期重燃。流动性抽水、美联储鹰派、部分央行卖出等因素造成黄金自</a:t>
            </a:r>
            <a:r>
              <a:rPr lang="en-US" altLang="zh-CN" sz="2000" dirty="0">
                <a:latin typeface="楷体" panose="02010609060101010101" pitchFamily="49" charset="-122"/>
                <a:ea typeface="楷体" panose="02010609060101010101" pitchFamily="49" charset="-122"/>
                <a:cs typeface="+mn-ea"/>
                <a:sym typeface="+mn-lt"/>
              </a:rPr>
              <a:t>5400</a:t>
            </a:r>
            <a:r>
              <a:rPr lang="zh-CN" altLang="en-US" sz="2000" dirty="0">
                <a:latin typeface="楷体" panose="02010609060101010101" pitchFamily="49" charset="-122"/>
                <a:ea typeface="楷体" panose="02010609060101010101" pitchFamily="49" charset="-122"/>
                <a:cs typeface="+mn-ea"/>
                <a:sym typeface="+mn-lt"/>
              </a:rPr>
              <a:t>美元高位回调。</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 3</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月的美伊冲突对全球资产定价形成冲击，黄金不是单一受影响的资产。</a:t>
            </a:r>
          </a:p>
          <a:p>
            <a:pPr marL="0" lvl="2" algn="just">
              <a:lnSpc>
                <a:spcPct val="120000"/>
              </a:lnSpc>
              <a:spcBef>
                <a:spcPts val="2400"/>
              </a:spcBef>
            </a:pP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展望</a:t>
            </a:r>
            <a:r>
              <a:rPr lang="en-US" altLang="zh-CN" sz="2000" dirty="0">
                <a:latin typeface="楷体" panose="02010609060101010101" pitchFamily="49" charset="-122"/>
                <a:ea typeface="楷体" panose="02010609060101010101" pitchFamily="49" charset="-122"/>
                <a:cs typeface="Arial" panose="020B0604020202020204" pitchFamily="34" charset="0"/>
                <a:sym typeface="+mn-lt"/>
              </a:rPr>
              <a:t>2026</a:t>
            </a:r>
            <a:r>
              <a:rPr lang="zh-CN" altLang="en-US" sz="2000" dirty="0">
                <a:latin typeface="楷体" panose="02010609060101010101" pitchFamily="49" charset="-122"/>
                <a:ea typeface="楷体" panose="02010609060101010101" pitchFamily="49" charset="-122"/>
                <a:cs typeface="Arial" panose="020B0604020202020204" pitchFamily="34" charset="0"/>
                <a:sym typeface="+mn-lt"/>
              </a:rPr>
              <a:t>年，黄金短期流动性冲击不改长期趋势，美联储加息预期抬升但受限于债务压力和经济就业衰退，加息落地难度较大。长期来看，黄金对冲“国际秩序碎片化风险”与“主权信用货币风险”的价值有望持续显现。</a:t>
            </a:r>
          </a:p>
          <a:p>
            <a:pPr marL="0" lvl="2" algn="just">
              <a:lnSpc>
                <a:spcPct val="120000"/>
              </a:lnSpc>
              <a:spcBef>
                <a:spcPts val="2400"/>
              </a:spcBef>
            </a:pPr>
            <a:r>
              <a:rPr lang="zh-CN" altLang="en-US" sz="2000" b="1" dirty="0">
                <a:latin typeface="Arial" panose="020B0604020202020204" pitchFamily="34" charset="0"/>
                <a:ea typeface="楷体" panose="02010609060101010101" pitchFamily="49" charset="-122"/>
                <a:cs typeface="Arial" panose="020B0604020202020204" pitchFamily="34" charset="0"/>
              </a:rPr>
              <a:t>原油：</a:t>
            </a:r>
            <a:r>
              <a:rPr lang="zh-CN" altLang="en-US" sz="2000" dirty="0">
                <a:latin typeface="楷体" panose="02010609060101010101" pitchFamily="49" charset="-122"/>
                <a:ea typeface="楷体" panose="02010609060101010101" pitchFamily="49" charset="-122"/>
                <a:cs typeface="+mn-ea"/>
              </a:rPr>
              <a:t>供给端，美伊冲突升级引发的霍尔木兹海峡航运中断风险，已显著推升油价，即便未来地缘紧张局势有所缓和，国际油价也难以回到此前低位。需求端，美国炼厂开工率回落与全球需求预测分歧加剧。油价近期快速拉升，</a:t>
            </a:r>
            <a:r>
              <a:rPr lang="en-US" altLang="zh-CN" sz="2000" dirty="0">
                <a:latin typeface="楷体" panose="02010609060101010101" pitchFamily="49" charset="-122"/>
                <a:ea typeface="楷体" panose="02010609060101010101" pitchFamily="49" charset="-122"/>
                <a:cs typeface="+mn-ea"/>
              </a:rPr>
              <a:t>EIA</a:t>
            </a:r>
            <a:r>
              <a:rPr lang="zh-CN" altLang="en-US" sz="2000" dirty="0">
                <a:latin typeface="楷体" panose="02010609060101010101" pitchFamily="49" charset="-122"/>
                <a:ea typeface="楷体" panose="02010609060101010101" pitchFamily="49" charset="-122"/>
                <a:cs typeface="+mn-ea"/>
              </a:rPr>
              <a:t>等机构维持</a:t>
            </a:r>
            <a:r>
              <a:rPr lang="en-US" altLang="zh-CN" sz="2000" dirty="0">
                <a:latin typeface="楷体" panose="02010609060101010101" pitchFamily="49" charset="-122"/>
                <a:ea typeface="楷体" panose="02010609060101010101" pitchFamily="49" charset="-122"/>
                <a:cs typeface="+mn-ea"/>
              </a:rPr>
              <a:t>2026</a:t>
            </a:r>
            <a:r>
              <a:rPr lang="zh-CN" altLang="en-US" sz="2000" dirty="0">
                <a:latin typeface="楷体" panose="02010609060101010101" pitchFamily="49" charset="-122"/>
                <a:ea typeface="楷体" panose="02010609060101010101" pitchFamily="49" charset="-122"/>
                <a:cs typeface="+mn-ea"/>
              </a:rPr>
              <a:t>年全球原油供应过剩的预期，中期看横盘震荡。</a:t>
            </a:r>
          </a:p>
        </p:txBody>
      </p:sp>
      <p:graphicFrame>
        <p:nvGraphicFramePr>
          <p:cNvPr id="8" name="表格 7"/>
          <p:cNvGraphicFramePr>
            <a:graphicFrameLocks noGrp="1"/>
          </p:cNvGraphicFramePr>
          <p:nvPr/>
        </p:nvGraphicFramePr>
        <p:xfrm>
          <a:off x="511564" y="10576623"/>
          <a:ext cx="5987381" cy="1115880"/>
        </p:xfrm>
        <a:graphic>
          <a:graphicData uri="http://schemas.openxmlformats.org/drawingml/2006/table">
            <a:tbl>
              <a:tblPr firstRow="1" bandRow="1">
                <a:tableStyleId>{5A111915-BE36-4E01-A7E5-04B1672EAD32}</a:tableStyleId>
              </a:tblPr>
              <a:tblGrid>
                <a:gridCol w="5987381">
                  <a:extLst>
                    <a:ext uri="{9D8B030D-6E8A-4147-A177-3AD203B41FA5}">
                      <a16:colId xmlns:a16="http://schemas.microsoft.com/office/drawing/2014/main" val="20000"/>
                    </a:ext>
                  </a:extLst>
                </a:gridCol>
              </a:tblGrid>
              <a:tr h="371960">
                <a:tc>
                  <a:txBody>
                    <a:bodyPr/>
                    <a:lstStyle/>
                    <a:p>
                      <a:pPr algn="l"/>
                      <a:r>
                        <a:rPr lang="zh-CN" altLang="en-US" sz="1800" dirty="0"/>
                        <a:t>相关产品</a:t>
                      </a:r>
                    </a:p>
                  </a:txBody>
                  <a:tcPr>
                    <a:solidFill>
                      <a:srgbClr val="2581B5"/>
                    </a:solidFill>
                  </a:tcPr>
                </a:tc>
                <a:extLst>
                  <a:ext uri="{0D108BD9-81ED-4DB2-BD59-A6C34878D82A}">
                    <a16:rowId xmlns:a16="http://schemas.microsoft.com/office/drawing/2014/main" val="10000"/>
                  </a:ext>
                </a:extLst>
              </a:tr>
              <a:tr h="371960">
                <a:tc>
                  <a:txBody>
                    <a:bodyPr/>
                    <a:lstStyle/>
                    <a:p>
                      <a:r>
                        <a:rPr lang="zh-CN" altLang="en-US" sz="1600" b="0" dirty="0">
                          <a:latin typeface="楷体" panose="02010609060101010101" pitchFamily="49" charset="-122"/>
                          <a:ea typeface="楷体" panose="02010609060101010101" pitchFamily="49" charset="-122"/>
                        </a:rPr>
                        <a:t>黄金</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518880.SH)    </a:t>
                      </a:r>
                      <a:r>
                        <a:rPr lang="zh-CN" altLang="en-US" sz="1600" b="0" dirty="0">
                          <a:latin typeface="楷体" panose="02010609060101010101" pitchFamily="49" charset="-122"/>
                          <a:ea typeface="楷体" panose="02010609060101010101" pitchFamily="49" charset="-122"/>
                        </a:rPr>
                        <a:t>黄金股</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159321.SZ</a:t>
                      </a:r>
                      <a:r>
                        <a:rPr lang="zh-CN" altLang="en-US" sz="1600" b="0" dirty="0">
                          <a:latin typeface="楷体" panose="02010609060101010101" pitchFamily="49" charset="-122"/>
                          <a:ea typeface="楷体" panose="02010609060101010101" pitchFamily="49" charset="-122"/>
                        </a:rPr>
                        <a:t>）</a:t>
                      </a:r>
                    </a:p>
                  </a:txBody>
                  <a:tcPr anchor="ctr"/>
                </a:tc>
                <a:extLst>
                  <a:ext uri="{0D108BD9-81ED-4DB2-BD59-A6C34878D82A}">
                    <a16:rowId xmlns:a16="http://schemas.microsoft.com/office/drawing/2014/main" val="10001"/>
                  </a:ext>
                </a:extLst>
              </a:tr>
              <a:tr h="371960">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600" b="0" dirty="0">
                          <a:latin typeface="楷体" panose="02010609060101010101" pitchFamily="49" charset="-122"/>
                          <a:ea typeface="楷体" panose="02010609060101010101" pitchFamily="49" charset="-122"/>
                        </a:rPr>
                        <a:t>有色</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en-US" altLang="zh-CN" sz="1600" b="0" dirty="0">
                          <a:latin typeface="楷体" panose="02010609060101010101" pitchFamily="49" charset="-122"/>
                          <a:ea typeface="楷体" panose="02010609060101010101" pitchFamily="49" charset="-122"/>
                        </a:rPr>
                        <a:t>512940.SH</a:t>
                      </a:r>
                      <a:r>
                        <a:rPr lang="zh-CN" altLang="en-US" sz="1600" b="0" dirty="0">
                          <a:latin typeface="楷体" panose="02010609060101010101" pitchFamily="49" charset="-122"/>
                          <a:ea typeface="楷体" panose="02010609060101010101" pitchFamily="49" charset="-122"/>
                        </a:rPr>
                        <a:t>）   石油</a:t>
                      </a:r>
                      <a:r>
                        <a:rPr lang="en-US" altLang="zh-CN" sz="1600" b="0" dirty="0">
                          <a:latin typeface="楷体" panose="02010609060101010101" pitchFamily="49" charset="-122"/>
                          <a:ea typeface="楷体" panose="02010609060101010101" pitchFamily="49" charset="-122"/>
                        </a:rPr>
                        <a:t>ETF</a:t>
                      </a:r>
                      <a:r>
                        <a:rPr lang="zh-CN" altLang="en-US" sz="1600" b="0" dirty="0">
                          <a:latin typeface="楷体" panose="02010609060101010101" pitchFamily="49" charset="-122"/>
                          <a:ea typeface="楷体" panose="02010609060101010101" pitchFamily="49" charset="-122"/>
                        </a:rPr>
                        <a:t>华安</a:t>
                      </a:r>
                      <a:r>
                        <a:rPr lang="zh-CN" altLang="en-US" sz="1600" b="0" baseline="0" dirty="0">
                          <a:latin typeface="楷体" panose="02010609060101010101" pitchFamily="49" charset="-122"/>
                          <a:ea typeface="楷体" panose="02010609060101010101" pitchFamily="49" charset="-122"/>
                        </a:rPr>
                        <a:t>（</a:t>
                      </a:r>
                      <a:r>
                        <a:rPr lang="en-US" altLang="zh-CN" sz="1600" b="0" baseline="0" dirty="0">
                          <a:latin typeface="楷体" panose="02010609060101010101" pitchFamily="49" charset="-122"/>
                          <a:ea typeface="楷体" panose="02010609060101010101" pitchFamily="49" charset="-122"/>
                        </a:rPr>
                        <a:t>159195.SZ</a:t>
                      </a:r>
                      <a:r>
                        <a:rPr lang="zh-CN" altLang="en-US" sz="1600" b="0" baseline="0" dirty="0">
                          <a:latin typeface="楷体" panose="02010609060101010101" pitchFamily="49" charset="-122"/>
                          <a:ea typeface="楷体" panose="02010609060101010101" pitchFamily="49" charset="-122"/>
                        </a:rPr>
                        <a:t>）</a:t>
                      </a:r>
                      <a:endParaRPr lang="zh-CN" altLang="en-US" sz="1600" b="0" dirty="0">
                        <a:latin typeface="楷体" panose="02010609060101010101" pitchFamily="49" charset="-122"/>
                        <a:ea typeface="楷体" panose="02010609060101010101" pitchFamily="49" charset="-122"/>
                      </a:endParaRPr>
                    </a:p>
                  </a:txBody>
                  <a:tcPr anchor="ctr"/>
                </a:tc>
                <a:extLst>
                  <a:ext uri="{0D108BD9-81ED-4DB2-BD59-A6C34878D82A}">
                    <a16:rowId xmlns:a16="http://schemas.microsoft.com/office/drawing/2014/main" val="1824548071"/>
                  </a:ext>
                </a:extLst>
              </a:tr>
            </a:tbl>
          </a:graphicData>
        </a:graphic>
      </p:graphicFrame>
    </p:spTree>
    <p:extLst>
      <p:ext uri="{BB962C8B-B14F-4D97-AF65-F5344CB8AC3E}">
        <p14:creationId xmlns:p14="http://schemas.microsoft.com/office/powerpoint/2010/main" val="1622457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30831" y="1923820"/>
            <a:ext cx="3699038" cy="442878"/>
          </a:xfrm>
          <a:prstGeom prst="rect">
            <a:avLst/>
          </a:prstGeom>
          <a:noFill/>
        </p:spPr>
        <p:txBody>
          <a:bodyPr wrap="square">
            <a:spAutoFit/>
          </a:bodyPr>
          <a:lstStyle/>
          <a:p>
            <a:pPr indent="457200" algn="just">
              <a:lnSpc>
                <a:spcPct val="150000"/>
              </a:lnSpc>
            </a:pPr>
            <a:r>
              <a:rPr lang="en-US" altLang="zh-CN" dirty="0">
                <a:latin typeface="楷体" panose="02010609060101010101" pitchFamily="49" charset="-122"/>
                <a:ea typeface="楷体" panose="02010609060101010101" pitchFamily="49" charset="-122"/>
                <a:sym typeface="Cambria" panose="02040503050406030204" pitchFamily="18" charset="0"/>
              </a:rPr>
              <a:t>{{</a:t>
            </a:r>
            <a:r>
              <a:rPr lang="zh-CN" altLang="en-US" dirty="0">
                <a:latin typeface="楷体" panose="02010609060101010101" pitchFamily="49" charset="-122"/>
                <a:ea typeface="楷体" panose="02010609060101010101" pitchFamily="49" charset="-122"/>
                <a:sym typeface="Cambria" panose="02040503050406030204" pitchFamily="18" charset="0"/>
              </a:rPr>
              <a:t>科创芯片</a:t>
            </a:r>
            <a:r>
              <a:rPr lang="en-US" altLang="zh-CN" dirty="0">
                <a:latin typeface="楷体" panose="02010609060101010101" pitchFamily="49" charset="-122"/>
                <a:ea typeface="楷体" panose="02010609060101010101" pitchFamily="49" charset="-122"/>
                <a:sym typeface="Cambria" panose="02040503050406030204" pitchFamily="18" charset="0"/>
              </a:rPr>
              <a:t>}}</a:t>
            </a:r>
            <a:endParaRPr lang="en-US" altLang="zh-CN"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2" name="矩形 11"/>
          <p:cNvSpPr/>
          <p:nvPr/>
        </p:nvSpPr>
        <p:spPr>
          <a:xfrm>
            <a:off x="4343155" y="2285311"/>
            <a:ext cx="2476653"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92</a:t>
            </a:r>
          </a:p>
        </p:txBody>
      </p:sp>
      <p:sp>
        <p:nvSpPr>
          <p:cNvPr id="88" name="矩形 87"/>
          <p:cNvSpPr/>
          <p:nvPr/>
        </p:nvSpPr>
        <p:spPr>
          <a:xfrm>
            <a:off x="2490998" y="7146386"/>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97273" y="7372771"/>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576542" y="7423042"/>
            <a:ext cx="1997356" cy="0"/>
          </a:xfrm>
          <a:prstGeom prst="line">
            <a:avLst/>
          </a:prstGeom>
        </p:spPr>
        <p:style>
          <a:lnRef idx="1">
            <a:schemeClr val="accent1"/>
          </a:lnRef>
          <a:fillRef idx="0">
            <a:schemeClr val="accent1"/>
          </a:fillRef>
          <a:effectRef idx="0">
            <a:schemeClr val="accent1"/>
          </a:effectRef>
          <a:fontRef idx="minor">
            <a:schemeClr val="tx1"/>
          </a:fontRef>
        </p:style>
      </p:cxnSp>
      <p:pic>
        <p:nvPicPr>
          <p:cNvPr id="45" name="图片 44"/>
          <p:cNvPicPr>
            <a:picLocks noChangeAspect="1"/>
          </p:cNvPicPr>
          <p:nvPr/>
        </p:nvPicPr>
        <p:blipFill>
          <a:blip r:embed="rId3" cstate="print">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tretch>
            <a:fillRect/>
          </a:stretch>
        </p:blipFill>
        <p:spPr>
          <a:xfrm>
            <a:off x="334591" y="7535510"/>
            <a:ext cx="2239307" cy="3844655"/>
          </a:xfrm>
          <a:prstGeom prst="rect">
            <a:avLst/>
          </a:prstGeom>
        </p:spPr>
      </p:pic>
      <p:sp>
        <p:nvSpPr>
          <p:cNvPr id="25" name="椭圆 24"/>
          <p:cNvSpPr/>
          <p:nvPr/>
        </p:nvSpPr>
        <p:spPr>
          <a:xfrm>
            <a:off x="4022690" y="2990409"/>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9" name="圆角矩形 28"/>
          <p:cNvSpPr/>
          <p:nvPr/>
        </p:nvSpPr>
        <p:spPr>
          <a:xfrm>
            <a:off x="2907200" y="9639759"/>
            <a:ext cx="3580146" cy="1020658"/>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endParaRPr lang="en-US" altLang="zh-CN"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33" name="圆角矩形 32"/>
          <p:cNvSpPr/>
          <p:nvPr/>
        </p:nvSpPr>
        <p:spPr>
          <a:xfrm>
            <a:off x="2754323" y="10703256"/>
            <a:ext cx="3668225" cy="761550"/>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cxnSp>
        <p:nvCxnSpPr>
          <p:cNvPr id="34" name="直线连接符 43"/>
          <p:cNvCxnSpPr/>
          <p:nvPr/>
        </p:nvCxnSpPr>
        <p:spPr>
          <a:xfrm>
            <a:off x="2800008" y="8959516"/>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805282" y="9924343"/>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754323" y="11365218"/>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2707469" y="8973903"/>
            <a:ext cx="3137877" cy="338554"/>
          </a:xfrm>
          <a:prstGeom prst="rect">
            <a:avLst/>
          </a:prstGeom>
        </p:spPr>
        <p:txBody>
          <a:bodyPr wrap="square">
            <a:spAutoFit/>
          </a:bodyPr>
          <a:lstStyle/>
          <a:p>
            <a:r>
              <a:rPr lang="en-US" altLang="zh-CN" sz="1600" dirty="0">
                <a:latin typeface="楷体" panose="02010609060101010101" pitchFamily="49" charset="-122"/>
                <a:ea typeface="楷体" panose="02010609060101010101" pitchFamily="49" charset="-122"/>
              </a:rPr>
              <a:t>{{</a:t>
            </a:r>
            <a:r>
              <a:rPr lang="zh-CN" altLang="en-US" sz="1600" dirty="0">
                <a:latin typeface="楷体" panose="02010609060101010101" pitchFamily="49" charset="-122"/>
                <a:ea typeface="楷体" panose="02010609060101010101" pitchFamily="49" charset="-122"/>
              </a:rPr>
              <a:t>科创芯片驱动因素二</a:t>
            </a:r>
            <a:r>
              <a:rPr lang="en-US" altLang="zh-CN" sz="1600" dirty="0">
                <a:latin typeface="楷体" panose="02010609060101010101" pitchFamily="49" charset="-122"/>
                <a:ea typeface="楷体" panose="02010609060101010101" pitchFamily="49" charset="-122"/>
              </a:rPr>
              <a:t>}}</a:t>
            </a:r>
            <a:endParaRPr lang="zh-CN" altLang="en-US" sz="1600" dirty="0">
              <a:latin typeface="楷体" panose="02010609060101010101" pitchFamily="49" charset="-122"/>
              <a:ea typeface="楷体" panose="02010609060101010101" pitchFamily="49" charset="-122"/>
            </a:endParaRPr>
          </a:p>
        </p:txBody>
      </p:sp>
      <p:sp>
        <p:nvSpPr>
          <p:cNvPr id="27" name="文本框 26"/>
          <p:cNvSpPr txBox="1"/>
          <p:nvPr/>
        </p:nvSpPr>
        <p:spPr>
          <a:xfrm>
            <a:off x="2736556" y="7730313"/>
            <a:ext cx="3014539" cy="338554"/>
          </a:xfrm>
          <a:prstGeom prst="rect">
            <a:avLst/>
          </a:prstGeom>
          <a:noFill/>
        </p:spPr>
        <p:txBody>
          <a:bodyPr wrap="square" rtlCol="0">
            <a:spAutoFit/>
          </a:bodyPr>
          <a:lstStyle/>
          <a:p>
            <a:pPr marL="0" lvl="2" algn="just"/>
            <a:r>
              <a:rPr lang="en-US" altLang="zh-CN"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a:t>
            </a:r>
            <a:r>
              <a:rPr lang="zh-CN" altLang="en-US"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科创芯片驱动因素一</a:t>
            </a:r>
            <a:r>
              <a:rPr lang="en-US" altLang="zh-CN"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a:t>
            </a:r>
            <a:endParaRPr lang="en-US" altLang="zh-CN"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28" name="矩形 27"/>
          <p:cNvSpPr/>
          <p:nvPr/>
        </p:nvSpPr>
        <p:spPr>
          <a:xfrm>
            <a:off x="2800437" y="10202541"/>
            <a:ext cx="3251448" cy="338554"/>
          </a:xfrm>
          <a:prstGeom prst="rect">
            <a:avLst/>
          </a:prstGeom>
        </p:spPr>
        <p:txBody>
          <a:bodyPr wrap="square">
            <a:spAutoFit/>
          </a:bodyPr>
          <a:lstStyle/>
          <a:p>
            <a:r>
              <a:rPr lang="en-US" altLang="zh-CN" sz="1600" b="1" dirty="0">
                <a:latin typeface="楷体" panose="02010609060101010101" pitchFamily="49" charset="-122"/>
                <a:ea typeface="楷体" panose="02010609060101010101" pitchFamily="49" charset="-122"/>
              </a:rPr>
              <a:t>{{</a:t>
            </a:r>
            <a:r>
              <a:rPr lang="zh-CN" altLang="en-US" sz="1600" b="1" dirty="0">
                <a:latin typeface="楷体" panose="02010609060101010101" pitchFamily="49" charset="-122"/>
                <a:ea typeface="楷体" panose="02010609060101010101" pitchFamily="49" charset="-122"/>
              </a:rPr>
              <a:t>科创芯片驱动因素三</a:t>
            </a:r>
            <a:r>
              <a:rPr lang="en-US" altLang="zh-CN" sz="1600" b="1" dirty="0">
                <a:latin typeface="楷体" panose="02010609060101010101" pitchFamily="49" charset="-122"/>
                <a:ea typeface="楷体" panose="02010609060101010101" pitchFamily="49" charset="-122"/>
              </a:rPr>
              <a:t>}}</a:t>
            </a:r>
            <a:endParaRPr lang="zh-CN" altLang="en-US" sz="1600" dirty="0">
              <a:latin typeface="楷体" panose="02010609060101010101" pitchFamily="49" charset="-122"/>
              <a:ea typeface="楷体" panose="02010609060101010101" pitchFamily="49" charset="-122"/>
            </a:endParaRPr>
          </a:p>
        </p:txBody>
      </p:sp>
      <p:pic>
        <p:nvPicPr>
          <p:cNvPr id="26" name="图片 25" descr="风向标头图"/>
          <p:cNvPicPr>
            <a:picLocks noChangeAspect="1"/>
          </p:cNvPicPr>
          <p:nvPr/>
        </p:nvPicPr>
        <p:blipFill>
          <a:blip r:embed="rId5"/>
          <a:stretch>
            <a:fillRect/>
          </a:stretch>
        </p:blipFill>
        <p:spPr>
          <a:xfrm>
            <a:off x="0" y="-635"/>
            <a:ext cx="6858000" cy="1920536"/>
          </a:xfrm>
          <a:prstGeom prst="rect">
            <a:avLst/>
          </a:prstGeom>
        </p:spPr>
      </p:pic>
      <p:sp>
        <p:nvSpPr>
          <p:cNvPr id="35" name="文本框 34"/>
          <p:cNvSpPr txBox="1"/>
          <p:nvPr/>
        </p:nvSpPr>
        <p:spPr>
          <a:xfrm>
            <a:off x="529590" y="302260"/>
            <a:ext cx="5408295" cy="1077218"/>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科创芯片</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588290</a:t>
            </a:r>
          </a:p>
        </p:txBody>
      </p:sp>
      <p:sp>
        <p:nvSpPr>
          <p:cNvPr id="37" name="文本框 36"/>
          <p:cNvSpPr txBox="1"/>
          <p:nvPr/>
        </p:nvSpPr>
        <p:spPr>
          <a:xfrm>
            <a:off x="445919" y="1479500"/>
            <a:ext cx="5053330" cy="503555"/>
          </a:xfrm>
          <a:prstGeom prst="rect">
            <a:avLst/>
          </a:prstGeom>
          <a:noFill/>
        </p:spPr>
        <p:txBody>
          <a:bodyPr wrap="square" rtlCol="0">
            <a:noAutofit/>
          </a:bodyPr>
          <a:lstStyle/>
          <a:p>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A</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017559  </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C</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017560</a:t>
            </a:r>
          </a:p>
        </p:txBody>
      </p:sp>
      <p:sp>
        <p:nvSpPr>
          <p:cNvPr id="38" name="矩形 37"/>
          <p:cNvSpPr/>
          <p:nvPr/>
        </p:nvSpPr>
        <p:spPr>
          <a:xfrm flipH="1">
            <a:off x="318770" y="438150"/>
            <a:ext cx="86360" cy="805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41" name="页脚占位符 3"/>
          <p:cNvSpPr>
            <a:spLocks noGrp="1"/>
          </p:cNvSpPr>
          <p:nvPr>
            <p:ph type="ftr" sz="quarter" idx="11"/>
          </p:nvPr>
        </p:nvSpPr>
        <p:spPr>
          <a:xfrm>
            <a:off x="2349371" y="11828830"/>
            <a:ext cx="4508629" cy="269475"/>
          </a:xfrm>
        </p:spPr>
        <p:txBody>
          <a:bodyPr/>
          <a:lstStyle/>
          <a:p>
            <a:r>
              <a:rPr lang="zh-CN" altLang="en-US" dirty="0">
                <a:solidFill>
                  <a:schemeClr val="bg2">
                    <a:lumMod val="75000"/>
                  </a:schemeClr>
                </a:solidFill>
              </a:rPr>
              <a:t>数据来源： </a:t>
            </a:r>
            <a:r>
              <a:rPr lang="en-US" altLang="zh-CN" dirty="0">
                <a:solidFill>
                  <a:schemeClr val="bg2">
                    <a:lumMod val="75000"/>
                  </a:schemeClr>
                </a:solidFill>
              </a:rPr>
              <a:t>WIND ,</a:t>
            </a:r>
            <a:r>
              <a:rPr lang="zh-CN" altLang="en-US" dirty="0">
                <a:solidFill>
                  <a:schemeClr val="bg2">
                    <a:lumMod val="75000"/>
                  </a:schemeClr>
                </a:solidFill>
              </a:rPr>
              <a:t>截至</a:t>
            </a:r>
            <a:r>
              <a:rPr lang="en-US" altLang="zh-CN" dirty="0">
                <a:solidFill>
                  <a:schemeClr val="bg2">
                    <a:lumMod val="75000"/>
                  </a:schemeClr>
                </a:solidFill>
              </a:rPr>
              <a:t>2024/11/30</a:t>
            </a:r>
            <a:r>
              <a:rPr lang="zh-CN" altLang="en-US" dirty="0">
                <a:solidFill>
                  <a:schemeClr val="bg2">
                    <a:lumMod val="75000"/>
                  </a:schemeClr>
                </a:solidFill>
              </a:rPr>
              <a:t>。涉及第三方预测数据仅供参考，不作为投资建议</a:t>
            </a:r>
            <a:r>
              <a:rPr lang="zh-CN" altLang="en-US" sz="700" dirty="0">
                <a:solidFill>
                  <a:schemeClr val="bg2">
                    <a:lumMod val="75000"/>
                  </a:schemeClr>
                </a:solidFill>
              </a:rPr>
              <a:t>。</a:t>
            </a:r>
          </a:p>
        </p:txBody>
      </p:sp>
      <p:pic>
        <p:nvPicPr>
          <p:cNvPr id="2" name="图片 1" descr="资源 1"/>
          <p:cNvPicPr>
            <a:picLocks noChangeAspect="1"/>
          </p:cNvPicPr>
          <p:nvPr>
            <p:custDataLst>
              <p:tags r:id="rId1"/>
            </p:custDataLst>
          </p:nvPr>
        </p:nvPicPr>
        <p:blipFill>
          <a:blip r:embed="rId6"/>
          <a:stretch>
            <a:fillRect/>
          </a:stretch>
        </p:blipFill>
        <p:spPr>
          <a:xfrm>
            <a:off x="4674870" y="179070"/>
            <a:ext cx="1711960" cy="438150"/>
          </a:xfrm>
          <a:prstGeom prst="rect">
            <a:avLst/>
          </a:prstGeom>
        </p:spPr>
      </p:pic>
      <p:graphicFrame>
        <p:nvGraphicFramePr>
          <p:cNvPr id="24" name="图表 23"/>
          <p:cNvGraphicFramePr>
            <a:graphicFrameLocks/>
          </p:cNvGraphicFramePr>
          <p:nvPr/>
        </p:nvGraphicFramePr>
        <p:xfrm>
          <a:off x="3965146" y="2859613"/>
          <a:ext cx="2739574" cy="2838991"/>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13552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635"/>
            <a:ext cx="6858000" cy="1920536"/>
            <a:chOff x="0" y="-635"/>
            <a:chExt cx="6858000" cy="1920536"/>
          </a:xfrm>
        </p:grpSpPr>
        <p:pic>
          <p:nvPicPr>
            <p:cNvPr id="2" name="图片 1" descr="风向标头图"/>
            <p:cNvPicPr>
              <a:picLocks noChangeAspect="1"/>
            </p:cNvPicPr>
            <p:nvPr/>
          </p:nvPicPr>
          <p:blipFill>
            <a:blip r:embed="rId3"/>
            <a:stretch>
              <a:fillRect/>
            </a:stretch>
          </p:blipFill>
          <p:spPr>
            <a:xfrm>
              <a:off x="0" y="-635"/>
              <a:ext cx="6858000" cy="1920536"/>
            </a:xfrm>
            <a:prstGeom prst="rect">
              <a:avLst/>
            </a:prstGeom>
          </p:spPr>
        </p:pic>
        <p:pic>
          <p:nvPicPr>
            <p:cNvPr id="3" name="图片 2"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39" name="文本框 38"/>
          <p:cNvSpPr txBox="1"/>
          <p:nvPr/>
        </p:nvSpPr>
        <p:spPr>
          <a:xfrm>
            <a:off x="2713963" y="7097074"/>
            <a:ext cx="3641814" cy="1200329"/>
          </a:xfrm>
          <a:prstGeom prst="rect">
            <a:avLst/>
          </a:prstGeom>
          <a:noFill/>
        </p:spPr>
        <p:txBody>
          <a:bodyPr wrap="square" rtlCol="0">
            <a:spAutoFit/>
          </a:bodyPr>
          <a:lstStyle/>
          <a:p>
            <a:pPr marL="0" lvl="2" algn="just"/>
            <a:r>
              <a:rPr lang="zh-CN" altLang="en-US" b="1" dirty="0">
                <a:latin typeface="楷体" panose="02010609060101010101" pitchFamily="49" charset="-122"/>
                <a:ea typeface="楷体" panose="02010609060101010101" pitchFamily="49" charset="-122"/>
                <a:sym typeface="Cambria" panose="02040503050406030204" pitchFamily="18" charset="0"/>
              </a:rPr>
              <a:t>地方政策密集加码</a:t>
            </a:r>
            <a:endParaRPr lang="en-US" altLang="zh-CN" b="1" dirty="0">
              <a:latin typeface="楷体" panose="02010609060101010101" pitchFamily="49" charset="-122"/>
              <a:ea typeface="楷体" panose="02010609060101010101" pitchFamily="49" charset="-122"/>
              <a:sym typeface="Cambria" panose="02040503050406030204" pitchFamily="18" charset="0"/>
            </a:endParaRPr>
          </a:p>
          <a:p>
            <a:pPr marL="0" lvl="2" algn="just"/>
            <a:r>
              <a:rPr lang="zh-CN" altLang="en-US"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深圳发布</a:t>
            </a:r>
            <a:r>
              <a:rPr lang="en-US" altLang="zh-CN"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AI</a:t>
            </a:r>
            <a:r>
              <a:rPr lang="zh-CN" altLang="en-US"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服务器产业链三年行动计划，聚焦光模块升级与先进封装技术，强化算力基建支持。</a:t>
            </a:r>
            <a:endParaRPr lang="en-US" altLang="zh-CN"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10" name="矩形 9"/>
          <p:cNvSpPr/>
          <p:nvPr/>
        </p:nvSpPr>
        <p:spPr>
          <a:xfrm>
            <a:off x="393271" y="2100505"/>
            <a:ext cx="3243020" cy="4324261"/>
          </a:xfrm>
          <a:prstGeom prst="rect">
            <a:avLst/>
          </a:prstGeom>
          <a:noFill/>
        </p:spPr>
        <p:txBody>
          <a:bodyPr wrap="square">
            <a:spAutoFit/>
          </a:bodyPr>
          <a:lstStyle/>
          <a:p>
            <a:pPr algn="just">
              <a:spcAft>
                <a:spcPts val="600"/>
              </a:spcAft>
            </a:pPr>
            <a:r>
              <a:rPr lang="en-US" altLang="zh-CN" dirty="0">
                <a:solidFill>
                  <a:srgbClr val="FF0000"/>
                </a:solidFill>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创业板人工智能指数</a:t>
            </a: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sym typeface="Cambria" panose="02040503050406030204" pitchFamily="18" charset="0"/>
              </a:rPr>
              <a:t>月下跌</a:t>
            </a:r>
            <a:r>
              <a:rPr lang="en-US" altLang="zh-CN" dirty="0">
                <a:latin typeface="楷体" panose="02010609060101010101" pitchFamily="49" charset="-122"/>
                <a:ea typeface="楷体" panose="02010609060101010101" pitchFamily="49" charset="-122"/>
                <a:sym typeface="Cambria" panose="02040503050406030204" pitchFamily="18" charset="0"/>
              </a:rPr>
              <a:t>9.93%</a:t>
            </a:r>
            <a:r>
              <a:rPr lang="zh-CN" altLang="en-US" dirty="0">
                <a:latin typeface="楷体" panose="02010609060101010101" pitchFamily="49" charset="-122"/>
                <a:ea typeface="楷体" panose="02010609060101010101" pitchFamily="49" charset="-122"/>
                <a:sym typeface="Cambria" panose="02040503050406030204" pitchFamily="18" charset="0"/>
              </a:rPr>
              <a:t>。</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marL="0" lvl="2" algn="just"/>
            <a:r>
              <a:rPr lang="en-US" altLang="zh-CN" dirty="0">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创业板人工智能板块在政策加码、技术突破与资金回流三重驱动下呈现“高波动、强主线、快轮动”的结构性行情。中央经济工作会议首次将深化拓展‘人工智能</a:t>
            </a:r>
            <a:r>
              <a:rPr lang="en-US" altLang="zh-CN" dirty="0">
                <a:latin typeface="楷体" panose="02010609060101010101" pitchFamily="49" charset="-122"/>
                <a:ea typeface="楷体" panose="02010609060101010101" pitchFamily="49" charset="-122"/>
                <a:sym typeface="Cambria" panose="02040503050406030204" pitchFamily="18" charset="0"/>
              </a:rPr>
              <a:t>+’</a:t>
            </a:r>
            <a:r>
              <a:rPr lang="zh-CN" altLang="en-US" dirty="0">
                <a:latin typeface="楷体" panose="02010609060101010101" pitchFamily="49" charset="-122"/>
                <a:ea typeface="楷体" panose="02010609060101010101" pitchFamily="49" charset="-122"/>
                <a:sym typeface="Cambria" panose="02040503050406030204" pitchFamily="18" charset="0"/>
              </a:rPr>
              <a:t>列为年度重点任务。由地方产业政策落地 </a:t>
            </a:r>
            <a:r>
              <a:rPr lang="en-US" altLang="zh-CN" dirty="0">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算力需求刚性增长 </a:t>
            </a:r>
            <a:r>
              <a:rPr lang="en-US" altLang="zh-CN" dirty="0">
                <a:latin typeface="楷体" panose="02010609060101010101" pitchFamily="49" charset="-122"/>
                <a:ea typeface="楷体" panose="02010609060101010101" pitchFamily="49" charset="-122"/>
                <a:sym typeface="Cambria" panose="02040503050406030204" pitchFamily="18" charset="0"/>
              </a:rPr>
              <a:t>+ ETF</a:t>
            </a:r>
            <a:r>
              <a:rPr lang="zh-CN" altLang="en-US" dirty="0">
                <a:latin typeface="楷体" panose="02010609060101010101" pitchFamily="49" charset="-122"/>
                <a:ea typeface="楷体" panose="02010609060101010101" pitchFamily="49" charset="-122"/>
                <a:sym typeface="Cambria" panose="02040503050406030204" pitchFamily="18" charset="0"/>
              </a:rPr>
              <a:t>资金持续配置 </a:t>
            </a:r>
            <a:r>
              <a:rPr lang="en-US" altLang="zh-CN" dirty="0">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应用场景加速拓展 </a:t>
            </a:r>
            <a:r>
              <a:rPr lang="en-US" altLang="zh-CN" dirty="0">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市场风格切换五大因素共同驱动，已从概念炒作阶段迈入“技术兑现</a:t>
            </a:r>
            <a:r>
              <a:rPr lang="en-US" altLang="zh-CN" dirty="0">
                <a:latin typeface="楷体" panose="02010609060101010101" pitchFamily="49" charset="-122"/>
                <a:ea typeface="楷体" panose="02010609060101010101" pitchFamily="49" charset="-122"/>
                <a:sym typeface="Cambria" panose="02040503050406030204" pitchFamily="18" charset="0"/>
              </a:rPr>
              <a:t>+</a:t>
            </a:r>
            <a:r>
              <a:rPr lang="zh-CN" altLang="en-US" dirty="0">
                <a:latin typeface="楷体" panose="02010609060101010101" pitchFamily="49" charset="-122"/>
                <a:ea typeface="楷体" panose="02010609060101010101" pitchFamily="49" charset="-122"/>
                <a:sym typeface="Cambria" panose="02040503050406030204" pitchFamily="18" charset="0"/>
              </a:rPr>
              <a:t>商业闭环</a:t>
            </a:r>
            <a:r>
              <a:rPr lang="en-US" altLang="zh-CN" dirty="0">
                <a:latin typeface="楷体" panose="02010609060101010101" pitchFamily="49" charset="-122"/>
                <a:ea typeface="楷体" panose="02010609060101010101" pitchFamily="49" charset="-122"/>
                <a:sym typeface="Cambria" panose="02040503050406030204" pitchFamily="18" charset="0"/>
              </a:rPr>
              <a:t>+</a:t>
            </a:r>
            <a:r>
              <a:rPr lang="zh-CN" altLang="en-US" dirty="0">
                <a:latin typeface="楷体" panose="02010609060101010101" pitchFamily="49" charset="-122"/>
                <a:ea typeface="楷体" panose="02010609060101010101" pitchFamily="49" charset="-122"/>
                <a:sym typeface="Cambria" panose="02040503050406030204" pitchFamily="18" charset="0"/>
              </a:rPr>
              <a:t>业绩支撑”的新周期。</a:t>
            </a:r>
            <a:endParaRPr lang="zh-CN" altLang="en-US"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12" name="矩形 11"/>
          <p:cNvSpPr/>
          <p:nvPr/>
        </p:nvSpPr>
        <p:spPr>
          <a:xfrm>
            <a:off x="4119245" y="2645922"/>
            <a:ext cx="2738755" cy="559769"/>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90</a:t>
            </a:r>
          </a:p>
        </p:txBody>
      </p:sp>
      <p:sp>
        <p:nvSpPr>
          <p:cNvPr id="88" name="矩形 87"/>
          <p:cNvSpPr/>
          <p:nvPr/>
        </p:nvSpPr>
        <p:spPr>
          <a:xfrm>
            <a:off x="2546252" y="6589070"/>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45231" y="6814460"/>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81286" y="6814460"/>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3971890" y="3477107"/>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cxnSp>
        <p:nvCxnSpPr>
          <p:cNvPr id="42" name="直线连接符 43"/>
          <p:cNvCxnSpPr/>
          <p:nvPr/>
        </p:nvCxnSpPr>
        <p:spPr>
          <a:xfrm>
            <a:off x="2805250" y="8297403"/>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01947" y="642796"/>
            <a:ext cx="5408295" cy="1076325"/>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创业板人工智能</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159279</a:t>
            </a:r>
          </a:p>
        </p:txBody>
      </p:sp>
      <p:pic>
        <p:nvPicPr>
          <p:cNvPr id="36" name="图片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6945" y="7315701"/>
            <a:ext cx="2239307" cy="3844655"/>
          </a:xfrm>
          <a:prstGeom prst="rect">
            <a:avLst/>
          </a:prstGeom>
        </p:spPr>
      </p:pic>
      <p:sp>
        <p:nvSpPr>
          <p:cNvPr id="24" name="矩形 23"/>
          <p:cNvSpPr/>
          <p:nvPr/>
        </p:nvSpPr>
        <p:spPr>
          <a:xfrm flipH="1">
            <a:off x="306945" y="778294"/>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graphicFrame>
        <p:nvGraphicFramePr>
          <p:cNvPr id="26" name="图表 25"/>
          <p:cNvGraphicFramePr>
            <a:graphicFrameLocks/>
          </p:cNvGraphicFramePr>
          <p:nvPr/>
        </p:nvGraphicFramePr>
        <p:xfrm>
          <a:off x="3784415" y="3263146"/>
          <a:ext cx="2924736" cy="3101765"/>
        </p:xfrm>
        <a:graphic>
          <a:graphicData uri="http://schemas.openxmlformats.org/drawingml/2006/chart">
            <c:chart xmlns:c="http://schemas.openxmlformats.org/drawingml/2006/chart" xmlns:r="http://schemas.openxmlformats.org/officeDocument/2006/relationships" r:id="rId6"/>
          </a:graphicData>
        </a:graphic>
      </p:graphicFrame>
      <p:cxnSp>
        <p:nvCxnSpPr>
          <p:cNvPr id="19" name="直线连接符 43"/>
          <p:cNvCxnSpPr/>
          <p:nvPr/>
        </p:nvCxnSpPr>
        <p:spPr>
          <a:xfrm>
            <a:off x="2805250" y="9544071"/>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2713963" y="8343742"/>
            <a:ext cx="3597764" cy="1200329"/>
          </a:xfrm>
          <a:prstGeom prst="rect">
            <a:avLst/>
          </a:prstGeom>
        </p:spPr>
        <p:txBody>
          <a:bodyPr wrap="square">
            <a:spAutoFit/>
          </a:bodyPr>
          <a:lstStyle/>
          <a:p>
            <a:pPr algn="just"/>
            <a:r>
              <a:rPr lang="zh-CN" altLang="en-US" b="1" dirty="0">
                <a:solidFill>
                  <a:srgbClr val="333333"/>
                </a:solidFill>
                <a:latin typeface="楷体" panose="02010609060101010101" pitchFamily="49" charset="-122"/>
                <a:ea typeface="楷体" panose="02010609060101010101" pitchFamily="49" charset="-122"/>
              </a:rPr>
              <a:t>“人工智能</a:t>
            </a:r>
            <a:r>
              <a:rPr lang="en-US" altLang="zh-CN" b="1" dirty="0">
                <a:solidFill>
                  <a:srgbClr val="333333"/>
                </a:solidFill>
                <a:latin typeface="楷体" panose="02010609060101010101" pitchFamily="49" charset="-122"/>
                <a:ea typeface="楷体" panose="02010609060101010101" pitchFamily="49" charset="-122"/>
              </a:rPr>
              <a:t>+”</a:t>
            </a:r>
            <a:r>
              <a:rPr lang="zh-CN" altLang="en-US" b="1" dirty="0">
                <a:solidFill>
                  <a:srgbClr val="333333"/>
                </a:solidFill>
                <a:latin typeface="楷体" panose="02010609060101010101" pitchFamily="49" charset="-122"/>
                <a:ea typeface="楷体" panose="02010609060101010101" pitchFamily="49" charset="-122"/>
              </a:rPr>
              <a:t>写入政府工作报告</a:t>
            </a:r>
            <a:endParaRPr lang="en-US" altLang="zh-CN" b="1" dirty="0">
              <a:solidFill>
                <a:srgbClr val="333333"/>
              </a:solidFill>
              <a:latin typeface="楷体" panose="02010609060101010101" pitchFamily="49" charset="-122"/>
              <a:ea typeface="楷体" panose="02010609060101010101" pitchFamily="49" charset="-122"/>
            </a:endParaRPr>
          </a:p>
          <a:p>
            <a:pPr algn="just"/>
            <a:r>
              <a:rPr lang="en-US" altLang="zh-CN" dirty="0">
                <a:solidFill>
                  <a:srgbClr val="333333"/>
                </a:solidFill>
                <a:latin typeface="楷体" panose="02010609060101010101" pitchFamily="49" charset="-122"/>
                <a:ea typeface="楷体" panose="02010609060101010101" pitchFamily="49" charset="-122"/>
              </a:rPr>
              <a:t>2026</a:t>
            </a:r>
            <a:r>
              <a:rPr lang="zh-CN" altLang="en-US" dirty="0">
                <a:solidFill>
                  <a:srgbClr val="333333"/>
                </a:solidFill>
                <a:latin typeface="楷体" panose="02010609060101010101" pitchFamily="49" charset="-122"/>
                <a:ea typeface="楷体" panose="02010609060101010101" pitchFamily="49" charset="-122"/>
              </a:rPr>
              <a:t>年两会将</a:t>
            </a:r>
            <a:r>
              <a:rPr lang="en-US" altLang="zh-CN" dirty="0">
                <a:solidFill>
                  <a:srgbClr val="333333"/>
                </a:solidFill>
                <a:latin typeface="楷体" panose="02010609060101010101" pitchFamily="49" charset="-122"/>
                <a:ea typeface="楷体" panose="02010609060101010101" pitchFamily="49" charset="-122"/>
              </a:rPr>
              <a:t>AI</a:t>
            </a:r>
            <a:r>
              <a:rPr lang="zh-CN" altLang="en-US" dirty="0">
                <a:solidFill>
                  <a:srgbClr val="333333"/>
                </a:solidFill>
                <a:latin typeface="楷体" panose="02010609060101010101" pitchFamily="49" charset="-122"/>
                <a:ea typeface="楷体" panose="02010609060101010101" pitchFamily="49" charset="-122"/>
              </a:rPr>
              <a:t>定位为新质生产力核心，推动其与实体经济深度融合。</a:t>
            </a:r>
            <a:endParaRPr lang="zh-CN" altLang="en-US" b="0" i="0" dirty="0">
              <a:solidFill>
                <a:srgbClr val="333333"/>
              </a:solidFill>
              <a:effectLst/>
              <a:latin typeface="楷体" panose="02010609060101010101" pitchFamily="49" charset="-122"/>
              <a:ea typeface="楷体" panose="02010609060101010101" pitchFamily="49" charset="-122"/>
            </a:endParaRPr>
          </a:p>
        </p:txBody>
      </p:sp>
      <p:sp>
        <p:nvSpPr>
          <p:cNvPr id="8" name="矩形 7"/>
          <p:cNvSpPr/>
          <p:nvPr/>
        </p:nvSpPr>
        <p:spPr>
          <a:xfrm>
            <a:off x="2781865" y="9671934"/>
            <a:ext cx="3429000" cy="1200329"/>
          </a:xfrm>
          <a:prstGeom prst="rect">
            <a:avLst/>
          </a:prstGeom>
        </p:spPr>
        <p:txBody>
          <a:bodyPr>
            <a:spAutoFit/>
          </a:bodyPr>
          <a:lstStyle/>
          <a:p>
            <a:pPr algn="just"/>
            <a:r>
              <a:rPr lang="zh-CN" altLang="en-US" b="1" dirty="0">
                <a:solidFill>
                  <a:srgbClr val="333333"/>
                </a:solidFill>
                <a:latin typeface="楷体" panose="02010609060101010101" pitchFamily="49" charset="-122"/>
                <a:ea typeface="楷体" panose="02010609060101010101" pitchFamily="49" charset="-122"/>
              </a:rPr>
              <a:t>算力需求持续超预期</a:t>
            </a:r>
            <a:endParaRPr lang="en-US" altLang="zh-CN" b="1" dirty="0">
              <a:solidFill>
                <a:srgbClr val="333333"/>
              </a:solidFill>
              <a:latin typeface="楷体" panose="02010609060101010101" pitchFamily="49" charset="-122"/>
              <a:ea typeface="楷体" panose="02010609060101010101" pitchFamily="49" charset="-122"/>
            </a:endParaRPr>
          </a:p>
          <a:p>
            <a:pPr algn="just"/>
            <a:r>
              <a:rPr lang="zh-CN" altLang="en-US" dirty="0">
                <a:solidFill>
                  <a:srgbClr val="333333"/>
                </a:solidFill>
                <a:latin typeface="楷体" panose="02010609060101010101" pitchFamily="49" charset="-122"/>
                <a:ea typeface="楷体" panose="02010609060101010101" pitchFamily="49" charset="-122"/>
              </a:rPr>
              <a:t>大模型推理调用量激增，带动光模块、液冷、</a:t>
            </a:r>
            <a:r>
              <a:rPr lang="en-US" altLang="zh-CN" dirty="0">
                <a:solidFill>
                  <a:srgbClr val="333333"/>
                </a:solidFill>
                <a:latin typeface="楷体" panose="02010609060101010101" pitchFamily="49" charset="-122"/>
                <a:ea typeface="楷体" panose="02010609060101010101" pitchFamily="49" charset="-122"/>
              </a:rPr>
              <a:t>PCB</a:t>
            </a:r>
            <a:r>
              <a:rPr lang="zh-CN" altLang="en-US" dirty="0">
                <a:solidFill>
                  <a:srgbClr val="333333"/>
                </a:solidFill>
                <a:latin typeface="楷体" panose="02010609060101010101" pitchFamily="49" charset="-122"/>
                <a:ea typeface="楷体" panose="02010609060101010101" pitchFamily="49" charset="-122"/>
              </a:rPr>
              <a:t>等硬件订单饱满，业绩支撑增强。</a:t>
            </a:r>
          </a:p>
        </p:txBody>
      </p:sp>
    </p:spTree>
    <p:extLst>
      <p:ext uri="{BB962C8B-B14F-4D97-AF65-F5344CB8AC3E}">
        <p14:creationId xmlns:p14="http://schemas.microsoft.com/office/powerpoint/2010/main" val="2526291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4273875" y="2553022"/>
            <a:ext cx="2584126" cy="559769"/>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86</a:t>
            </a:r>
          </a:p>
        </p:txBody>
      </p:sp>
      <p:grpSp>
        <p:nvGrpSpPr>
          <p:cNvPr id="5" name="组合 4"/>
          <p:cNvGrpSpPr/>
          <p:nvPr/>
        </p:nvGrpSpPr>
        <p:grpSpPr>
          <a:xfrm>
            <a:off x="637701" y="6856775"/>
            <a:ext cx="5633936" cy="461665"/>
            <a:chOff x="668000" y="7314960"/>
            <a:chExt cx="5633936" cy="461665"/>
          </a:xfrm>
        </p:grpSpPr>
        <p:sp>
          <p:nvSpPr>
            <p:cNvPr id="88" name="矩形 87"/>
            <p:cNvSpPr/>
            <p:nvPr/>
          </p:nvSpPr>
          <p:spPr>
            <a:xfrm>
              <a:off x="2522528" y="7314960"/>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69993" y="7551130"/>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68000" y="7551130"/>
              <a:ext cx="1997356"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5" name="椭圆 24"/>
          <p:cNvSpPr/>
          <p:nvPr/>
        </p:nvSpPr>
        <p:spPr>
          <a:xfrm>
            <a:off x="4022690" y="3307909"/>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1"/>
          </a:p>
        </p:txBody>
      </p:sp>
      <p:cxnSp>
        <p:nvCxnSpPr>
          <p:cNvPr id="34" name="直线连接符 43"/>
          <p:cNvCxnSpPr/>
          <p:nvPr/>
        </p:nvCxnSpPr>
        <p:spPr>
          <a:xfrm>
            <a:off x="2837069" y="8600236"/>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51228" y="9915135"/>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6" name="图表 25"/>
          <p:cNvGraphicFramePr>
            <a:graphicFrameLocks/>
          </p:cNvGraphicFramePr>
          <p:nvPr/>
        </p:nvGraphicFramePr>
        <p:xfrm>
          <a:off x="3927796" y="3135143"/>
          <a:ext cx="2739574" cy="2838991"/>
        </p:xfrm>
        <a:graphic>
          <a:graphicData uri="http://schemas.openxmlformats.org/drawingml/2006/chart">
            <c:chart xmlns:c="http://schemas.openxmlformats.org/drawingml/2006/chart" xmlns:r="http://schemas.openxmlformats.org/officeDocument/2006/relationships" r:id="rId3"/>
          </a:graphicData>
        </a:graphic>
      </p:graphicFrame>
      <p:pic>
        <p:nvPicPr>
          <p:cNvPr id="27" name="图片 26" descr="风向标头图">
            <a:extLst>
              <a:ext uri="{FF2B5EF4-FFF2-40B4-BE49-F238E27FC236}">
                <a16:creationId xmlns:a16="http://schemas.microsoft.com/office/drawing/2014/main" id="{F814B1F6-6463-F6BF-F21B-1AA6C271D444}"/>
              </a:ext>
            </a:extLst>
          </p:cNvPr>
          <p:cNvPicPr>
            <a:picLocks noChangeAspect="1"/>
          </p:cNvPicPr>
          <p:nvPr/>
        </p:nvPicPr>
        <p:blipFill>
          <a:blip r:embed="rId4"/>
          <a:stretch>
            <a:fillRect/>
          </a:stretch>
        </p:blipFill>
        <p:spPr>
          <a:xfrm>
            <a:off x="0" y="-635"/>
            <a:ext cx="6858000" cy="1920536"/>
          </a:xfrm>
          <a:prstGeom prst="rect">
            <a:avLst/>
          </a:prstGeom>
        </p:spPr>
      </p:pic>
      <p:sp>
        <p:nvSpPr>
          <p:cNvPr id="35" name="文本框 34"/>
          <p:cNvSpPr txBox="1"/>
          <p:nvPr/>
        </p:nvSpPr>
        <p:spPr>
          <a:xfrm>
            <a:off x="637701" y="334515"/>
            <a:ext cx="5054526" cy="1077218"/>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数字经济</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159658</a:t>
            </a:r>
            <a:endPar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p:txBody>
      </p:sp>
      <p:sp>
        <p:nvSpPr>
          <p:cNvPr id="36" name="矩形 35"/>
          <p:cNvSpPr/>
          <p:nvPr/>
        </p:nvSpPr>
        <p:spPr>
          <a:xfrm flipH="1">
            <a:off x="386961" y="44733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pic>
        <p:nvPicPr>
          <p:cNvPr id="38" name="图片 37" descr="资源 1">
            <a:extLst>
              <a:ext uri="{FF2B5EF4-FFF2-40B4-BE49-F238E27FC236}">
                <a16:creationId xmlns:a16="http://schemas.microsoft.com/office/drawing/2014/main" id="{4922A052-BF2C-4DAE-6CA2-BFAF37177C04}"/>
              </a:ext>
            </a:extLst>
          </p:cNvPr>
          <p:cNvPicPr>
            <a:picLocks noChangeAspect="1"/>
          </p:cNvPicPr>
          <p:nvPr>
            <p:custDataLst>
              <p:tags r:id="rId1"/>
            </p:custDataLst>
          </p:nvPr>
        </p:nvPicPr>
        <p:blipFill>
          <a:blip r:embed="rId5"/>
          <a:stretch>
            <a:fillRect/>
          </a:stretch>
        </p:blipFill>
        <p:spPr>
          <a:xfrm>
            <a:off x="4674870" y="179070"/>
            <a:ext cx="1711960" cy="438150"/>
          </a:xfrm>
          <a:prstGeom prst="rect">
            <a:avLst/>
          </a:prstGeom>
        </p:spPr>
      </p:pic>
      <p:sp>
        <p:nvSpPr>
          <p:cNvPr id="4" name="矩形 3"/>
          <p:cNvSpPr/>
          <p:nvPr/>
        </p:nvSpPr>
        <p:spPr>
          <a:xfrm>
            <a:off x="2722009" y="7360749"/>
            <a:ext cx="3638139" cy="1220847"/>
          </a:xfrm>
          <a:prstGeom prst="rect">
            <a:avLst/>
          </a:prstGeom>
        </p:spPr>
        <p:txBody>
          <a:bodyPr wrap="square">
            <a:spAutoFit/>
          </a:bodyPr>
          <a:lstStyle/>
          <a:p>
            <a:pPr marL="0" lvl="2" algn="just">
              <a:lnSpc>
                <a:spcPts val="2200"/>
              </a:lnSpc>
            </a:pPr>
            <a:r>
              <a:rPr lang="zh-CN" altLang="en-US" sz="1600" b="1" dirty="0">
                <a:solidFill>
                  <a:schemeClr val="tx1">
                    <a:lumMod val="75000"/>
                    <a:lumOff val="25000"/>
                  </a:schemeClr>
                </a:solidFill>
                <a:latin typeface="楷体" panose="02010609060101010101" pitchFamily="49" charset="-122"/>
                <a:ea typeface="楷体" panose="02010609060101010101" pitchFamily="49" charset="-122"/>
              </a:rPr>
              <a:t>国家顶层设计全面落地</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endParaRPr>
          </a:p>
          <a:p>
            <a:pPr marL="0" lvl="2" algn="just">
              <a:lnSpc>
                <a:spcPts val="2200"/>
              </a:lnSpc>
            </a:pP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十五五”规划纲要</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将数字经济确立为新质生产力核心，强化数字产业化与产业数字化双轮驱动。</a:t>
            </a:r>
          </a:p>
        </p:txBody>
      </p:sp>
      <p:sp>
        <p:nvSpPr>
          <p:cNvPr id="3" name="矩形 2"/>
          <p:cNvSpPr/>
          <p:nvPr/>
        </p:nvSpPr>
        <p:spPr>
          <a:xfrm>
            <a:off x="637700" y="1967011"/>
            <a:ext cx="3290096" cy="4862870"/>
          </a:xfrm>
          <a:prstGeom prst="rect">
            <a:avLst/>
          </a:prstGeom>
        </p:spPr>
        <p:txBody>
          <a:bodyPr wrap="square">
            <a:spAutoFit/>
          </a:bodyPr>
          <a:lstStyle/>
          <a:p>
            <a:pPr marL="0" lvl="2" indent="457200" algn="just">
              <a:spcAft>
                <a:spcPts val="1200"/>
              </a:spcAft>
            </a:pPr>
            <a:r>
              <a:rPr lang="zh-CN" altLang="en-US" sz="2000" dirty="0">
                <a:latin typeface="楷体" panose="02010609060101010101" pitchFamily="49" charset="-122"/>
                <a:ea typeface="楷体" panose="02010609060101010101" pitchFamily="49" charset="-122"/>
                <a:sym typeface="Cambria" panose="02040503050406030204" pitchFamily="18" charset="0"/>
              </a:rPr>
              <a:t>数字经济指数</a:t>
            </a:r>
            <a:r>
              <a:rPr lang="en-US" altLang="zh-CN" sz="2000" dirty="0">
                <a:latin typeface="楷体" panose="02010609060101010101" pitchFamily="49" charset="-122"/>
                <a:ea typeface="楷体" panose="02010609060101010101" pitchFamily="49" charset="-122"/>
                <a:sym typeface="Cambria" panose="02040503050406030204" pitchFamily="18" charset="0"/>
              </a:rPr>
              <a:t>3</a:t>
            </a:r>
            <a:r>
              <a:rPr lang="zh-CN" altLang="en-US" sz="2000" dirty="0">
                <a:latin typeface="楷体" panose="02010609060101010101" pitchFamily="49" charset="-122"/>
                <a:ea typeface="楷体" panose="02010609060101010101" pitchFamily="49" charset="-122"/>
                <a:sym typeface="Cambria" panose="02040503050406030204" pitchFamily="18" charset="0"/>
              </a:rPr>
              <a:t>月下跌</a:t>
            </a:r>
            <a:r>
              <a:rPr lang="en-US" altLang="zh-CN" sz="2000" dirty="0">
                <a:latin typeface="楷体" panose="02010609060101010101" pitchFamily="49" charset="-122"/>
                <a:ea typeface="楷体" panose="02010609060101010101" pitchFamily="49" charset="-122"/>
                <a:sym typeface="Cambria" panose="02040503050406030204" pitchFamily="18" charset="0"/>
              </a:rPr>
              <a:t>15.93%</a:t>
            </a:r>
            <a:r>
              <a:rPr lang="zh-CN" altLang="en-US" sz="2000" dirty="0">
                <a:latin typeface="楷体" panose="02010609060101010101" pitchFamily="49" charset="-122"/>
                <a:ea typeface="楷体" panose="02010609060101010101" pitchFamily="49" charset="-122"/>
                <a:sym typeface="Cambria" panose="02040503050406030204" pitchFamily="18" charset="0"/>
              </a:rPr>
              <a:t>。</a:t>
            </a:r>
            <a:endParaRPr lang="zh-CN" altLang="en-US" sz="2000" dirty="0">
              <a:latin typeface="楷体" panose="02010609060101010101" pitchFamily="49" charset="-122"/>
              <a:ea typeface="楷体" panose="02010609060101010101" pitchFamily="49" charset="-122"/>
            </a:endParaRPr>
          </a:p>
          <a:p>
            <a:pPr marL="0" lvl="2" indent="457200" algn="just">
              <a:spcAft>
                <a:spcPts val="1200"/>
              </a:spcAft>
            </a:pP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中国数字经济在政策深化、技术融合与产业落地的共同推动下，进入“体系化跃升”关键阶段。整体呈现数据要素市场化提速、</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AI</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与实体经济深度融合、数字基建投资加码、区域协同发展强化、制度环境持续优化五大核心特征。</a:t>
            </a:r>
            <a:r>
              <a:rPr lang="zh-CN" altLang="en-US" sz="2000" dirty="0">
                <a:latin typeface="楷体" panose="02010609060101010101" pitchFamily="49" charset="-122"/>
                <a:ea typeface="楷体" panose="02010609060101010101" pitchFamily="49" charset="-122"/>
              </a:rPr>
              <a:t>在政策、技术、资本三重共振下，具备真实应用场景、数据资产积累和核心技术能力的企业有望成为下一阶段增长主力。</a:t>
            </a:r>
            <a:endParaRPr lang="en-US" altLang="zh-CN" sz="20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23" name="文本框 22"/>
          <p:cNvSpPr txBox="1"/>
          <p:nvPr/>
        </p:nvSpPr>
        <p:spPr>
          <a:xfrm>
            <a:off x="638897" y="1417409"/>
            <a:ext cx="5053330" cy="50355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018031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018032</a:t>
            </a:r>
          </a:p>
        </p:txBody>
      </p:sp>
      <p:pic>
        <p:nvPicPr>
          <p:cNvPr id="22" name="图片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7304" y="7236041"/>
            <a:ext cx="2370942" cy="4242959"/>
          </a:xfrm>
          <a:prstGeom prst="rect">
            <a:avLst/>
          </a:prstGeom>
        </p:spPr>
      </p:pic>
      <p:sp>
        <p:nvSpPr>
          <p:cNvPr id="6" name="矩形 5"/>
          <p:cNvSpPr/>
          <p:nvPr/>
        </p:nvSpPr>
        <p:spPr>
          <a:xfrm>
            <a:off x="2743984" y="10053379"/>
            <a:ext cx="3647283" cy="1220847"/>
          </a:xfrm>
          <a:prstGeom prst="rect">
            <a:avLst/>
          </a:prstGeom>
        </p:spPr>
        <p:txBody>
          <a:bodyPr wrap="square">
            <a:spAutoFit/>
          </a:bodyPr>
          <a:lstStyle/>
          <a:p>
            <a:pPr marL="0" lvl="2" algn="just">
              <a:lnSpc>
                <a:spcPts val="2200"/>
              </a:lnSpc>
              <a:spcAft>
                <a:spcPts val="0"/>
              </a:spcAft>
            </a:pPr>
            <a:r>
              <a:rPr lang="zh-CN" altLang="en-US" sz="1600" b="1" dirty="0">
                <a:solidFill>
                  <a:schemeClr val="tx1">
                    <a:lumMod val="75000"/>
                    <a:lumOff val="25000"/>
                  </a:schemeClr>
                </a:solidFill>
                <a:latin typeface="楷体" panose="02010609060101010101" pitchFamily="49" charset="-122"/>
                <a:ea typeface="楷体" panose="02010609060101010101" pitchFamily="49" charset="-122"/>
              </a:rPr>
              <a:t>“人工智能</a:t>
            </a:r>
            <a:r>
              <a:rPr lang="en-US" altLang="zh-CN" sz="1600" b="1"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1600" b="1" dirty="0">
                <a:solidFill>
                  <a:schemeClr val="tx1">
                    <a:lumMod val="75000"/>
                    <a:lumOff val="25000"/>
                  </a:schemeClr>
                </a:solidFill>
                <a:latin typeface="楷体" panose="02010609060101010101" pitchFamily="49" charset="-122"/>
                <a:ea typeface="楷体" panose="02010609060101010101" pitchFamily="49" charset="-122"/>
              </a:rPr>
              <a:t>深度融合实体经济</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endParaRPr>
          </a:p>
          <a:p>
            <a:pPr marL="0" lvl="2" algn="just">
              <a:lnSpc>
                <a:spcPts val="2200"/>
              </a:lnSpc>
              <a:spcAft>
                <a:spcPts val="0"/>
              </a:spcAft>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两会及行业大会推动</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AI</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在制造、医疗等领域规模化应用，配套专项基金与示范项目落地。</a:t>
            </a:r>
            <a:endParaRPr lang="zh-CN"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9" name="矩形 8"/>
          <p:cNvSpPr/>
          <p:nvPr/>
        </p:nvSpPr>
        <p:spPr>
          <a:xfrm>
            <a:off x="2724390" y="8708358"/>
            <a:ext cx="3429000" cy="1077218"/>
          </a:xfrm>
          <a:prstGeom prst="rect">
            <a:avLst/>
          </a:prstGeom>
        </p:spPr>
        <p:txBody>
          <a:bodyPr>
            <a:spAutoFit/>
          </a:bodyPr>
          <a:lstStyle/>
          <a:p>
            <a:r>
              <a:rPr lang="zh-CN" altLang="en-US" sz="1600" b="1" dirty="0">
                <a:solidFill>
                  <a:srgbClr val="333333"/>
                </a:solidFill>
                <a:latin typeface="楷体" panose="02010609060101010101" pitchFamily="49" charset="-122"/>
                <a:ea typeface="楷体" panose="02010609060101010101" pitchFamily="49" charset="-122"/>
              </a:rPr>
              <a:t>数据要素市场化加速推进</a:t>
            </a:r>
            <a:endParaRPr lang="en-US" altLang="zh-CN" sz="1600" b="1" dirty="0">
              <a:solidFill>
                <a:srgbClr val="333333"/>
              </a:solidFill>
              <a:latin typeface="楷体" panose="02010609060101010101" pitchFamily="49" charset="-122"/>
              <a:ea typeface="楷体" panose="02010609060101010101" pitchFamily="49" charset="-122"/>
            </a:endParaRPr>
          </a:p>
          <a:p>
            <a:r>
              <a:rPr lang="zh-CN" altLang="en-US" sz="1600" dirty="0">
                <a:solidFill>
                  <a:srgbClr val="333333"/>
                </a:solidFill>
                <a:latin typeface="楷体" panose="02010609060101010101" pitchFamily="49" charset="-122"/>
                <a:ea typeface="楷体" panose="02010609060101010101" pitchFamily="49" charset="-122"/>
              </a:rPr>
              <a:t>国家数据局启动“数据要素价值释放年”，加快构建统一产权制度与全国一体化数据市场。</a:t>
            </a:r>
            <a:endParaRPr lang="zh-CN" altLang="en-US" sz="1600" dirty="0">
              <a:latin typeface="楷体" panose="02010609060101010101" pitchFamily="49" charset="-122"/>
              <a:ea typeface="楷体" panose="02010609060101010101" pitchFamily="49" charset="-122"/>
            </a:endParaRPr>
          </a:p>
        </p:txBody>
      </p:sp>
      <p:cxnSp>
        <p:nvCxnSpPr>
          <p:cNvPr id="28" name="直线连接符 43"/>
          <p:cNvCxnSpPr/>
          <p:nvPr/>
        </p:nvCxnSpPr>
        <p:spPr>
          <a:xfrm>
            <a:off x="2863616" y="11196591"/>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2414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635"/>
            <a:ext cx="6858000" cy="1920536"/>
            <a:chOff x="0" y="-635"/>
            <a:chExt cx="6858000" cy="1920536"/>
          </a:xfrm>
        </p:grpSpPr>
        <p:pic>
          <p:nvPicPr>
            <p:cNvPr id="2" name="图片 1" descr="风向标头图"/>
            <p:cNvPicPr>
              <a:picLocks noChangeAspect="1"/>
            </p:cNvPicPr>
            <p:nvPr/>
          </p:nvPicPr>
          <p:blipFill>
            <a:blip r:embed="rId3"/>
            <a:stretch>
              <a:fillRect/>
            </a:stretch>
          </p:blipFill>
          <p:spPr>
            <a:xfrm>
              <a:off x="0" y="-635"/>
              <a:ext cx="6858000" cy="1920536"/>
            </a:xfrm>
            <a:prstGeom prst="rect">
              <a:avLst/>
            </a:prstGeom>
          </p:spPr>
        </p:pic>
        <p:pic>
          <p:nvPicPr>
            <p:cNvPr id="3" name="图片 2"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39" name="文本框 38"/>
          <p:cNvSpPr txBox="1"/>
          <p:nvPr/>
        </p:nvSpPr>
        <p:spPr>
          <a:xfrm>
            <a:off x="2813044" y="10293508"/>
            <a:ext cx="3641814" cy="1323439"/>
          </a:xfrm>
          <a:prstGeom prst="rect">
            <a:avLst/>
          </a:prstGeom>
          <a:noFill/>
        </p:spPr>
        <p:txBody>
          <a:bodyPr wrap="square" rtlCol="0">
            <a:spAutoFit/>
          </a:bodyPr>
          <a:lstStyle/>
          <a:p>
            <a:pPr marL="0" lvl="2"/>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创业板龙头股盈利与成长性突出</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创业板</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50</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指数</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25Q3</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归母净利润同比增长</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26%</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，细分板块进入基本面向上趋势当中，指数的弹性及基本面的优势有望逐步呈现。</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10" name="矩形 9"/>
          <p:cNvSpPr/>
          <p:nvPr/>
        </p:nvSpPr>
        <p:spPr>
          <a:xfrm>
            <a:off x="334588" y="2250115"/>
            <a:ext cx="3491981" cy="4401205"/>
          </a:xfrm>
          <a:prstGeom prst="rect">
            <a:avLst/>
          </a:prstGeom>
          <a:noFill/>
        </p:spPr>
        <p:txBody>
          <a:bodyPr wrap="square">
            <a:spAutoFit/>
          </a:bodyPr>
          <a:lstStyle/>
          <a:p>
            <a:pPr algn="just">
              <a:spcAft>
                <a:spcPts val="600"/>
              </a:spcAft>
            </a:pPr>
            <a:r>
              <a:rPr lang="en-US" altLang="zh-CN" dirty="0">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创业板</a:t>
            </a:r>
            <a:r>
              <a:rPr lang="en-US" altLang="zh-CN" dirty="0">
                <a:latin typeface="楷体" panose="02010609060101010101" pitchFamily="49" charset="-122"/>
                <a:ea typeface="楷体" panose="02010609060101010101" pitchFamily="49" charset="-122"/>
                <a:sym typeface="Cambria" panose="02040503050406030204" pitchFamily="18" charset="0"/>
              </a:rPr>
              <a:t>50</a:t>
            </a:r>
            <a:r>
              <a:rPr lang="zh-CN" altLang="en-US" dirty="0">
                <a:latin typeface="楷体" panose="02010609060101010101" pitchFamily="49" charset="-122"/>
                <a:ea typeface="楷体" panose="02010609060101010101" pitchFamily="49" charset="-122"/>
                <a:sym typeface="Cambria" panose="02040503050406030204" pitchFamily="18" charset="0"/>
              </a:rPr>
              <a:t>指数</a:t>
            </a: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sym typeface="Cambria" panose="02040503050406030204" pitchFamily="18" charset="0"/>
              </a:rPr>
              <a:t>月下跌</a:t>
            </a:r>
            <a:r>
              <a:rPr lang="en-US" altLang="zh-CN" dirty="0">
                <a:latin typeface="楷体" panose="02010609060101010101" pitchFamily="49" charset="-122"/>
                <a:ea typeface="楷体" panose="02010609060101010101" pitchFamily="49" charset="-122"/>
                <a:sym typeface="Cambria" panose="02040503050406030204" pitchFamily="18" charset="0"/>
              </a:rPr>
              <a:t>2.88%</a:t>
            </a:r>
          </a:p>
          <a:p>
            <a:pPr algn="just">
              <a:spcAft>
                <a:spcPts val="600"/>
              </a:spcAft>
            </a:pPr>
            <a:r>
              <a:rPr lang="en-US" altLang="zh-CN" dirty="0">
                <a:latin typeface="楷体" panose="02010609060101010101" pitchFamily="49" charset="-122"/>
                <a:ea typeface="楷体" panose="02010609060101010101" pitchFamily="49" charset="-122"/>
                <a:sym typeface="Cambria" panose="02040503050406030204" pitchFamily="18" charset="0"/>
              </a:rPr>
              <a:t>	3</a:t>
            </a:r>
            <a:r>
              <a:rPr lang="zh-CN" altLang="en-US" dirty="0">
                <a:latin typeface="楷体" panose="02010609060101010101" pitchFamily="49" charset="-122"/>
                <a:ea typeface="楷体" panose="02010609060101010101" pitchFamily="49" charset="-122"/>
                <a:sym typeface="Cambria" panose="02040503050406030204" pitchFamily="18" charset="0"/>
              </a:rPr>
              <a:t>月在地缘冲突的外围影响下，市场情绪从亢奋转为剧烈分歧，资金从高估值科技板块撤离，转向防御性权重资产，导致指数承压。创业板</a:t>
            </a:r>
            <a:r>
              <a:rPr lang="en-US" altLang="zh-CN" dirty="0">
                <a:latin typeface="楷体" panose="02010609060101010101" pitchFamily="49" charset="-122"/>
                <a:ea typeface="楷体" panose="02010609060101010101" pitchFamily="49" charset="-122"/>
                <a:sym typeface="Cambria" panose="02040503050406030204" pitchFamily="18" charset="0"/>
              </a:rPr>
              <a:t>50</a:t>
            </a:r>
            <a:r>
              <a:rPr lang="zh-CN" altLang="en-US" dirty="0">
                <a:latin typeface="楷体" panose="02010609060101010101" pitchFamily="49" charset="-122"/>
                <a:ea typeface="楷体" panose="02010609060101010101" pitchFamily="49" charset="-122"/>
                <a:sym typeface="Cambria" panose="02040503050406030204" pitchFamily="18" charset="0"/>
              </a:rPr>
              <a:t>指数中新能源、光模块龙头基本面与逻辑向好，金融科技、半导体等高贝塔成份股拖累整体指数。</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algn="just">
              <a:spcAft>
                <a:spcPts val="600"/>
              </a:spcAft>
            </a:pPr>
            <a:r>
              <a:rPr lang="en-US" altLang="zh-CN" dirty="0">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展望后市，局部战争与油价高企对全球风险资产形成压制，持续关注地缘进展。基本面维度，创业板龙头股盈利与成长性突出，在结构分化的行情中，其基本面优势有望逐步呈现。</a:t>
            </a:r>
            <a:endParaRPr lang="en-US" altLang="zh-CN" dirty="0">
              <a:latin typeface="楷体" panose="02010609060101010101" pitchFamily="49" charset="-122"/>
              <a:ea typeface="楷体" panose="02010609060101010101" pitchFamily="49" charset="-122"/>
              <a:sym typeface="Cambria" panose="02040503050406030204" pitchFamily="18" charset="0"/>
            </a:endParaRPr>
          </a:p>
        </p:txBody>
      </p:sp>
      <p:sp>
        <p:nvSpPr>
          <p:cNvPr id="12" name="矩形 11"/>
          <p:cNvSpPr/>
          <p:nvPr/>
        </p:nvSpPr>
        <p:spPr>
          <a:xfrm>
            <a:off x="4119245" y="2645922"/>
            <a:ext cx="2738755" cy="559769"/>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94</a:t>
            </a:r>
          </a:p>
        </p:txBody>
      </p:sp>
      <p:sp>
        <p:nvSpPr>
          <p:cNvPr id="88" name="矩形 87"/>
          <p:cNvSpPr/>
          <p:nvPr/>
        </p:nvSpPr>
        <p:spPr>
          <a:xfrm>
            <a:off x="2546252" y="6589070"/>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45231" y="6814460"/>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81286" y="6814460"/>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3971890" y="3477107"/>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cxnSp>
        <p:nvCxnSpPr>
          <p:cNvPr id="34" name="直线连接符 43"/>
          <p:cNvCxnSpPr/>
          <p:nvPr/>
        </p:nvCxnSpPr>
        <p:spPr>
          <a:xfrm>
            <a:off x="2824218" y="8643768"/>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861752" y="10158026"/>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61752" y="11702795"/>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29590" y="224770"/>
            <a:ext cx="5408295" cy="1076325"/>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创业板</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50ETF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159949</a:t>
            </a:r>
          </a:p>
        </p:txBody>
      </p:sp>
      <p:pic>
        <p:nvPicPr>
          <p:cNvPr id="36" name="图片 35"/>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306945" y="7315701"/>
            <a:ext cx="2239307" cy="3844655"/>
          </a:xfrm>
          <a:prstGeom prst="rect">
            <a:avLst/>
          </a:prstGeom>
        </p:spPr>
      </p:pic>
      <p:sp>
        <p:nvSpPr>
          <p:cNvPr id="21" name="文本框 20"/>
          <p:cNvSpPr txBox="1"/>
          <p:nvPr/>
        </p:nvSpPr>
        <p:spPr>
          <a:xfrm>
            <a:off x="529590" y="1212676"/>
            <a:ext cx="5992086" cy="63397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160422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160424   </a:t>
            </a:r>
          </a:p>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I</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022654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 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Y</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022976</a:t>
            </a:r>
          </a:p>
        </p:txBody>
      </p:sp>
      <p:sp>
        <p:nvSpPr>
          <p:cNvPr id="35" name="文本框 34"/>
          <p:cNvSpPr txBox="1"/>
          <p:nvPr/>
        </p:nvSpPr>
        <p:spPr>
          <a:xfrm>
            <a:off x="2813045" y="8717599"/>
            <a:ext cx="3641814" cy="1323439"/>
          </a:xfrm>
          <a:prstGeom prst="rect">
            <a:avLst/>
          </a:prstGeom>
          <a:noFill/>
        </p:spPr>
        <p:txBody>
          <a:bodyPr wrap="square" rtlCol="0">
            <a:spAutoFit/>
          </a:bodyPr>
          <a:lstStyle/>
          <a:p>
            <a:pPr marL="0" lvl="2" algn="just"/>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创业板</a:t>
            </a:r>
            <a:r>
              <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50</a:t>
            </a:r>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指数优选成长性白马，发展潜力高，指数估值处于相对低位</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lgn="just"/>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创业板</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50</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指数鲜明的大盘成长风格，反转行情中弹性较高；最新估值</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39</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倍，回到指数历史中枢以下位置。</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38" name="文本框 37"/>
          <p:cNvSpPr txBox="1"/>
          <p:nvPr/>
        </p:nvSpPr>
        <p:spPr>
          <a:xfrm>
            <a:off x="2824218" y="7148617"/>
            <a:ext cx="3630640" cy="1323439"/>
          </a:xfrm>
          <a:prstGeom prst="rect">
            <a:avLst/>
          </a:prstGeom>
          <a:noFill/>
        </p:spPr>
        <p:txBody>
          <a:bodyPr wrap="square" rtlCol="0">
            <a:spAutoFit/>
          </a:bodyPr>
          <a:lstStyle/>
          <a:p>
            <a:pPr marL="0" lvl="2" algn="just"/>
            <a:r>
              <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AI</a:t>
            </a:r>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产业革命助力创业板发展</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lgn="just"/>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全球</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AI</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大厂资本开支高增，创业板</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50</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指数相关成份股受益于全球算力需求激增，业绩超预期。“三创四新”的创业板投资机会凸显。</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24" name="矩形 23"/>
          <p:cNvSpPr/>
          <p:nvPr/>
        </p:nvSpPr>
        <p:spPr>
          <a:xfrm flipH="1">
            <a:off x="334588" y="36026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graphicFrame>
        <p:nvGraphicFramePr>
          <p:cNvPr id="26" name="图表 25"/>
          <p:cNvGraphicFramePr>
            <a:graphicFrameLocks/>
          </p:cNvGraphicFramePr>
          <p:nvPr/>
        </p:nvGraphicFramePr>
        <p:xfrm>
          <a:off x="3784415" y="3263146"/>
          <a:ext cx="2924736" cy="3101765"/>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543167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0" y="-635"/>
            <a:ext cx="6858000" cy="1920536"/>
            <a:chOff x="0" y="-635"/>
            <a:chExt cx="6858000" cy="1920536"/>
          </a:xfrm>
        </p:grpSpPr>
        <p:pic>
          <p:nvPicPr>
            <p:cNvPr id="37" name="图片 36" descr="风向标头图"/>
            <p:cNvPicPr>
              <a:picLocks noChangeAspect="1"/>
            </p:cNvPicPr>
            <p:nvPr/>
          </p:nvPicPr>
          <p:blipFill>
            <a:blip r:embed="rId3"/>
            <a:stretch>
              <a:fillRect/>
            </a:stretch>
          </p:blipFill>
          <p:spPr>
            <a:xfrm>
              <a:off x="0" y="-635"/>
              <a:ext cx="6858000" cy="1920536"/>
            </a:xfrm>
            <a:prstGeom prst="rect">
              <a:avLst/>
            </a:prstGeom>
          </p:spPr>
        </p:pic>
        <p:pic>
          <p:nvPicPr>
            <p:cNvPr id="38" name="图片 37"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10" name="矩形 9"/>
          <p:cNvSpPr/>
          <p:nvPr/>
        </p:nvSpPr>
        <p:spPr>
          <a:xfrm>
            <a:off x="326206" y="2149351"/>
            <a:ext cx="3292519" cy="5078313"/>
          </a:xfrm>
          <a:prstGeom prst="rect">
            <a:avLst/>
          </a:prstGeom>
          <a:noFill/>
        </p:spPr>
        <p:txBody>
          <a:bodyPr wrap="square">
            <a:spAutoFit/>
          </a:bodyPr>
          <a:lstStyle/>
          <a:p>
            <a:pPr algn="just"/>
            <a:r>
              <a:rPr lang="en-US" altLang="zh-CN" sz="1400" dirty="0">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科创</a:t>
            </a:r>
            <a:r>
              <a:rPr lang="en-US" altLang="zh-CN" dirty="0">
                <a:latin typeface="楷体" panose="02010609060101010101" pitchFamily="49" charset="-122"/>
                <a:ea typeface="楷体" panose="02010609060101010101" pitchFamily="49" charset="-122"/>
                <a:sym typeface="Cambria" panose="02040503050406030204" pitchFamily="18" charset="0"/>
              </a:rPr>
              <a:t>50</a:t>
            </a:r>
            <a:r>
              <a:rPr lang="zh-CN" altLang="en-US" dirty="0">
                <a:latin typeface="楷体" panose="02010609060101010101" pitchFamily="49" charset="-122"/>
                <a:ea typeface="楷体" panose="02010609060101010101" pitchFamily="49" charset="-122"/>
                <a:sym typeface="Cambria" panose="02040503050406030204" pitchFamily="18" charset="0"/>
              </a:rPr>
              <a:t>指数</a:t>
            </a: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sym typeface="Cambria" panose="02040503050406030204" pitchFamily="18" charset="0"/>
              </a:rPr>
              <a:t>月下跌</a:t>
            </a:r>
            <a:r>
              <a:rPr lang="en-US" altLang="zh-CN" dirty="0">
                <a:latin typeface="楷体" panose="02010609060101010101" pitchFamily="49" charset="-122"/>
                <a:ea typeface="楷体" panose="02010609060101010101" pitchFamily="49" charset="-122"/>
                <a:sym typeface="Cambria" panose="02040503050406030204" pitchFamily="18" charset="0"/>
              </a:rPr>
              <a:t>15.57%</a:t>
            </a:r>
          </a:p>
          <a:p>
            <a:pPr algn="just"/>
            <a:r>
              <a:rPr lang="zh-CN" altLang="en-US" dirty="0">
                <a:latin typeface="楷体" panose="02010609060101010101" pitchFamily="49" charset="-122"/>
                <a:ea typeface="楷体" panose="02010609060101010101" pitchFamily="49" charset="-122"/>
                <a:sym typeface="Cambria" panose="02040503050406030204" pitchFamily="18" charset="0"/>
              </a:rPr>
              <a:t>    </a:t>
            </a: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sym typeface="Cambria" panose="02040503050406030204" pitchFamily="18" charset="0"/>
              </a:rPr>
              <a:t>月市场风险偏好显著下降，受全球半导体周期调整、需求疲软影响，科创板半导体及设备板块内个股普遍下跌，拖累指数走势；此外人工智能相关标的前期涨幅较大，</a:t>
            </a: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sym typeface="Cambria" panose="02040503050406030204" pitchFamily="18" charset="0"/>
              </a:rPr>
              <a:t>月亦遭遇估值回调。</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algn="dist"/>
            <a:r>
              <a:rPr lang="zh-CN" altLang="en-US" dirty="0">
                <a:latin typeface="楷体" panose="02010609060101010101" pitchFamily="49" charset="-122"/>
                <a:ea typeface="楷体" panose="02010609060101010101" pitchFamily="49" charset="-122"/>
                <a:sym typeface="Cambria" panose="02040503050406030204" pitchFamily="18" charset="0"/>
              </a:rPr>
              <a:t>    科创</a:t>
            </a:r>
            <a:r>
              <a:rPr lang="en-US" altLang="zh-CN" dirty="0">
                <a:latin typeface="楷体" panose="02010609060101010101" pitchFamily="49" charset="-122"/>
                <a:ea typeface="楷体" panose="02010609060101010101" pitchFamily="49" charset="-122"/>
                <a:sym typeface="Cambria" panose="02040503050406030204" pitchFamily="18" charset="0"/>
              </a:rPr>
              <a:t>50</a:t>
            </a:r>
            <a:r>
              <a:rPr lang="zh-CN" altLang="en-US" dirty="0">
                <a:latin typeface="楷体" panose="02010609060101010101" pitchFamily="49" charset="-122"/>
                <a:ea typeface="楷体" panose="02010609060101010101" pitchFamily="49" charset="-122"/>
                <a:sym typeface="Cambria" panose="02040503050406030204" pitchFamily="18" charset="0"/>
              </a:rPr>
              <a:t>指数高度契合国家战略科技发展方向</a:t>
            </a:r>
            <a:r>
              <a:rPr lang="en-US" altLang="zh-CN" dirty="0">
                <a:latin typeface="楷体" panose="02010609060101010101" pitchFamily="49" charset="-122"/>
                <a:ea typeface="楷体" panose="02010609060101010101" pitchFamily="49" charset="-122"/>
                <a:sym typeface="Cambria" panose="02040503050406030204" pitchFamily="18" charset="0"/>
              </a:rPr>
              <a:t>,</a:t>
            </a:r>
            <a:r>
              <a:rPr lang="zh-CN" altLang="en-US" dirty="0">
                <a:latin typeface="楷体" panose="02010609060101010101" pitchFamily="49" charset="-122"/>
                <a:ea typeface="楷体" panose="02010609060101010101" pitchFamily="49" charset="-122"/>
                <a:sym typeface="Cambria" panose="02040503050406030204" pitchFamily="18" charset="0"/>
              </a:rPr>
              <a:t>成分股主要集中在半导体、医疗器械、光伏设备等高科技行业</a:t>
            </a:r>
            <a:r>
              <a:rPr lang="en-US" altLang="zh-CN" dirty="0">
                <a:latin typeface="楷体" panose="02010609060101010101" pitchFamily="49" charset="-122"/>
                <a:ea typeface="楷体" panose="02010609060101010101" pitchFamily="49" charset="-122"/>
                <a:sym typeface="Cambria" panose="02040503050406030204" pitchFamily="18" charset="0"/>
              </a:rPr>
              <a:t>, </a:t>
            </a:r>
            <a:r>
              <a:rPr lang="zh-CN" altLang="en-US" dirty="0">
                <a:latin typeface="楷体" panose="02010609060101010101" pitchFamily="49" charset="-122"/>
                <a:ea typeface="楷体" panose="02010609060101010101" pitchFamily="49" charset="-122"/>
                <a:sym typeface="Cambria" panose="02040503050406030204" pitchFamily="18" charset="0"/>
              </a:rPr>
              <a:t>其中半导体为第一大权重行业，占比</a:t>
            </a:r>
            <a:r>
              <a:rPr lang="en-US" altLang="zh-CN" dirty="0">
                <a:latin typeface="楷体" panose="02010609060101010101" pitchFamily="49" charset="-122"/>
                <a:ea typeface="楷体" panose="02010609060101010101" pitchFamily="49" charset="-122"/>
                <a:sym typeface="Cambria" panose="02040503050406030204" pitchFamily="18" charset="0"/>
              </a:rPr>
              <a:t>60%</a:t>
            </a:r>
            <a:r>
              <a:rPr lang="zh-CN" altLang="en-US" dirty="0">
                <a:latin typeface="楷体" panose="02010609060101010101" pitchFamily="49" charset="-122"/>
                <a:ea typeface="楷体" panose="02010609060101010101" pitchFamily="49" charset="-122"/>
                <a:sym typeface="Cambria" panose="02040503050406030204" pitchFamily="18" charset="0"/>
              </a:rPr>
              <a:t>左右，反映了科创板在半导体领域的强大竞争力。这也使得科创</a:t>
            </a:r>
            <a:r>
              <a:rPr lang="en-US" altLang="zh-CN" dirty="0">
                <a:latin typeface="楷体" panose="02010609060101010101" pitchFamily="49" charset="-122"/>
                <a:ea typeface="楷体" panose="02010609060101010101" pitchFamily="49" charset="-122"/>
                <a:sym typeface="Cambria" panose="02040503050406030204" pitchFamily="18" charset="0"/>
              </a:rPr>
              <a:t>50</a:t>
            </a:r>
            <a:r>
              <a:rPr lang="zh-CN" altLang="en-US" dirty="0">
                <a:latin typeface="楷体" panose="02010609060101010101" pitchFamily="49" charset="-122"/>
                <a:ea typeface="楷体" panose="02010609060101010101" pitchFamily="49" charset="-122"/>
                <a:sym typeface="Cambria" panose="02040503050406030204" pitchFamily="18" charset="0"/>
              </a:rPr>
              <a:t>指数相比于其它宽基指数，或更受益于人工智能催生的国产芯片需求增长。</a:t>
            </a:r>
          </a:p>
        </p:txBody>
      </p:sp>
      <p:sp>
        <p:nvSpPr>
          <p:cNvPr id="88" name="矩形 87"/>
          <p:cNvSpPr/>
          <p:nvPr/>
        </p:nvSpPr>
        <p:spPr>
          <a:xfrm>
            <a:off x="2489951" y="7190460"/>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26977" y="7415849"/>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24984" y="7415849"/>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4022690" y="3142809"/>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1"/>
          </a:p>
        </p:txBody>
      </p:sp>
      <p:sp>
        <p:nvSpPr>
          <p:cNvPr id="22" name="矩形 21"/>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1"/>
          </a:p>
        </p:txBody>
      </p:sp>
      <p:sp>
        <p:nvSpPr>
          <p:cNvPr id="26" name="文本框 25"/>
          <p:cNvSpPr txBox="1"/>
          <p:nvPr/>
        </p:nvSpPr>
        <p:spPr>
          <a:xfrm>
            <a:off x="482972" y="342423"/>
            <a:ext cx="5054526" cy="1077218"/>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科创</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50ETF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588280</a:t>
            </a:r>
            <a:endPar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p:txBody>
      </p:sp>
      <p:sp>
        <p:nvSpPr>
          <p:cNvPr id="24" name="矩形 23"/>
          <p:cNvSpPr/>
          <p:nvPr/>
        </p:nvSpPr>
        <p:spPr>
          <a:xfrm>
            <a:off x="4119246" y="2440723"/>
            <a:ext cx="2738755"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87</a:t>
            </a:r>
          </a:p>
        </p:txBody>
      </p:sp>
      <p:pic>
        <p:nvPicPr>
          <p:cNvPr id="29" name="图片 28"/>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326206" y="7782982"/>
            <a:ext cx="2239307" cy="3844655"/>
          </a:xfrm>
          <a:prstGeom prst="rect">
            <a:avLst/>
          </a:prstGeom>
        </p:spPr>
      </p:pic>
      <p:sp>
        <p:nvSpPr>
          <p:cNvPr id="32" name="文本框 31"/>
          <p:cNvSpPr txBox="1"/>
          <p:nvPr/>
        </p:nvSpPr>
        <p:spPr>
          <a:xfrm>
            <a:off x="554110" y="1433119"/>
            <a:ext cx="5053330" cy="50355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020714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020715</a:t>
            </a:r>
          </a:p>
        </p:txBody>
      </p:sp>
      <p:graphicFrame>
        <p:nvGraphicFramePr>
          <p:cNvPr id="23" name="图表 22"/>
          <p:cNvGraphicFramePr>
            <a:graphicFrameLocks/>
          </p:cNvGraphicFramePr>
          <p:nvPr/>
        </p:nvGraphicFramePr>
        <p:xfrm>
          <a:off x="3835215" y="2936607"/>
          <a:ext cx="2924736" cy="3101765"/>
        </p:xfrm>
        <a:graphic>
          <a:graphicData uri="http://schemas.openxmlformats.org/drawingml/2006/chart">
            <c:chart xmlns:c="http://schemas.openxmlformats.org/drawingml/2006/chart" xmlns:r="http://schemas.openxmlformats.org/officeDocument/2006/relationships" r:id="rId7"/>
          </a:graphicData>
        </a:graphic>
      </p:graphicFrame>
      <p:sp>
        <p:nvSpPr>
          <p:cNvPr id="33" name="圆角矩形 32"/>
          <p:cNvSpPr/>
          <p:nvPr/>
        </p:nvSpPr>
        <p:spPr>
          <a:xfrm>
            <a:off x="2782990" y="10221459"/>
            <a:ext cx="3842525" cy="969552"/>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lnSpc>
                <a:spcPct val="150000"/>
              </a:lnSpc>
            </a:pP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cxnSp>
        <p:nvCxnSpPr>
          <p:cNvPr id="35" name="直线连接符 43"/>
          <p:cNvCxnSpPr/>
          <p:nvPr/>
        </p:nvCxnSpPr>
        <p:spPr>
          <a:xfrm>
            <a:off x="2970858" y="9587409"/>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符 45"/>
          <p:cNvCxnSpPr/>
          <p:nvPr/>
        </p:nvCxnSpPr>
        <p:spPr>
          <a:xfrm>
            <a:off x="2970859" y="10635692"/>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3"/>
          <p:cNvCxnSpPr/>
          <p:nvPr/>
        </p:nvCxnSpPr>
        <p:spPr>
          <a:xfrm>
            <a:off x="2970859" y="11811042"/>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2852979" y="7722229"/>
            <a:ext cx="3547996" cy="1815882"/>
          </a:xfrm>
          <a:prstGeom prst="rect">
            <a:avLst/>
          </a:prstGeom>
          <a:noFill/>
        </p:spPr>
        <p:txBody>
          <a:bodyPr wrap="square" rtlCol="0">
            <a:spAutoFit/>
          </a:bodyPr>
          <a:lstStyle/>
          <a:p>
            <a:pPr marL="0" lvl="2" algn="just"/>
            <a:r>
              <a:rPr lang="zh-CN" altLang="en-US"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t>
            </a:r>
            <a:r>
              <a:rPr lang="en-US" altLang="zh-CN"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6+1”</a:t>
            </a:r>
            <a:r>
              <a:rPr lang="zh-CN" altLang="en-US"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改革政策发布，政策倾斜科创企业</a:t>
            </a:r>
            <a:endParaRPr lang="en-US" altLang="zh-CN"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lgn="just"/>
            <a:r>
              <a:rPr lang="zh-CN" altLang="en-US"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科创板“</a:t>
            </a:r>
            <a:r>
              <a:rPr lang="en-US" altLang="zh-CN"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6+1”</a:t>
            </a:r>
            <a:r>
              <a:rPr lang="zh-CN" altLang="en-US"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改革提出在科创板设立成长层，并将科创板第五套标准适用范围扩面升级至人工智能、商业航天和低空经济等前沿领域。政策充分适应人工智能企业存在前期投入大、周期长、未来发展潜力大等特点，为优质人工智能企业在科创板申报上市提供发展机遇和强有力政策支撑。</a:t>
            </a:r>
            <a:endParaRPr lang="en-US" altLang="zh-CN"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44" name="文本框 43"/>
          <p:cNvSpPr txBox="1"/>
          <p:nvPr/>
        </p:nvSpPr>
        <p:spPr>
          <a:xfrm>
            <a:off x="2878945" y="10634704"/>
            <a:ext cx="3507885" cy="1169551"/>
          </a:xfrm>
          <a:prstGeom prst="rect">
            <a:avLst/>
          </a:prstGeom>
          <a:noFill/>
        </p:spPr>
        <p:txBody>
          <a:bodyPr wrap="square" rtlCol="0">
            <a:spAutoFit/>
          </a:bodyPr>
          <a:lstStyle/>
          <a:p>
            <a:pPr marL="0" lvl="2" algn="just"/>
            <a:r>
              <a:rPr lang="zh-CN" altLang="en-US"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逆全球化加剧，自主可控需求迫切</a:t>
            </a:r>
            <a:endParaRPr lang="en-US" altLang="zh-CN"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lgn="just"/>
            <a:r>
              <a:rPr lang="zh-CN" altLang="en-US"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科创板硬科技属性鲜明，主要聚焦于电子芯片、新兴软件和新型信息技术服务、生物医药产业、智能制造装备产业等，映射了当前中国先进制造业的崛起。</a:t>
            </a:r>
          </a:p>
        </p:txBody>
      </p:sp>
      <p:sp>
        <p:nvSpPr>
          <p:cNvPr id="45" name="文本框 44"/>
          <p:cNvSpPr txBox="1"/>
          <p:nvPr/>
        </p:nvSpPr>
        <p:spPr>
          <a:xfrm>
            <a:off x="2866032" y="9608215"/>
            <a:ext cx="3759484" cy="954107"/>
          </a:xfrm>
          <a:prstGeom prst="rect">
            <a:avLst/>
          </a:prstGeom>
          <a:noFill/>
        </p:spPr>
        <p:txBody>
          <a:bodyPr wrap="square" rtlCol="0">
            <a:spAutoFit/>
          </a:bodyPr>
          <a:lstStyle/>
          <a:p>
            <a:pPr marL="0" lvl="2" algn="just"/>
            <a:r>
              <a:rPr lang="zh-CN" altLang="en-US"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全球</a:t>
            </a:r>
            <a:r>
              <a:rPr lang="en-US" altLang="zh-CN"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AI</a:t>
            </a:r>
            <a:r>
              <a:rPr lang="zh-CN" altLang="en-US"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叙事远未结束，人工智能关注度提升</a:t>
            </a:r>
            <a:endParaRPr lang="en-US" altLang="zh-CN" sz="14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lgn="just"/>
            <a:r>
              <a:rPr lang="zh-CN" altLang="en-US"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科创板已汇聚超</a:t>
            </a:r>
            <a:r>
              <a:rPr lang="en-US" altLang="zh-CN"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40</a:t>
            </a:r>
            <a:r>
              <a:rPr lang="zh-CN" altLang="en-US"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家人工智能产业链核心企业，涵盖算力、算法、数据、场景应用等多个环节，其中深耕算法与场景应用的企业占据多数。</a:t>
            </a:r>
            <a:endParaRPr lang="en-US" altLang="zh-CN"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Tree>
    <p:extLst>
      <p:ext uri="{BB962C8B-B14F-4D97-AF65-F5344CB8AC3E}">
        <p14:creationId xmlns:p14="http://schemas.microsoft.com/office/powerpoint/2010/main" val="137859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721533" y="9815479"/>
            <a:ext cx="3712374" cy="830997"/>
          </a:xfrm>
          <a:prstGeom prst="rect">
            <a:avLst/>
          </a:prstGeom>
          <a:noFill/>
        </p:spPr>
        <p:txBody>
          <a:bodyPr wrap="square" rtlCol="0">
            <a:spAutoFit/>
          </a:bodyPr>
          <a:lstStyle/>
          <a:p>
            <a:pPr marL="0" lvl="2" algn="just"/>
            <a:r>
              <a:rPr lang="zh-CN" altLang="en-US" sz="1600" b="1" dirty="0">
                <a:solidFill>
                  <a:schemeClr val="tx1">
                    <a:lumMod val="75000"/>
                    <a:lumOff val="25000"/>
                  </a:schemeClr>
                </a:solidFill>
                <a:latin typeface="Cambria" panose="02040503050406030204" pitchFamily="18" charset="0"/>
                <a:ea typeface="楷体" panose="02010609060101010101" pitchFamily="49" charset="-122"/>
              </a:rPr>
              <a:t>大美丽法案延续宽财政：</a:t>
            </a: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endParaRPr>
          </a:p>
          <a:p>
            <a:pPr marL="0" lvl="2" algn="just"/>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减税等宽财政政策延续，对于美国经济形成较好支撑。</a:t>
            </a:r>
            <a:endParaRPr lang="en-US" altLang="zh-CN" sz="1600" dirty="0">
              <a:solidFill>
                <a:schemeClr val="tx1">
                  <a:lumMod val="75000"/>
                  <a:lumOff val="25000"/>
                </a:schemeClr>
              </a:solidFill>
              <a:latin typeface="Cambria" panose="02040503050406030204" pitchFamily="18" charset="0"/>
              <a:ea typeface="楷体" panose="02010609060101010101" pitchFamily="49" charset="-122"/>
            </a:endParaRPr>
          </a:p>
        </p:txBody>
      </p:sp>
      <p:pic>
        <p:nvPicPr>
          <p:cNvPr id="2" name="图片 1" descr="风向标头图"/>
          <p:cNvPicPr>
            <a:picLocks noChangeAspect="1"/>
          </p:cNvPicPr>
          <p:nvPr/>
        </p:nvPicPr>
        <p:blipFill>
          <a:blip r:embed="rId4"/>
          <a:stretch>
            <a:fillRect/>
          </a:stretch>
        </p:blipFill>
        <p:spPr>
          <a:xfrm>
            <a:off x="0" y="-635"/>
            <a:ext cx="6858000" cy="1920536"/>
          </a:xfrm>
          <a:prstGeom prst="rect">
            <a:avLst/>
          </a:prstGeom>
        </p:spPr>
      </p:pic>
      <p:sp>
        <p:nvSpPr>
          <p:cNvPr id="27" name="文本框 26"/>
          <p:cNvSpPr txBox="1"/>
          <p:nvPr/>
        </p:nvSpPr>
        <p:spPr>
          <a:xfrm>
            <a:off x="2721533" y="7175068"/>
            <a:ext cx="3632506" cy="830997"/>
          </a:xfrm>
          <a:prstGeom prst="rect">
            <a:avLst/>
          </a:prstGeom>
          <a:noFill/>
        </p:spPr>
        <p:txBody>
          <a:bodyPr wrap="square" rtlCol="0">
            <a:spAutoFit/>
          </a:bodyPr>
          <a:lstStyle/>
          <a:p>
            <a:pPr algn="just"/>
            <a:r>
              <a:rPr lang="zh-CN" altLang="en-US" sz="1600" b="1" dirty="0">
                <a:solidFill>
                  <a:schemeClr val="tx1">
                    <a:lumMod val="75000"/>
                    <a:lumOff val="25000"/>
                  </a:schemeClr>
                </a:solidFill>
                <a:latin typeface="Cambria" panose="02040503050406030204" pitchFamily="18" charset="0"/>
                <a:ea typeface="楷体" panose="02010609060101010101" pitchFamily="49" charset="-122"/>
              </a:rPr>
              <a:t>美联储降息会有延后但并未逆转：</a:t>
            </a: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endParaRPr>
          </a:p>
          <a:p>
            <a:pPr algn="just"/>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市场逐渐开始发酵加息预期，但我们认为美联储不具备加息条件。</a:t>
            </a:r>
          </a:p>
        </p:txBody>
      </p:sp>
      <p:sp>
        <p:nvSpPr>
          <p:cNvPr id="10" name="矩形 9"/>
          <p:cNvSpPr/>
          <p:nvPr/>
        </p:nvSpPr>
        <p:spPr>
          <a:xfrm>
            <a:off x="332589" y="2311467"/>
            <a:ext cx="3379520" cy="4221669"/>
          </a:xfrm>
          <a:prstGeom prst="rect">
            <a:avLst/>
          </a:prstGeom>
          <a:noFill/>
        </p:spPr>
        <p:txBody>
          <a:bodyPr wrap="square">
            <a:spAutoFit/>
          </a:bodyPr>
          <a:lstStyle/>
          <a:p>
            <a:pPr indent="457200" algn="just">
              <a:lnSpc>
                <a:spcPts val="2300"/>
              </a:lnSpc>
            </a:pPr>
            <a:r>
              <a:rPr lang="zh-CN" altLang="en-US" dirty="0">
                <a:latin typeface="楷体" panose="02010609060101010101" pitchFamily="49" charset="-122"/>
                <a:ea typeface="楷体" panose="02010609060101010101" pitchFamily="49" charset="-122"/>
              </a:rPr>
              <a:t>纳斯达克</a:t>
            </a:r>
            <a:r>
              <a:rPr lang="en-US" altLang="zh-CN" dirty="0">
                <a:latin typeface="楷体" panose="02010609060101010101" pitchFamily="49" charset="-122"/>
                <a:ea typeface="楷体" panose="02010609060101010101" pitchFamily="49" charset="-122"/>
              </a:rPr>
              <a:t>100</a:t>
            </a:r>
            <a:r>
              <a:rPr lang="zh-CN" altLang="en-US" dirty="0">
                <a:latin typeface="楷体" panose="02010609060101010101" pitchFamily="49" charset="-122"/>
                <a:ea typeface="楷体" panose="02010609060101010101" pitchFamily="49" charset="-122"/>
              </a:rPr>
              <a:t>指数</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月累计下跌</a:t>
            </a:r>
            <a:r>
              <a:rPr lang="en-US" altLang="zh-CN" dirty="0">
                <a:latin typeface="楷体" panose="02010609060101010101" pitchFamily="49" charset="-122"/>
                <a:ea typeface="楷体" panose="02010609060101010101" pitchFamily="49" charset="-122"/>
              </a:rPr>
              <a:t>4.89%</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indent="457200" algn="just">
              <a:lnSpc>
                <a:spcPts val="2300"/>
              </a:lnSpc>
            </a:pPr>
            <a:r>
              <a:rPr lang="zh-CN" altLang="en-US" dirty="0">
                <a:latin typeface="楷体" panose="02010609060101010101" pitchFamily="49" charset="-122"/>
                <a:ea typeface="楷体" panose="02010609060101010101" pitchFamily="49" charset="-122"/>
              </a:rPr>
              <a:t>纳斯达克</a:t>
            </a:r>
            <a:r>
              <a:rPr lang="en-US" altLang="zh-CN" dirty="0">
                <a:latin typeface="楷体" panose="02010609060101010101" pitchFamily="49" charset="-122"/>
                <a:ea typeface="楷体" panose="02010609060101010101" pitchFamily="49" charset="-122"/>
              </a:rPr>
              <a:t>100</a:t>
            </a:r>
            <a:r>
              <a:rPr lang="zh-CN" altLang="en-US" dirty="0">
                <a:latin typeface="楷体" panose="02010609060101010101" pitchFamily="49" charset="-122"/>
                <a:ea typeface="楷体" panose="02010609060101010101" pitchFamily="49" charset="-122"/>
              </a:rPr>
              <a:t>指数</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月回调主要受中东局势扰动。伊朗战事持续升级，市场担忧霍尔木兹海峡运输受阻，油价一度站上每桶</a:t>
            </a:r>
            <a:r>
              <a:rPr lang="en-US" altLang="zh-CN" dirty="0">
                <a:latin typeface="楷体" panose="02010609060101010101" pitchFamily="49" charset="-122"/>
                <a:ea typeface="楷体" panose="02010609060101010101" pitchFamily="49" charset="-122"/>
              </a:rPr>
              <a:t>100</a:t>
            </a:r>
            <a:r>
              <a:rPr lang="zh-CN" altLang="en-US" dirty="0">
                <a:latin typeface="楷体" panose="02010609060101010101" pitchFamily="49" charset="-122"/>
                <a:ea typeface="楷体" panose="02010609060101010101" pitchFamily="49" charset="-122"/>
              </a:rPr>
              <a:t>美元上方。油价飙升加剧了通胀担忧，同时打击了科技股的风险偏好。</a:t>
            </a:r>
            <a:endParaRPr lang="en-US" altLang="zh-CN" dirty="0">
              <a:latin typeface="楷体" panose="02010609060101010101" pitchFamily="49" charset="-122"/>
              <a:ea typeface="楷体" panose="02010609060101010101" pitchFamily="49" charset="-122"/>
            </a:endParaRPr>
          </a:p>
          <a:p>
            <a:pPr indent="457200" algn="just">
              <a:lnSpc>
                <a:spcPts val="2300"/>
              </a:lnSpc>
            </a:pPr>
            <a:r>
              <a:rPr lang="zh-CN" altLang="en-US" dirty="0">
                <a:latin typeface="楷体" panose="02010609060101010101" pitchFamily="49" charset="-122"/>
                <a:ea typeface="楷体" panose="02010609060101010101" pitchFamily="49" charset="-122"/>
              </a:rPr>
              <a:t>中长期看，</a:t>
            </a:r>
            <a:r>
              <a:rPr lang="en-US" altLang="zh-CN" dirty="0">
                <a:latin typeface="楷体" panose="02010609060101010101" pitchFamily="49" charset="-122"/>
                <a:ea typeface="楷体" panose="02010609060101010101" pitchFamily="49" charset="-122"/>
              </a:rPr>
              <a:t>AI</a:t>
            </a:r>
            <a:r>
              <a:rPr lang="zh-CN" altLang="en-US" dirty="0">
                <a:latin typeface="楷体" panose="02010609060101010101" pitchFamily="49" charset="-122"/>
                <a:ea typeface="楷体" panose="02010609060101010101" pitchFamily="49" charset="-122"/>
              </a:rPr>
              <a:t>商业化浪潮下科技巨头的业绩仍是决定纳指长期收益的重要因素，我们认为</a:t>
            </a:r>
            <a:r>
              <a:rPr lang="en-US" altLang="zh-CN" dirty="0">
                <a:latin typeface="楷体" panose="02010609060101010101" pitchFamily="49" charset="-122"/>
                <a:ea typeface="楷体" panose="02010609060101010101" pitchFamily="49" charset="-122"/>
              </a:rPr>
              <a:t>AI</a:t>
            </a:r>
            <a:r>
              <a:rPr lang="zh-CN" altLang="en-US" dirty="0">
                <a:latin typeface="楷体" panose="02010609060101010101" pitchFamily="49" charset="-122"/>
                <a:ea typeface="楷体" panose="02010609060101010101" pitchFamily="49" charset="-122"/>
              </a:rPr>
              <a:t>行业发展仍处于星辰大海的早期，泡沫破裂担忧尚早。</a:t>
            </a:r>
          </a:p>
        </p:txBody>
      </p:sp>
      <p:sp>
        <p:nvSpPr>
          <p:cNvPr id="12" name="矩形 11"/>
          <p:cNvSpPr/>
          <p:nvPr/>
        </p:nvSpPr>
        <p:spPr>
          <a:xfrm>
            <a:off x="4119245" y="2602641"/>
            <a:ext cx="2738755"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84</a:t>
            </a:r>
          </a:p>
        </p:txBody>
      </p:sp>
      <p:sp>
        <p:nvSpPr>
          <p:cNvPr id="88" name="矩形 87"/>
          <p:cNvSpPr/>
          <p:nvPr/>
        </p:nvSpPr>
        <p:spPr>
          <a:xfrm>
            <a:off x="2546252" y="6583552"/>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45231" y="6808942"/>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81286" y="6808942"/>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4022690" y="3477107"/>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cxnSp>
        <p:nvCxnSpPr>
          <p:cNvPr id="34" name="直线连接符 43"/>
          <p:cNvCxnSpPr/>
          <p:nvPr/>
        </p:nvCxnSpPr>
        <p:spPr>
          <a:xfrm>
            <a:off x="2822418" y="8310335"/>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822418" y="9779916"/>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22418" y="11144607"/>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29590" y="302260"/>
            <a:ext cx="5408295" cy="1077218"/>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纳斯达克</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uFillTx/>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pPr>
              <a:lnSpc>
                <a:spcPct val="100000"/>
              </a:lnSpc>
            </a:pPr>
            <a:r>
              <a:rPr lang="en-US" altLang="zh-CN" sz="3200" b="1" spc="450" dirty="0">
                <a:solidFill>
                  <a:schemeClr val="bg1"/>
                </a:solidFill>
                <a:uFillTx/>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159632</a:t>
            </a:r>
          </a:p>
        </p:txBody>
      </p:sp>
      <p:sp>
        <p:nvSpPr>
          <p:cNvPr id="23" name="矩形 22"/>
          <p:cNvSpPr/>
          <p:nvPr/>
        </p:nvSpPr>
        <p:spPr>
          <a:xfrm flipH="1">
            <a:off x="318770" y="438150"/>
            <a:ext cx="86360" cy="805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pic>
        <p:nvPicPr>
          <p:cNvPr id="36" name="图片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6206" y="7402174"/>
            <a:ext cx="2239307" cy="3844655"/>
          </a:xfrm>
          <a:prstGeom prst="rect">
            <a:avLst/>
          </a:prstGeom>
        </p:spPr>
      </p:pic>
      <p:sp>
        <p:nvSpPr>
          <p:cNvPr id="21" name="文本框 20"/>
          <p:cNvSpPr txBox="1"/>
          <p:nvPr/>
        </p:nvSpPr>
        <p:spPr>
          <a:xfrm>
            <a:off x="529590" y="1443645"/>
            <a:ext cx="5053330" cy="50355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040046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014978</a:t>
            </a:r>
          </a:p>
        </p:txBody>
      </p:sp>
      <p:pic>
        <p:nvPicPr>
          <p:cNvPr id="3" name="图片 2" descr="资源 1"/>
          <p:cNvPicPr>
            <a:picLocks noChangeAspect="1"/>
          </p:cNvPicPr>
          <p:nvPr>
            <p:custDataLst>
              <p:tags r:id="rId1"/>
            </p:custDataLst>
          </p:nvPr>
        </p:nvPicPr>
        <p:blipFill>
          <a:blip r:embed="rId6"/>
          <a:stretch>
            <a:fillRect/>
          </a:stretch>
        </p:blipFill>
        <p:spPr>
          <a:xfrm>
            <a:off x="4674870" y="179070"/>
            <a:ext cx="1711960" cy="438150"/>
          </a:xfrm>
          <a:prstGeom prst="rect">
            <a:avLst/>
          </a:prstGeom>
        </p:spPr>
      </p:pic>
      <p:graphicFrame>
        <p:nvGraphicFramePr>
          <p:cNvPr id="29" name="图表 28"/>
          <p:cNvGraphicFramePr/>
          <p:nvPr/>
        </p:nvGraphicFramePr>
        <p:xfrm>
          <a:off x="3927796" y="3281493"/>
          <a:ext cx="2739574" cy="2840672"/>
        </p:xfrm>
        <a:graphic>
          <a:graphicData uri="http://schemas.openxmlformats.org/drawingml/2006/chart">
            <c:chart xmlns:c="http://schemas.openxmlformats.org/drawingml/2006/chart" xmlns:r="http://schemas.openxmlformats.org/officeDocument/2006/relationships" r:id="rId7"/>
          </a:graphicData>
        </a:graphic>
      </p:graphicFrame>
      <p:sp>
        <p:nvSpPr>
          <p:cNvPr id="28" name="文本框 27"/>
          <p:cNvSpPr txBox="1"/>
          <p:nvPr/>
        </p:nvSpPr>
        <p:spPr>
          <a:xfrm>
            <a:off x="2721533" y="8397631"/>
            <a:ext cx="3712374" cy="1323439"/>
          </a:xfrm>
          <a:prstGeom prst="rect">
            <a:avLst/>
          </a:prstGeom>
          <a:noFill/>
        </p:spPr>
        <p:txBody>
          <a:bodyPr wrap="square" rtlCol="0">
            <a:spAutoFit/>
          </a:bodyPr>
          <a:lstStyle/>
          <a:p>
            <a:pPr marL="0" lvl="2" algn="just"/>
            <a:r>
              <a:rPr lang="en-US" altLang="zh-CN" sz="1600" b="1" dirty="0">
                <a:solidFill>
                  <a:schemeClr val="tx1">
                    <a:lumMod val="75000"/>
                    <a:lumOff val="25000"/>
                  </a:schemeClr>
                </a:solidFill>
                <a:latin typeface="Cambria" panose="02040503050406030204" pitchFamily="18" charset="0"/>
                <a:ea typeface="楷体" panose="02010609060101010101" pitchFamily="49" charset="-122"/>
              </a:rPr>
              <a:t>AI</a:t>
            </a:r>
            <a:r>
              <a:rPr lang="zh-CN" altLang="en-US" sz="1600" b="1" dirty="0">
                <a:solidFill>
                  <a:schemeClr val="tx1">
                    <a:lumMod val="75000"/>
                    <a:lumOff val="25000"/>
                  </a:schemeClr>
                </a:solidFill>
                <a:latin typeface="Cambria" panose="02040503050406030204" pitchFamily="18" charset="0"/>
                <a:ea typeface="楷体" panose="02010609060101010101" pitchFamily="49" charset="-122"/>
              </a:rPr>
              <a:t>技术持续突破，美股科技龙头受益：</a:t>
            </a: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endParaRPr>
          </a:p>
          <a:p>
            <a:pPr marL="0" lvl="2" algn="just"/>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美股科技巨头持续加码</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AI</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资本开支，奠定未来增长潜力。大模型定价下降带动</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AI</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应用的成本降低，有望加速</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AI</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应用发展。</a:t>
            </a:r>
          </a:p>
        </p:txBody>
      </p:sp>
    </p:spTree>
    <p:extLst>
      <p:ext uri="{BB962C8B-B14F-4D97-AF65-F5344CB8AC3E}">
        <p14:creationId xmlns:p14="http://schemas.microsoft.com/office/powerpoint/2010/main" val="1569454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26206" y="2016212"/>
            <a:ext cx="3325730" cy="4878259"/>
          </a:xfrm>
          <a:prstGeom prst="rect">
            <a:avLst/>
          </a:prstGeom>
          <a:noFill/>
        </p:spPr>
        <p:txBody>
          <a:bodyPr wrap="square">
            <a:spAutoFit/>
          </a:bodyPr>
          <a:lstStyle/>
          <a:p>
            <a:pPr indent="457200" algn="just">
              <a:spcAft>
                <a:spcPts val="600"/>
              </a:spcAft>
            </a:pPr>
            <a:r>
              <a:rPr lang="en-US" altLang="zh-CN" dirty="0">
                <a:latin typeface="楷体" panose="02010609060101010101" pitchFamily="49" charset="-122"/>
                <a:ea typeface="楷体" panose="02010609060101010101" pitchFamily="49" charset="-122"/>
                <a:sym typeface="Cambria" panose="02040503050406030204" pitchFamily="18" charset="0"/>
              </a:rPr>
              <a:t>2026</a:t>
            </a:r>
            <a:r>
              <a:rPr lang="zh-CN" altLang="en-US" dirty="0">
                <a:latin typeface="楷体" panose="02010609060101010101" pitchFamily="49" charset="-122"/>
                <a:ea typeface="楷体" panose="02010609060101010101" pitchFamily="49" charset="-122"/>
                <a:sym typeface="Cambria" panose="02040503050406030204" pitchFamily="18" charset="0"/>
              </a:rPr>
              <a:t>年</a:t>
            </a:r>
            <a:r>
              <a:rPr lang="en-US" altLang="zh-CN" dirty="0">
                <a:latin typeface="楷体" panose="02010609060101010101" pitchFamily="49" charset="-122"/>
                <a:ea typeface="楷体" panose="02010609060101010101" pitchFamily="49" charset="-122"/>
                <a:sym typeface="Cambria" panose="02040503050406030204" pitchFamily="18" charset="0"/>
              </a:rPr>
              <a:t>2</a:t>
            </a:r>
            <a:r>
              <a:rPr lang="zh-CN" altLang="en-US" dirty="0">
                <a:latin typeface="楷体" panose="02010609060101010101" pitchFamily="49" charset="-122"/>
                <a:ea typeface="楷体" panose="02010609060101010101" pitchFamily="49" charset="-122"/>
                <a:sym typeface="Cambria" panose="02040503050406030204" pitchFamily="18" charset="0"/>
              </a:rPr>
              <a:t>月港股市场整体表现相较于</a:t>
            </a:r>
            <a:r>
              <a:rPr lang="en-US" altLang="zh-CN" dirty="0">
                <a:latin typeface="楷体" panose="02010609060101010101" pitchFamily="49" charset="-122"/>
                <a:ea typeface="楷体" panose="02010609060101010101" pitchFamily="49" charset="-122"/>
                <a:sym typeface="Cambria" panose="02040503050406030204" pitchFamily="18" charset="0"/>
              </a:rPr>
              <a:t>A</a:t>
            </a:r>
            <a:r>
              <a:rPr lang="zh-CN" altLang="en-US" dirty="0">
                <a:latin typeface="楷体" panose="02010609060101010101" pitchFamily="49" charset="-122"/>
                <a:ea typeface="楷体" panose="02010609060101010101" pitchFamily="49" charset="-122"/>
                <a:sym typeface="Cambria" panose="02040503050406030204" pitchFamily="18" charset="0"/>
              </a:rPr>
              <a:t>股、美股均较弱，指数整体呈现震荡下行格局。恒生指数下跌</a:t>
            </a:r>
            <a:r>
              <a:rPr lang="en-US" altLang="zh-CN" dirty="0">
                <a:latin typeface="楷体" panose="02010609060101010101" pitchFamily="49" charset="-122"/>
                <a:ea typeface="楷体" panose="02010609060101010101" pitchFamily="49" charset="-122"/>
                <a:sym typeface="Cambria" panose="02040503050406030204" pitchFamily="18" charset="0"/>
              </a:rPr>
              <a:t>2.76%</a:t>
            </a:r>
            <a:r>
              <a:rPr lang="zh-CN" altLang="en-US" dirty="0">
                <a:latin typeface="楷体" panose="02010609060101010101" pitchFamily="49" charset="-122"/>
                <a:ea typeface="楷体" panose="02010609060101010101" pitchFamily="49" charset="-122"/>
                <a:sym typeface="Cambria" panose="02040503050406030204" pitchFamily="18" charset="0"/>
              </a:rPr>
              <a:t>，恒生科技指数下跌</a:t>
            </a:r>
            <a:r>
              <a:rPr lang="en-US" altLang="zh-CN" dirty="0">
                <a:latin typeface="楷体" panose="02010609060101010101" pitchFamily="49" charset="-122"/>
                <a:ea typeface="楷体" panose="02010609060101010101" pitchFamily="49" charset="-122"/>
                <a:sym typeface="Cambria" panose="02040503050406030204" pitchFamily="18" charset="0"/>
              </a:rPr>
              <a:t>10.15%</a:t>
            </a:r>
            <a:r>
              <a:rPr lang="zh-CN" altLang="en-US" dirty="0">
                <a:latin typeface="楷体" panose="02010609060101010101" pitchFamily="49" charset="-122"/>
                <a:ea typeface="楷体" panose="02010609060101010101" pitchFamily="49" charset="-122"/>
                <a:sym typeface="Cambria" panose="02040503050406030204" pitchFamily="18" charset="0"/>
              </a:rPr>
              <a:t>，恒生互联网指数下跌</a:t>
            </a:r>
            <a:r>
              <a:rPr lang="en-US" altLang="zh-CN" dirty="0">
                <a:latin typeface="楷体" panose="02010609060101010101" pitchFamily="49" charset="-122"/>
                <a:ea typeface="楷体" panose="02010609060101010101" pitchFamily="49" charset="-122"/>
                <a:sym typeface="Cambria" panose="02040503050406030204" pitchFamily="18" charset="0"/>
              </a:rPr>
              <a:t>12.63%</a:t>
            </a:r>
            <a:r>
              <a:rPr lang="zh-CN" altLang="en-US" dirty="0">
                <a:latin typeface="楷体" panose="02010609060101010101" pitchFamily="49" charset="-122"/>
                <a:ea typeface="楷体" panose="02010609060101010101" pitchFamily="49" charset="-122"/>
                <a:sym typeface="Cambria" panose="02040503050406030204" pitchFamily="18" charset="0"/>
              </a:rPr>
              <a:t>，恒生港股通科技主题指数下跌</a:t>
            </a:r>
            <a:r>
              <a:rPr lang="en-US" altLang="zh-CN" dirty="0">
                <a:latin typeface="楷体" panose="02010609060101010101" pitchFamily="49" charset="-122"/>
                <a:ea typeface="楷体" panose="02010609060101010101" pitchFamily="49" charset="-122"/>
                <a:sym typeface="Cambria" panose="02040503050406030204" pitchFamily="18" charset="0"/>
              </a:rPr>
              <a:t>10.67%</a:t>
            </a:r>
            <a:r>
              <a:rPr lang="zh-CN" altLang="en-US" dirty="0">
                <a:latin typeface="楷体" panose="02010609060101010101" pitchFamily="49" charset="-122"/>
                <a:ea typeface="楷体" panose="02010609060101010101" pitchFamily="49" charset="-122"/>
                <a:sym typeface="Cambria" panose="02040503050406030204" pitchFamily="18" charset="0"/>
              </a:rPr>
              <a:t>。影响港股科技板块二月表现的核心因素包括流动性引发的风险偏好下行以及市场对“</a:t>
            </a:r>
            <a:r>
              <a:rPr lang="en-US" altLang="zh-CN" dirty="0">
                <a:latin typeface="楷体" panose="02010609060101010101" pitchFamily="49" charset="-122"/>
                <a:ea typeface="楷体" panose="02010609060101010101" pitchFamily="49" charset="-122"/>
                <a:sym typeface="Cambria" panose="02040503050406030204" pitchFamily="18" charset="0"/>
              </a:rPr>
              <a:t>AI</a:t>
            </a:r>
            <a:r>
              <a:rPr lang="zh-CN" altLang="en-US" dirty="0">
                <a:latin typeface="楷体" panose="02010609060101010101" pitchFamily="49" charset="-122"/>
                <a:ea typeface="楷体" panose="02010609060101010101" pitchFamily="49" charset="-122"/>
                <a:sym typeface="Cambria" panose="02040503050406030204" pitchFamily="18" charset="0"/>
              </a:rPr>
              <a:t>颠覆一切”下互联网大厂的担忧。</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indent="457200" algn="just">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中长期来看，</a:t>
            </a:r>
            <a:r>
              <a:rPr lang="en-US" altLang="zh-CN" dirty="0">
                <a:latin typeface="楷体" panose="02010609060101010101" pitchFamily="49" charset="-122"/>
                <a:ea typeface="楷体" panose="02010609060101010101" pitchFamily="49" charset="-122"/>
                <a:sym typeface="Cambria" panose="02040503050406030204" pitchFamily="18" charset="0"/>
              </a:rPr>
              <a:t>AI</a:t>
            </a:r>
            <a:r>
              <a:rPr lang="zh-CN" altLang="en-US" dirty="0">
                <a:latin typeface="楷体" panose="02010609060101010101" pitchFamily="49" charset="-122"/>
                <a:ea typeface="楷体" panose="02010609060101010101" pitchFamily="49" charset="-122"/>
                <a:sym typeface="Cambria" panose="02040503050406030204" pitchFamily="18" charset="0"/>
              </a:rPr>
              <a:t>趋势仍在演绎，港股科技企业正逐步将</a:t>
            </a:r>
            <a:r>
              <a:rPr lang="en-US" altLang="zh-CN" dirty="0">
                <a:latin typeface="楷体" panose="02010609060101010101" pitchFamily="49" charset="-122"/>
                <a:ea typeface="楷体" panose="02010609060101010101" pitchFamily="49" charset="-122"/>
                <a:sym typeface="Cambria" panose="02040503050406030204" pitchFamily="18" charset="0"/>
              </a:rPr>
              <a:t>AI</a:t>
            </a:r>
            <a:r>
              <a:rPr lang="zh-CN" altLang="en-US" dirty="0">
                <a:latin typeface="楷体" panose="02010609060101010101" pitchFamily="49" charset="-122"/>
                <a:ea typeface="楷体" panose="02010609060101010101" pitchFamily="49" charset="-122"/>
                <a:sym typeface="Cambria" panose="02040503050406030204" pitchFamily="18" charset="0"/>
              </a:rPr>
              <a:t>能力嵌入日常生活场景，强化用户粘性及商业价值，港股科技企业估值低位配置价值较高。</a:t>
            </a:r>
          </a:p>
        </p:txBody>
      </p:sp>
      <p:sp>
        <p:nvSpPr>
          <p:cNvPr id="12" name="矩形 11"/>
          <p:cNvSpPr/>
          <p:nvPr/>
        </p:nvSpPr>
        <p:spPr>
          <a:xfrm>
            <a:off x="4159316" y="2693786"/>
            <a:ext cx="3370637"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93</a:t>
            </a:r>
          </a:p>
        </p:txBody>
      </p:sp>
      <p:sp>
        <p:nvSpPr>
          <p:cNvPr id="88" name="矩形 87"/>
          <p:cNvSpPr/>
          <p:nvPr/>
        </p:nvSpPr>
        <p:spPr>
          <a:xfrm>
            <a:off x="2522528" y="7111759"/>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69993" y="7347929"/>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68000" y="7347929"/>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4039961" y="3749008"/>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1"/>
          </a:p>
        </p:txBody>
      </p:sp>
      <p:sp>
        <p:nvSpPr>
          <p:cNvPr id="29" name="圆角矩形 28"/>
          <p:cNvSpPr/>
          <p:nvPr/>
        </p:nvSpPr>
        <p:spPr>
          <a:xfrm>
            <a:off x="2627431" y="9179275"/>
            <a:ext cx="3887430" cy="921493"/>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indent="-457200" algn="just"/>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美联储后续降息的大方向未变，港股市场的流动性环境仍将保持宽松。</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2</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月通过各类港股科技</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ETF</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流入港股科技板块资金预计超百亿。</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33" name="圆角矩形 32"/>
          <p:cNvSpPr/>
          <p:nvPr/>
        </p:nvSpPr>
        <p:spPr>
          <a:xfrm>
            <a:off x="2680986" y="10331251"/>
            <a:ext cx="3833877" cy="761550"/>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indent="-457200" algn="just"/>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恒生科技、恒生互联网、港科技估值处于阶段性低位，</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PE-TTM</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均在</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20-21</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倍左右，后续有望抬升。</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cxnSp>
        <p:nvCxnSpPr>
          <p:cNvPr id="34" name="直线连接符 43"/>
          <p:cNvCxnSpPr/>
          <p:nvPr/>
        </p:nvCxnSpPr>
        <p:spPr>
          <a:xfrm>
            <a:off x="2836905" y="9036731"/>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836905" y="10231067"/>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62705" y="11271396"/>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6" name="图表 25"/>
          <p:cNvGraphicFramePr>
            <a:graphicFrameLocks/>
          </p:cNvGraphicFramePr>
          <p:nvPr/>
        </p:nvGraphicFramePr>
        <p:xfrm>
          <a:off x="4022690" y="3606913"/>
          <a:ext cx="2739574" cy="2838991"/>
        </p:xfrm>
        <a:graphic>
          <a:graphicData uri="http://schemas.openxmlformats.org/drawingml/2006/chart">
            <c:chart xmlns:c="http://schemas.openxmlformats.org/drawingml/2006/chart" xmlns:r="http://schemas.openxmlformats.org/officeDocument/2006/relationships" r:id="rId4"/>
          </a:graphicData>
        </a:graphic>
      </p:graphicFrame>
      <p:pic>
        <p:nvPicPr>
          <p:cNvPr id="27" name="图片 26" descr="风向标头图">
            <a:extLst>
              <a:ext uri="{FF2B5EF4-FFF2-40B4-BE49-F238E27FC236}">
                <a16:creationId xmlns:a16="http://schemas.microsoft.com/office/drawing/2014/main" id="{F814B1F6-6463-F6BF-F21B-1AA6C271D444}"/>
              </a:ext>
            </a:extLst>
          </p:cNvPr>
          <p:cNvPicPr>
            <a:picLocks noChangeAspect="1"/>
          </p:cNvPicPr>
          <p:nvPr/>
        </p:nvPicPr>
        <p:blipFill>
          <a:blip r:embed="rId5"/>
          <a:stretch>
            <a:fillRect/>
          </a:stretch>
        </p:blipFill>
        <p:spPr>
          <a:xfrm>
            <a:off x="0" y="-635"/>
            <a:ext cx="6858000" cy="1920536"/>
          </a:xfrm>
          <a:prstGeom prst="rect">
            <a:avLst/>
          </a:prstGeom>
        </p:spPr>
      </p:pic>
      <p:sp>
        <p:nvSpPr>
          <p:cNvPr id="35" name="文本框 34"/>
          <p:cNvSpPr txBox="1"/>
          <p:nvPr/>
        </p:nvSpPr>
        <p:spPr>
          <a:xfrm>
            <a:off x="447422" y="405216"/>
            <a:ext cx="5596916" cy="954107"/>
          </a:xfrm>
          <a:prstGeom prst="rect">
            <a:avLst/>
          </a:prstGeom>
          <a:noFill/>
        </p:spPr>
        <p:txBody>
          <a:bodyPr wrap="square" rtlCol="0">
            <a:spAutoFit/>
          </a:bodyPr>
          <a:lstStyle/>
          <a:p>
            <a:pPr>
              <a:lnSpc>
                <a:spcPct val="100000"/>
              </a:lnSpc>
            </a:pPr>
            <a:r>
              <a:rPr lang="zh-CN" altLang="en-US"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恒生科技</a:t>
            </a:r>
            <a:r>
              <a:rPr lang="en-US" altLang="zh-CN"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a:t>
            </a:r>
            <a:r>
              <a:rPr lang="zh-CN" altLang="en-US"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互联网</a:t>
            </a:r>
            <a:r>
              <a:rPr lang="en-US" altLang="zh-CN"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a:t>
            </a:r>
            <a:r>
              <a:rPr lang="zh-CN" altLang="en-US"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港科技</a:t>
            </a:r>
            <a:endParaRPr lang="en-US" altLang="zh-CN"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pPr>
              <a:lnSpc>
                <a:spcPct val="100000"/>
              </a:lnSpc>
            </a:pPr>
            <a:r>
              <a:rPr lang="en-US" altLang="zh-CN"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513580/159688/520840</a:t>
            </a:r>
            <a:endParaRPr lang="zh-CN" altLang="en-US"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p:txBody>
      </p:sp>
      <p:sp>
        <p:nvSpPr>
          <p:cNvPr id="36" name="矩形 35"/>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37" name="文本框 36">
            <a:extLst>
              <a:ext uri="{FF2B5EF4-FFF2-40B4-BE49-F238E27FC236}">
                <a16:creationId xmlns:a16="http://schemas.microsoft.com/office/drawing/2014/main" id="{D68F2A93-3CE5-7F53-49C1-205DA4C1558C}"/>
              </a:ext>
            </a:extLst>
          </p:cNvPr>
          <p:cNvSpPr txBox="1"/>
          <p:nvPr/>
        </p:nvSpPr>
        <p:spPr>
          <a:xfrm>
            <a:off x="447422" y="1435990"/>
            <a:ext cx="6142325" cy="503555"/>
          </a:xfrm>
          <a:prstGeom prst="rect">
            <a:avLst/>
          </a:prstGeom>
          <a:noFill/>
        </p:spPr>
        <p:txBody>
          <a:bodyPr wrap="square" rtlCol="0">
            <a:noAutofit/>
          </a:bodyPr>
          <a:lstStyle/>
          <a:p>
            <a:r>
              <a:rPr lang="zh-CN" altLang="en-US" sz="1600"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sz="1600"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sz="1600"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sz="1600"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015282/ 019936/025734  </a:t>
            </a:r>
            <a:r>
              <a:rPr lang="zh-CN" altLang="en-US" sz="1600"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sz="1600"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sz="1600"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sz="1600"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015283/019937/025735</a:t>
            </a:r>
          </a:p>
        </p:txBody>
      </p:sp>
      <p:pic>
        <p:nvPicPr>
          <p:cNvPr id="38" name="图片 37" descr="资源 1">
            <a:extLst>
              <a:ext uri="{FF2B5EF4-FFF2-40B4-BE49-F238E27FC236}">
                <a16:creationId xmlns:a16="http://schemas.microsoft.com/office/drawing/2014/main" id="{4922A052-BF2C-4DAE-6CA2-BFAF37177C04}"/>
              </a:ext>
            </a:extLst>
          </p:cNvPr>
          <p:cNvPicPr>
            <a:picLocks noChangeAspect="1"/>
          </p:cNvPicPr>
          <p:nvPr>
            <p:custDataLst>
              <p:tags r:id="rId1"/>
            </p:custDataLst>
          </p:nvPr>
        </p:nvPicPr>
        <p:blipFill>
          <a:blip r:embed="rId6"/>
          <a:stretch>
            <a:fillRect/>
          </a:stretch>
        </p:blipFill>
        <p:spPr>
          <a:xfrm>
            <a:off x="5050304" y="95815"/>
            <a:ext cx="1711960" cy="438150"/>
          </a:xfrm>
          <a:prstGeom prst="rect">
            <a:avLst/>
          </a:prstGeom>
        </p:spPr>
      </p:pic>
      <p:sp>
        <p:nvSpPr>
          <p:cNvPr id="24" name="圆角矩形 23"/>
          <p:cNvSpPr/>
          <p:nvPr/>
        </p:nvSpPr>
        <p:spPr>
          <a:xfrm>
            <a:off x="2680984" y="7826026"/>
            <a:ext cx="3833877" cy="921493"/>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indent="-457200" algn="just"/>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科技符合政策长期方向，港股科技互联网行业或将长期受益，</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AI</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产业虽有短期波动，但产业仍维持高景气度，算例需求的持续增长，商业化场景加速落地趋势明确。</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pic>
        <p:nvPicPr>
          <p:cNvPr id="23" name="图片 22"/>
          <p:cNvPicPr>
            <a:picLocks noChangeAspect="1"/>
          </p:cNvPicPr>
          <p:nvPr/>
        </p:nvPicPr>
        <p:blipFill>
          <a:blip r:embed="rId7" cstate="print">
            <a:extLst>
              <a:ext uri="{BEBA8EAE-BF5A-486C-A8C5-ECC9F3942E4B}">
                <a14:imgProps xmlns:a14="http://schemas.microsoft.com/office/drawing/2010/main">
                  <a14:imgLayer r:embed="rId8">
                    <a14:imgEffect>
                      <a14:saturation sat="66000"/>
                    </a14:imgEffect>
                  </a14:imgLayer>
                </a14:imgProps>
              </a:ext>
              <a:ext uri="{28A0092B-C50C-407E-A947-70E740481C1C}">
                <a14:useLocalDpi xmlns:a14="http://schemas.microsoft.com/office/drawing/2010/main" val="0"/>
              </a:ext>
            </a:extLst>
          </a:blip>
          <a:stretch>
            <a:fillRect/>
          </a:stretch>
        </p:blipFill>
        <p:spPr>
          <a:xfrm>
            <a:off x="326206" y="7579781"/>
            <a:ext cx="2239307" cy="3844655"/>
          </a:xfrm>
          <a:prstGeom prst="rect">
            <a:avLst/>
          </a:prstGeom>
        </p:spPr>
      </p:pic>
    </p:spTree>
    <p:extLst>
      <p:ext uri="{BB962C8B-B14F-4D97-AF65-F5344CB8AC3E}">
        <p14:creationId xmlns:p14="http://schemas.microsoft.com/office/powerpoint/2010/main" val="3994238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30954" y="2052610"/>
            <a:ext cx="3458769" cy="5016758"/>
          </a:xfrm>
          <a:prstGeom prst="rect">
            <a:avLst/>
          </a:prstGeom>
          <a:noFill/>
        </p:spPr>
        <p:txBody>
          <a:bodyPr wrap="square">
            <a:spAutoFit/>
          </a:bodyPr>
          <a:lstStyle/>
          <a:p>
            <a:pPr indent="457200" algn="just"/>
            <a:r>
              <a:rPr lang="zh-CN" altLang="en-US" sz="2000" dirty="0">
                <a:latin typeface="楷体" panose="02010609060101010101" pitchFamily="49" charset="-122"/>
                <a:ea typeface="楷体" panose="02010609060101010101" pitchFamily="49" charset="-122"/>
                <a:sym typeface="Cambria" panose="02040503050406030204" pitchFamily="18" charset="0"/>
              </a:rPr>
              <a:t>中证新能源汽车指数</a:t>
            </a:r>
            <a:r>
              <a:rPr lang="en-US" altLang="zh-CN" sz="2000" dirty="0">
                <a:latin typeface="楷体" panose="02010609060101010101" pitchFamily="49" charset="-122"/>
                <a:ea typeface="楷体" panose="02010609060101010101" pitchFamily="49" charset="-122"/>
                <a:sym typeface="Cambria" panose="02040503050406030204" pitchFamily="18" charset="0"/>
              </a:rPr>
              <a:t>3</a:t>
            </a:r>
            <a:r>
              <a:rPr lang="zh-CN" altLang="en-US" sz="2000" dirty="0">
                <a:latin typeface="楷体" panose="02010609060101010101" pitchFamily="49" charset="-122"/>
                <a:ea typeface="楷体" panose="02010609060101010101" pitchFamily="49" charset="-122"/>
                <a:sym typeface="Cambria" panose="02040503050406030204" pitchFamily="18" charset="0"/>
              </a:rPr>
              <a:t>月下跌</a:t>
            </a:r>
            <a:r>
              <a:rPr lang="en-US" altLang="zh-CN" sz="2000" dirty="0">
                <a:latin typeface="楷体" panose="02010609060101010101" pitchFamily="49" charset="-122"/>
                <a:ea typeface="楷体" panose="02010609060101010101" pitchFamily="49" charset="-122"/>
                <a:sym typeface="Cambria" panose="02040503050406030204" pitchFamily="18" charset="0"/>
              </a:rPr>
              <a:t>2.58%</a:t>
            </a:r>
            <a:r>
              <a:rPr lang="zh-CN" altLang="en-US" sz="2000" dirty="0">
                <a:latin typeface="楷体" panose="02010609060101010101" pitchFamily="49" charset="-122"/>
                <a:ea typeface="楷体" panose="02010609060101010101" pitchFamily="49" charset="-122"/>
                <a:sym typeface="Cambria" panose="02040503050406030204" pitchFamily="18" charset="0"/>
              </a:rPr>
              <a:t>。</a:t>
            </a:r>
            <a:endParaRPr lang="en-US" altLang="zh-CN" sz="2000" dirty="0">
              <a:latin typeface="楷体" panose="02010609060101010101" pitchFamily="49" charset="-122"/>
              <a:ea typeface="楷体" panose="02010609060101010101" pitchFamily="49" charset="-122"/>
            </a:endParaRPr>
          </a:p>
          <a:p>
            <a:pPr indent="457200" algn="just"/>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油价上涨推动汽车消费结构向节能环保方向转变，为中国新能源车出海创造机遇。近期比亚迪、上汽名爵等国内车企新能源车型在菲律宾、泰国、新西兰等地的需求大幅增长。</a:t>
            </a:r>
            <a:endParaRPr lang="en-US" altLang="zh-CN" sz="2000" dirty="0">
              <a:solidFill>
                <a:schemeClr val="tx1">
                  <a:lumMod val="75000"/>
                  <a:lumOff val="25000"/>
                </a:schemeClr>
              </a:solidFill>
              <a:latin typeface="楷体" panose="02010609060101010101" pitchFamily="49" charset="-122"/>
              <a:ea typeface="楷体" panose="02010609060101010101" pitchFamily="49" charset="-122"/>
            </a:endParaRPr>
          </a:p>
          <a:p>
            <a:pPr indent="457200" algn="just"/>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碳酸锂涨价支撑成本，下游需求驱动涨价。需求端迎来</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Q2</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旺季，电池级碳酸锂市场价重回</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15</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万元</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吨以上，下游动储需求保持旺盛的情况下，产业链有望进入涨价周期。</a:t>
            </a:r>
            <a:endParaRPr lang="en-US" altLang="zh-CN" sz="20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12" name="矩形 11"/>
          <p:cNvSpPr/>
          <p:nvPr/>
        </p:nvSpPr>
        <p:spPr>
          <a:xfrm>
            <a:off x="4193227" y="2242384"/>
            <a:ext cx="2379249"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82</a:t>
            </a:r>
          </a:p>
        </p:txBody>
      </p:sp>
      <p:sp>
        <p:nvSpPr>
          <p:cNvPr id="88" name="矩形 87"/>
          <p:cNvSpPr/>
          <p:nvPr/>
        </p:nvSpPr>
        <p:spPr>
          <a:xfrm>
            <a:off x="2546252" y="6961377"/>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83278" y="7186767"/>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81286" y="7186767"/>
            <a:ext cx="1997356" cy="0"/>
          </a:xfrm>
          <a:prstGeom prst="line">
            <a:avLst/>
          </a:prstGeom>
        </p:spPr>
        <p:style>
          <a:lnRef idx="1">
            <a:schemeClr val="accent1"/>
          </a:lnRef>
          <a:fillRef idx="0">
            <a:schemeClr val="accent1"/>
          </a:fillRef>
          <a:effectRef idx="0">
            <a:schemeClr val="accent1"/>
          </a:effectRef>
          <a:fontRef idx="minor">
            <a:schemeClr val="tx1"/>
          </a:fontRef>
        </p:style>
      </p:cxnSp>
      <p:pic>
        <p:nvPicPr>
          <p:cNvPr id="45" name="图片 44"/>
          <p:cNvPicPr>
            <a:picLocks noChangeAspect="1"/>
          </p:cNvPicPr>
          <p:nvPr/>
        </p:nvPicPr>
        <p:blipFill>
          <a:blip r:embed="rId3" cstate="print">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tretch>
            <a:fillRect/>
          </a:stretch>
        </p:blipFill>
        <p:spPr>
          <a:xfrm>
            <a:off x="334591" y="7535510"/>
            <a:ext cx="2239307" cy="3844655"/>
          </a:xfrm>
          <a:prstGeom prst="rect">
            <a:avLst/>
          </a:prstGeom>
        </p:spPr>
      </p:pic>
      <p:sp>
        <p:nvSpPr>
          <p:cNvPr id="25" name="椭圆 24"/>
          <p:cNvSpPr/>
          <p:nvPr/>
        </p:nvSpPr>
        <p:spPr>
          <a:xfrm>
            <a:off x="4022690" y="2990409"/>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9" name="圆角矩形 28"/>
          <p:cNvSpPr/>
          <p:nvPr/>
        </p:nvSpPr>
        <p:spPr>
          <a:xfrm>
            <a:off x="2907200" y="9639759"/>
            <a:ext cx="3580146" cy="1020658"/>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endParaRPr lang="en-US" altLang="zh-CN"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33" name="圆角矩形 32"/>
          <p:cNvSpPr/>
          <p:nvPr/>
        </p:nvSpPr>
        <p:spPr>
          <a:xfrm>
            <a:off x="2754323" y="10703256"/>
            <a:ext cx="3668225" cy="761550"/>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cxnSp>
        <p:nvCxnSpPr>
          <p:cNvPr id="34" name="直线连接符 43"/>
          <p:cNvCxnSpPr/>
          <p:nvPr/>
        </p:nvCxnSpPr>
        <p:spPr>
          <a:xfrm>
            <a:off x="2884424" y="8770681"/>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862040" y="9972534"/>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61101" y="11146023"/>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62674" y="216137"/>
            <a:ext cx="5412985" cy="1446550"/>
          </a:xfrm>
          <a:prstGeom prst="rect">
            <a:avLst/>
          </a:prstGeom>
          <a:noFill/>
        </p:spPr>
        <p:txBody>
          <a:bodyPr wrap="square" rtlCol="0">
            <a:spAutoFit/>
          </a:bodyPr>
          <a:lstStyle/>
          <a:p>
            <a:pPr lvl="0"/>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新能源车</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p>
          <a:p>
            <a:pPr lvl="0"/>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516660 </a:t>
            </a:r>
          </a:p>
          <a:p>
            <a:pPr lvl="0"/>
            <a:r>
              <a:rPr lang="en-US" altLang="zh-CN" sz="2400" b="1" spc="300" dirty="0">
                <a:solidFill>
                  <a:srgbClr val="5B9BD5">
                    <a:lumMod val="20000"/>
                    <a:lumOff val="80000"/>
                  </a:srgbClr>
                </a:solidFill>
                <a:latin typeface="楷体" panose="02010609060101010101" pitchFamily="49" charset="-122"/>
                <a:ea typeface="楷体" panose="02010609060101010101" pitchFamily="49" charset="-122"/>
                <a:cs typeface="Microsoft YaHei" panose="020B0502040204020203" charset="-122"/>
                <a:sym typeface="Cambria" panose="02040503050406030204" pitchFamily="18" charset="0"/>
              </a:rPr>
              <a:t> </a:t>
            </a:r>
            <a:endParaRPr lang="zh-CN" altLang="en-US" sz="2400" b="1" spc="300" dirty="0">
              <a:solidFill>
                <a:srgbClr val="5B9BD5">
                  <a:lumMod val="20000"/>
                  <a:lumOff val="80000"/>
                </a:srgbClr>
              </a:solidFill>
              <a:latin typeface="楷体" panose="02010609060101010101" pitchFamily="49" charset="-122"/>
              <a:ea typeface="楷体" panose="02010609060101010101" pitchFamily="49" charset="-122"/>
              <a:cs typeface="Microsoft YaHei" panose="020B0502040204020203" charset="-122"/>
              <a:sym typeface="Cambria" panose="02040503050406030204" pitchFamily="18" charset="0"/>
            </a:endParaRPr>
          </a:p>
        </p:txBody>
      </p:sp>
      <p:sp>
        <p:nvSpPr>
          <p:cNvPr id="5" name="矩形 4"/>
          <p:cNvSpPr/>
          <p:nvPr/>
        </p:nvSpPr>
        <p:spPr>
          <a:xfrm>
            <a:off x="2832184" y="8935907"/>
            <a:ext cx="3198538" cy="830997"/>
          </a:xfrm>
          <a:prstGeom prst="rect">
            <a:avLst/>
          </a:prstGeom>
        </p:spPr>
        <p:txBody>
          <a:bodyPr wrap="square">
            <a:spAutoFit/>
          </a:bodyPr>
          <a:lstStyle/>
          <a:p>
            <a:r>
              <a:rPr lang="zh-CN" altLang="en-US" sz="1600" b="1" dirty="0">
                <a:latin typeface="楷体" panose="02010609060101010101" pitchFamily="49" charset="-122"/>
                <a:ea typeface="楷体" panose="02010609060101010101" pitchFamily="49" charset="-122"/>
              </a:rPr>
              <a:t>碳酸锂开启涨价</a:t>
            </a:r>
            <a:endParaRPr lang="en-US" altLang="zh-CN" sz="1600" b="1" dirty="0">
              <a:latin typeface="楷体" panose="02010609060101010101" pitchFamily="49" charset="-122"/>
              <a:ea typeface="楷体" panose="02010609060101010101" pitchFamily="49" charset="-122"/>
            </a:endParaRPr>
          </a:p>
          <a:p>
            <a:r>
              <a:rPr lang="zh-CN" altLang="en-US" sz="1600" dirty="0">
                <a:latin typeface="楷体" panose="02010609060101010101" pitchFamily="49" charset="-122"/>
                <a:ea typeface="楷体" panose="02010609060101010101" pitchFamily="49" charset="-122"/>
              </a:rPr>
              <a:t>基本面拐点基本确立，企业盈利回升</a:t>
            </a:r>
          </a:p>
        </p:txBody>
      </p:sp>
      <p:sp>
        <p:nvSpPr>
          <p:cNvPr id="27" name="文本框 26"/>
          <p:cNvSpPr txBox="1"/>
          <p:nvPr/>
        </p:nvSpPr>
        <p:spPr>
          <a:xfrm>
            <a:off x="2783533" y="7635433"/>
            <a:ext cx="3155988" cy="584775"/>
          </a:xfrm>
          <a:prstGeom prst="rect">
            <a:avLst/>
          </a:prstGeom>
          <a:noFill/>
        </p:spPr>
        <p:txBody>
          <a:bodyPr wrap="square" rtlCol="0">
            <a:spAutoFit/>
          </a:bodyPr>
          <a:lstStyle/>
          <a:p>
            <a:pPr marL="0" lvl="2" algn="just"/>
            <a:r>
              <a:rPr lang="zh-CN" altLang="en-US"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固态电池技术突破</a:t>
            </a: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a:p>
            <a:pPr marL="0" lvl="2" algn="just"/>
            <a:r>
              <a:rPr lang="zh-CN" altLang="en-US"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技术突破带来产业格局变化</a:t>
            </a:r>
            <a:endParaRPr lang="en-US" altLang="zh-CN"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28" name="矩形 27"/>
          <p:cNvSpPr/>
          <p:nvPr/>
        </p:nvSpPr>
        <p:spPr>
          <a:xfrm>
            <a:off x="2832184" y="10142584"/>
            <a:ext cx="3509939" cy="584775"/>
          </a:xfrm>
          <a:prstGeom prst="rect">
            <a:avLst/>
          </a:prstGeom>
        </p:spPr>
        <p:txBody>
          <a:bodyPr wrap="square">
            <a:spAutoFit/>
          </a:bodyPr>
          <a:lstStyle/>
          <a:p>
            <a:r>
              <a:rPr lang="zh-CN" altLang="en-US" sz="1600" b="1" dirty="0">
                <a:latin typeface="楷体" panose="02010609060101010101" pitchFamily="49" charset="-122"/>
                <a:ea typeface="楷体" panose="02010609060101010101" pitchFamily="49" charset="-122"/>
              </a:rPr>
              <a:t>中国车企抢占全球份额</a:t>
            </a:r>
            <a:endParaRPr lang="en-US" altLang="zh-CN" sz="1600" b="1" dirty="0">
              <a:latin typeface="楷体" panose="02010609060101010101" pitchFamily="49" charset="-122"/>
              <a:ea typeface="楷体" panose="02010609060101010101" pitchFamily="49" charset="-122"/>
            </a:endParaRPr>
          </a:p>
          <a:p>
            <a:r>
              <a:rPr lang="zh-CN" altLang="en-US" sz="1600" dirty="0">
                <a:latin typeface="楷体" panose="02010609060101010101" pitchFamily="49" charset="-122"/>
                <a:ea typeface="楷体" panose="02010609060101010101" pitchFamily="49" charset="-122"/>
              </a:rPr>
              <a:t>车企出海趋势延续，竞争力凸显</a:t>
            </a:r>
          </a:p>
        </p:txBody>
      </p:sp>
      <p:sp>
        <p:nvSpPr>
          <p:cNvPr id="35" name="文本框 34"/>
          <p:cNvSpPr txBox="1"/>
          <p:nvPr/>
        </p:nvSpPr>
        <p:spPr>
          <a:xfrm>
            <a:off x="441544" y="1278599"/>
            <a:ext cx="5053330" cy="503555"/>
          </a:xfrm>
          <a:prstGeom prst="rect">
            <a:avLst/>
          </a:prstGeom>
          <a:noFill/>
        </p:spPr>
        <p:txBody>
          <a:bodyPr wrap="square" rtlCol="0">
            <a:noAutofit/>
          </a:bodyPr>
          <a:lstStyle/>
          <a:p>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A: 013319     </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C</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013320</a:t>
            </a:r>
          </a:p>
        </p:txBody>
      </p:sp>
      <p:sp>
        <p:nvSpPr>
          <p:cNvPr id="36" name="矩形 35"/>
          <p:cNvSpPr/>
          <p:nvPr/>
        </p:nvSpPr>
        <p:spPr>
          <a:xfrm flipH="1">
            <a:off x="287774" y="391656"/>
            <a:ext cx="86360" cy="805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pic>
        <p:nvPicPr>
          <p:cNvPr id="37" name="图片 36" descr="风向标头图"/>
          <p:cNvPicPr>
            <a:picLocks noChangeAspect="1"/>
          </p:cNvPicPr>
          <p:nvPr/>
        </p:nvPicPr>
        <p:blipFill>
          <a:blip r:embed="rId5"/>
          <a:stretch>
            <a:fillRect/>
          </a:stretch>
        </p:blipFill>
        <p:spPr>
          <a:xfrm>
            <a:off x="0" y="-635"/>
            <a:ext cx="6858000" cy="1920536"/>
          </a:xfrm>
          <a:prstGeom prst="rect">
            <a:avLst/>
          </a:prstGeom>
        </p:spPr>
      </p:pic>
      <p:sp>
        <p:nvSpPr>
          <p:cNvPr id="38" name="文本框 37"/>
          <p:cNvSpPr txBox="1"/>
          <p:nvPr/>
        </p:nvSpPr>
        <p:spPr>
          <a:xfrm>
            <a:off x="529590" y="302260"/>
            <a:ext cx="5408295" cy="1077218"/>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新能源车</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516660</a:t>
            </a:r>
          </a:p>
        </p:txBody>
      </p:sp>
      <p:sp>
        <p:nvSpPr>
          <p:cNvPr id="41" name="文本框 40"/>
          <p:cNvSpPr txBox="1"/>
          <p:nvPr/>
        </p:nvSpPr>
        <p:spPr>
          <a:xfrm>
            <a:off x="445919" y="1479500"/>
            <a:ext cx="5053330" cy="503555"/>
          </a:xfrm>
          <a:prstGeom prst="rect">
            <a:avLst/>
          </a:prstGeom>
          <a:noFill/>
        </p:spPr>
        <p:txBody>
          <a:bodyPr wrap="square" rtlCol="0">
            <a:noAutofit/>
          </a:bodyPr>
          <a:lstStyle/>
          <a:p>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A</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013319  </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C</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013320</a:t>
            </a:r>
          </a:p>
        </p:txBody>
      </p:sp>
      <p:sp>
        <p:nvSpPr>
          <p:cNvPr id="43" name="矩形 42"/>
          <p:cNvSpPr/>
          <p:nvPr/>
        </p:nvSpPr>
        <p:spPr>
          <a:xfrm flipH="1">
            <a:off x="318770" y="438150"/>
            <a:ext cx="86360" cy="805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pic>
        <p:nvPicPr>
          <p:cNvPr id="2" name="图片 1" descr="资源 1"/>
          <p:cNvPicPr>
            <a:picLocks noChangeAspect="1"/>
          </p:cNvPicPr>
          <p:nvPr>
            <p:custDataLst>
              <p:tags r:id="rId1"/>
            </p:custDataLst>
          </p:nvPr>
        </p:nvPicPr>
        <p:blipFill>
          <a:blip r:embed="rId6"/>
          <a:stretch>
            <a:fillRect/>
          </a:stretch>
        </p:blipFill>
        <p:spPr>
          <a:xfrm>
            <a:off x="4674870" y="179070"/>
            <a:ext cx="1711960" cy="438150"/>
          </a:xfrm>
          <a:prstGeom prst="rect">
            <a:avLst/>
          </a:prstGeom>
        </p:spPr>
      </p:pic>
      <p:graphicFrame>
        <p:nvGraphicFramePr>
          <p:cNvPr id="44" name="图表 43"/>
          <p:cNvGraphicFramePr>
            <a:graphicFrameLocks/>
          </p:cNvGraphicFramePr>
          <p:nvPr/>
        </p:nvGraphicFramePr>
        <p:xfrm>
          <a:off x="3927796" y="2845806"/>
          <a:ext cx="2739574" cy="2838991"/>
        </p:xfrm>
        <a:graphic>
          <a:graphicData uri="http://schemas.openxmlformats.org/drawingml/2006/chart">
            <c:chart xmlns:c="http://schemas.openxmlformats.org/drawingml/2006/chart" xmlns:r="http://schemas.openxmlformats.org/officeDocument/2006/relationships" r:id="rId7"/>
          </a:graphicData>
        </a:graphic>
      </p:graphicFrame>
      <p:sp>
        <p:nvSpPr>
          <p:cNvPr id="32" name="页脚占位符 3"/>
          <p:cNvSpPr>
            <a:spLocks noGrp="1"/>
          </p:cNvSpPr>
          <p:nvPr>
            <p:ph type="ftr" sz="quarter" idx="11"/>
          </p:nvPr>
        </p:nvSpPr>
        <p:spPr>
          <a:xfrm>
            <a:off x="2349371" y="11828830"/>
            <a:ext cx="4508629" cy="269475"/>
          </a:xfrm>
        </p:spPr>
        <p:txBody>
          <a:bodyPr/>
          <a:lstStyle/>
          <a:p>
            <a:r>
              <a:rPr lang="zh-CN" altLang="en-US" dirty="0">
                <a:solidFill>
                  <a:schemeClr val="bg2">
                    <a:lumMod val="75000"/>
                  </a:schemeClr>
                </a:solidFill>
              </a:rPr>
              <a:t>数据来源： </a:t>
            </a:r>
            <a:r>
              <a:rPr lang="en-US" altLang="zh-CN" dirty="0">
                <a:solidFill>
                  <a:schemeClr val="bg2">
                    <a:lumMod val="75000"/>
                  </a:schemeClr>
                </a:solidFill>
              </a:rPr>
              <a:t>WIND ,</a:t>
            </a:r>
            <a:r>
              <a:rPr lang="zh-CN" altLang="en-US" dirty="0">
                <a:solidFill>
                  <a:schemeClr val="bg2">
                    <a:lumMod val="75000"/>
                  </a:schemeClr>
                </a:solidFill>
              </a:rPr>
              <a:t>截至</a:t>
            </a:r>
            <a:r>
              <a:rPr lang="en-US" altLang="zh-CN" dirty="0">
                <a:solidFill>
                  <a:schemeClr val="bg2">
                    <a:lumMod val="75000"/>
                  </a:schemeClr>
                </a:solidFill>
              </a:rPr>
              <a:t>2024/11/30</a:t>
            </a:r>
            <a:r>
              <a:rPr lang="zh-CN" altLang="en-US" dirty="0">
                <a:solidFill>
                  <a:schemeClr val="bg2">
                    <a:lumMod val="75000"/>
                  </a:schemeClr>
                </a:solidFill>
              </a:rPr>
              <a:t>。涉及第三方预测数据仅供参考，不作为投资建议</a:t>
            </a:r>
            <a:r>
              <a:rPr lang="zh-CN" altLang="en-US" sz="700" dirty="0">
                <a:solidFill>
                  <a:schemeClr val="bg2">
                    <a:lumMod val="75000"/>
                  </a:schemeClr>
                </a:solidFill>
              </a:rPr>
              <a:t>。</a:t>
            </a:r>
          </a:p>
        </p:txBody>
      </p:sp>
    </p:spTree>
    <p:extLst>
      <p:ext uri="{BB962C8B-B14F-4D97-AF65-F5344CB8AC3E}">
        <p14:creationId xmlns:p14="http://schemas.microsoft.com/office/powerpoint/2010/main" val="1840457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风向标头图"/>
          <p:cNvPicPr>
            <a:picLocks noChangeAspect="1"/>
          </p:cNvPicPr>
          <p:nvPr/>
        </p:nvPicPr>
        <p:blipFill>
          <a:blip r:embed="rId4"/>
          <a:stretch>
            <a:fillRect/>
          </a:stretch>
        </p:blipFill>
        <p:spPr>
          <a:xfrm>
            <a:off x="0" y="-635"/>
            <a:ext cx="6858000" cy="1920536"/>
          </a:xfrm>
          <a:prstGeom prst="rect">
            <a:avLst/>
          </a:prstGeom>
        </p:spPr>
      </p:pic>
      <p:sp>
        <p:nvSpPr>
          <p:cNvPr id="10" name="矩形 9"/>
          <p:cNvSpPr/>
          <p:nvPr/>
        </p:nvSpPr>
        <p:spPr>
          <a:xfrm>
            <a:off x="194820" y="2310227"/>
            <a:ext cx="3793039" cy="4093428"/>
          </a:xfrm>
          <a:prstGeom prst="rect">
            <a:avLst/>
          </a:prstGeom>
          <a:noFill/>
        </p:spPr>
        <p:txBody>
          <a:bodyPr wrap="square">
            <a:spAutoFit/>
          </a:bodyPr>
          <a:lstStyle/>
          <a:p>
            <a:pPr algn="just"/>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	</a:t>
            </a:r>
            <a:r>
              <a:rPr lang="zh-CN" altLang="en-US" sz="2000" dirty="0">
                <a:latin typeface="楷体" panose="02010609060101010101" pitchFamily="49" charset="-122"/>
                <a:ea typeface="楷体" panose="02010609060101010101" pitchFamily="49" charset="-122"/>
                <a:sym typeface="Cambria" panose="02040503050406030204" pitchFamily="18" charset="0"/>
              </a:rPr>
              <a:t>中证光伏产业指数</a:t>
            </a:r>
            <a:r>
              <a:rPr lang="en-US" altLang="zh-CN" sz="2000" dirty="0">
                <a:latin typeface="楷体" panose="02010609060101010101" pitchFamily="49" charset="-122"/>
                <a:ea typeface="楷体" panose="02010609060101010101" pitchFamily="49" charset="-122"/>
                <a:sym typeface="Cambria" panose="02040503050406030204" pitchFamily="18" charset="0"/>
              </a:rPr>
              <a:t>3</a:t>
            </a:r>
            <a:r>
              <a:rPr lang="zh-CN" altLang="en-US" sz="2000" dirty="0">
                <a:latin typeface="楷体" panose="02010609060101010101" pitchFamily="49" charset="-122"/>
                <a:ea typeface="楷体" panose="02010609060101010101" pitchFamily="49" charset="-122"/>
                <a:sym typeface="Cambria" panose="02040503050406030204" pitchFamily="18" charset="0"/>
              </a:rPr>
              <a:t>月下跌</a:t>
            </a:r>
            <a:r>
              <a:rPr lang="en-US" altLang="zh-CN" sz="2000" dirty="0">
                <a:latin typeface="楷体" panose="02010609060101010101" pitchFamily="49" charset="-122"/>
                <a:ea typeface="楷体" panose="02010609060101010101" pitchFamily="49" charset="-122"/>
                <a:sym typeface="Cambria" panose="02040503050406030204" pitchFamily="18" charset="0"/>
              </a:rPr>
              <a:t>8.99%</a:t>
            </a:r>
            <a:r>
              <a:rPr lang="zh-CN" altLang="en-US" sz="2000" dirty="0">
                <a:latin typeface="楷体" panose="02010609060101010101" pitchFamily="49" charset="-122"/>
                <a:ea typeface="楷体" panose="02010609060101010101" pitchFamily="49" charset="-122"/>
                <a:sym typeface="Cambria" panose="02040503050406030204" pitchFamily="18" charset="0"/>
              </a:rPr>
              <a:t>。</a:t>
            </a:r>
            <a:endParaRPr lang="en-US" altLang="zh-CN" sz="2000" dirty="0">
              <a:latin typeface="楷体" panose="02010609060101010101" pitchFamily="49" charset="-122"/>
              <a:ea typeface="楷体" panose="02010609060101010101" pitchFamily="49" charset="-122"/>
              <a:sym typeface="Cambria" panose="02040503050406030204" pitchFamily="18" charset="0"/>
            </a:endParaRPr>
          </a:p>
          <a:p>
            <a:pPr algn="just"/>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   光伏产业链处于供需再平衡关键期，价格底部震荡，政策与太空光伏提供结构性支撑。企业分化加剧，技术领先者（</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HJT</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BC</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）和供给侧龙头（硅料、玻璃）率先受益。</a:t>
            </a:r>
          </a:p>
          <a:p>
            <a:pPr algn="just"/>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   HJT</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设备商和材料企业将受</a:t>
            </a:r>
            <a:r>
              <a:rPr lang="en-US" altLang="zh-CN" sz="2000" dirty="0" err="1">
                <a:solidFill>
                  <a:schemeClr val="tx1">
                    <a:lumMod val="75000"/>
                    <a:lumOff val="25000"/>
                  </a:schemeClr>
                </a:solidFill>
                <a:latin typeface="楷体" panose="02010609060101010101" pitchFamily="49" charset="-122"/>
                <a:ea typeface="楷体" panose="02010609060101010101" pitchFamily="49" charset="-122"/>
              </a:rPr>
              <a:t>SpaceX</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订单催化，订单落地或超预期。关注盈利修复环节：硅料</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rPr>
              <a:t>硅片因减产自律迎来价格反弹；逆变器受益海外储能放量。</a:t>
            </a:r>
          </a:p>
        </p:txBody>
      </p:sp>
      <p:sp>
        <p:nvSpPr>
          <p:cNvPr id="12" name="矩形 11"/>
          <p:cNvSpPr/>
          <p:nvPr/>
        </p:nvSpPr>
        <p:spPr>
          <a:xfrm>
            <a:off x="4119245" y="2645922"/>
            <a:ext cx="2738755" cy="559769"/>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80</a:t>
            </a:r>
          </a:p>
        </p:txBody>
      </p:sp>
      <p:sp>
        <p:nvSpPr>
          <p:cNvPr id="88" name="矩形 87"/>
          <p:cNvSpPr/>
          <p:nvPr/>
        </p:nvSpPr>
        <p:spPr>
          <a:xfrm>
            <a:off x="2546252" y="6888352"/>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45231" y="7113742"/>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81286" y="7113742"/>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4022690" y="3477107"/>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9" name="圆角矩形 28"/>
          <p:cNvSpPr/>
          <p:nvPr/>
        </p:nvSpPr>
        <p:spPr>
          <a:xfrm>
            <a:off x="2907200" y="10008059"/>
            <a:ext cx="3580146" cy="1020658"/>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endParaRPr lang="en-US" altLang="zh-CN"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33" name="圆角矩形 32"/>
          <p:cNvSpPr/>
          <p:nvPr/>
        </p:nvSpPr>
        <p:spPr>
          <a:xfrm>
            <a:off x="2754323" y="11071556"/>
            <a:ext cx="3668225" cy="761550"/>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cxnSp>
        <p:nvCxnSpPr>
          <p:cNvPr id="34" name="直线连接符 43"/>
          <p:cNvCxnSpPr/>
          <p:nvPr/>
        </p:nvCxnSpPr>
        <p:spPr>
          <a:xfrm>
            <a:off x="2822418" y="8947724"/>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822418" y="10495273"/>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993262" y="11830883"/>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29590" y="302260"/>
            <a:ext cx="5408295" cy="1077218"/>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光伏</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159618</a:t>
            </a:r>
          </a:p>
        </p:txBody>
      </p:sp>
      <p:sp>
        <p:nvSpPr>
          <p:cNvPr id="23" name="矩形 22"/>
          <p:cNvSpPr/>
          <p:nvPr/>
        </p:nvSpPr>
        <p:spPr>
          <a:xfrm flipH="1">
            <a:off x="318770" y="438150"/>
            <a:ext cx="86360" cy="805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pic>
        <p:nvPicPr>
          <p:cNvPr id="36" name="图片 35"/>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326206" y="7706974"/>
            <a:ext cx="2239307" cy="3844655"/>
          </a:xfrm>
          <a:prstGeom prst="rect">
            <a:avLst/>
          </a:prstGeom>
        </p:spPr>
      </p:pic>
      <p:sp>
        <p:nvSpPr>
          <p:cNvPr id="21" name="文本框 20"/>
          <p:cNvSpPr txBox="1"/>
          <p:nvPr/>
        </p:nvSpPr>
        <p:spPr>
          <a:xfrm>
            <a:off x="445919" y="1479500"/>
            <a:ext cx="5053330" cy="503555"/>
          </a:xfrm>
          <a:prstGeom prst="rect">
            <a:avLst/>
          </a:prstGeom>
          <a:noFill/>
        </p:spPr>
        <p:txBody>
          <a:bodyPr wrap="square" rtlCol="0">
            <a:noAutofit/>
          </a:bodyPr>
          <a:lstStyle/>
          <a:p>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A</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013105   </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C</a:t>
            </a:r>
            <a:r>
              <a:rPr lang="zh-CN" altLang="en-US" dirty="0">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rPr>
              <a:t>013106</a:t>
            </a:r>
          </a:p>
        </p:txBody>
      </p:sp>
      <p:sp>
        <p:nvSpPr>
          <p:cNvPr id="24" name="圆角矩形 23"/>
          <p:cNvSpPr/>
          <p:nvPr/>
        </p:nvSpPr>
        <p:spPr>
          <a:xfrm>
            <a:off x="2599881" y="7646618"/>
            <a:ext cx="3822667" cy="1025967"/>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 反内卷政策深化</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硅料能耗标准提升、头部企业并购整合加速</a:t>
            </a:r>
            <a:endParaRPr lang="en-US" altLang="zh-CN"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26" name="圆角矩形 25"/>
          <p:cNvSpPr/>
          <p:nvPr/>
        </p:nvSpPr>
        <p:spPr>
          <a:xfrm>
            <a:off x="2678642" y="9324169"/>
            <a:ext cx="3622091" cy="843932"/>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r>
              <a:rPr lang="zh-CN" altLang="en-US"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产业链价格有望复苏</a:t>
            </a: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a:p>
            <a:pPr marL="0" lvl="2" algn="just">
              <a:lnSpc>
                <a:spcPct val="150000"/>
              </a:lnSpc>
            </a:pPr>
            <a:r>
              <a:rPr lang="zh-CN" altLang="en-US"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主产业链亏损收窄，硅料现金流改善明显</a:t>
            </a:r>
            <a:endParaRPr lang="en-US" altLang="zh-CN"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27" name="圆角矩形 26"/>
          <p:cNvSpPr/>
          <p:nvPr/>
        </p:nvSpPr>
        <p:spPr>
          <a:xfrm>
            <a:off x="2754323" y="10744384"/>
            <a:ext cx="3632507" cy="733162"/>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r>
              <a:rPr lang="zh-CN" altLang="en-US"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储能景气度提升</a:t>
            </a:r>
            <a:endParaRPr lang="en-US" altLang="zh-CN" sz="1600" b="1"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a:p>
            <a:pPr marL="0" lvl="2" algn="just">
              <a:lnSpc>
                <a:spcPct val="150000"/>
              </a:lnSpc>
            </a:pPr>
            <a:r>
              <a:rPr lang="zh-CN" altLang="en-US"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rPr>
              <a:t>全球储能景气上行，龙头凭借技术优势持续领先</a:t>
            </a:r>
          </a:p>
        </p:txBody>
      </p:sp>
      <p:pic>
        <p:nvPicPr>
          <p:cNvPr id="3" name="图片 2" descr="资源 1"/>
          <p:cNvPicPr>
            <a:picLocks noChangeAspect="1"/>
          </p:cNvPicPr>
          <p:nvPr>
            <p:custDataLst>
              <p:tags r:id="rId1"/>
            </p:custDataLst>
          </p:nvPr>
        </p:nvPicPr>
        <p:blipFill>
          <a:blip r:embed="rId7"/>
          <a:stretch>
            <a:fillRect/>
          </a:stretch>
        </p:blipFill>
        <p:spPr>
          <a:xfrm>
            <a:off x="4674870" y="179070"/>
            <a:ext cx="1711960" cy="438150"/>
          </a:xfrm>
          <a:prstGeom prst="rect">
            <a:avLst/>
          </a:prstGeom>
        </p:spPr>
      </p:pic>
      <p:graphicFrame>
        <p:nvGraphicFramePr>
          <p:cNvPr id="28" name="图表 27"/>
          <p:cNvGraphicFramePr>
            <a:graphicFrameLocks/>
          </p:cNvGraphicFramePr>
          <p:nvPr/>
        </p:nvGraphicFramePr>
        <p:xfrm>
          <a:off x="3927796" y="3381692"/>
          <a:ext cx="2739574" cy="2844034"/>
        </p:xfrm>
        <a:graphic>
          <a:graphicData uri="http://schemas.openxmlformats.org/drawingml/2006/chart">
            <c:chart xmlns:c="http://schemas.openxmlformats.org/drawingml/2006/chart" xmlns:r="http://schemas.openxmlformats.org/officeDocument/2006/relationships" r:id="rId8"/>
          </a:graphicData>
        </a:graphic>
      </p:graphicFrame>
      <p:sp>
        <p:nvSpPr>
          <p:cNvPr id="32" name="页脚占位符 3"/>
          <p:cNvSpPr>
            <a:spLocks noGrp="1"/>
          </p:cNvSpPr>
          <p:nvPr>
            <p:ph type="ftr" sz="quarter" idx="11"/>
          </p:nvPr>
        </p:nvSpPr>
        <p:spPr>
          <a:xfrm>
            <a:off x="2349371" y="11828830"/>
            <a:ext cx="4508629" cy="269475"/>
          </a:xfrm>
        </p:spPr>
        <p:txBody>
          <a:bodyPr/>
          <a:lstStyle/>
          <a:p>
            <a:r>
              <a:rPr lang="zh-CN" altLang="en-US" dirty="0">
                <a:solidFill>
                  <a:schemeClr val="bg2">
                    <a:lumMod val="75000"/>
                  </a:schemeClr>
                </a:solidFill>
              </a:rPr>
              <a:t>数据来源： </a:t>
            </a:r>
            <a:r>
              <a:rPr lang="en-US" altLang="zh-CN" dirty="0">
                <a:solidFill>
                  <a:schemeClr val="bg2">
                    <a:lumMod val="75000"/>
                  </a:schemeClr>
                </a:solidFill>
              </a:rPr>
              <a:t>WIND ,</a:t>
            </a:r>
            <a:r>
              <a:rPr lang="zh-CN" altLang="en-US" dirty="0">
                <a:solidFill>
                  <a:schemeClr val="bg2">
                    <a:lumMod val="75000"/>
                  </a:schemeClr>
                </a:solidFill>
              </a:rPr>
              <a:t>截至</a:t>
            </a:r>
            <a:r>
              <a:rPr lang="en-US" altLang="zh-CN" dirty="0">
                <a:solidFill>
                  <a:schemeClr val="bg2">
                    <a:lumMod val="75000"/>
                  </a:schemeClr>
                </a:solidFill>
              </a:rPr>
              <a:t>2024/11/30</a:t>
            </a:r>
            <a:r>
              <a:rPr lang="zh-CN" altLang="en-US" dirty="0">
                <a:solidFill>
                  <a:schemeClr val="bg2">
                    <a:lumMod val="75000"/>
                  </a:schemeClr>
                </a:solidFill>
              </a:rPr>
              <a:t>。涉及第三方预测数据仅供参考，不作为投资建议</a:t>
            </a:r>
            <a:r>
              <a:rPr lang="zh-CN" altLang="en-US" sz="700" dirty="0">
                <a:solidFill>
                  <a:schemeClr val="bg2">
                    <a:lumMod val="75000"/>
                  </a:schemeClr>
                </a:solidFill>
              </a:rPr>
              <a:t>。</a:t>
            </a:r>
          </a:p>
        </p:txBody>
      </p:sp>
    </p:spTree>
    <p:extLst>
      <p:ext uri="{BB962C8B-B14F-4D97-AF65-F5344CB8AC3E}">
        <p14:creationId xmlns:p14="http://schemas.microsoft.com/office/powerpoint/2010/main" val="287794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317A-4D43-915D-A28E-C339BB668510}"/>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E25F3C46-B69E-658A-2D38-3A53E64114F1}"/>
              </a:ext>
            </a:extLst>
          </p:cNvPr>
          <p:cNvSpPr/>
          <p:nvPr/>
        </p:nvSpPr>
        <p:spPr>
          <a:xfrm>
            <a:off x="361950" y="2193398"/>
            <a:ext cx="3277383" cy="4478149"/>
          </a:xfrm>
          <a:prstGeom prst="rect">
            <a:avLst/>
          </a:prstGeom>
          <a:noFill/>
        </p:spPr>
        <p:txBody>
          <a:bodyPr wrap="square">
            <a:spAutoFit/>
          </a:bodyPr>
          <a:lstStyle/>
          <a:p>
            <a:pPr indent="457200" algn="just">
              <a:spcAft>
                <a:spcPts val="600"/>
              </a:spcAft>
            </a:pPr>
            <a:r>
              <a:rPr lang="zh-CN" altLang="en-US" sz="2000" dirty="0">
                <a:latin typeface="楷体" panose="02010609060101010101" pitchFamily="49" charset="-122"/>
                <a:ea typeface="楷体" panose="02010609060101010101" pitchFamily="49" charset="-122"/>
                <a:sym typeface="Cambria" panose="02040503050406030204" pitchFamily="18" charset="0"/>
              </a:rPr>
              <a:t>国证航天指数</a:t>
            </a:r>
            <a:r>
              <a:rPr lang="en-US" altLang="zh-CN" sz="2000" dirty="0">
                <a:latin typeface="楷体" panose="02010609060101010101" pitchFamily="49" charset="-122"/>
                <a:ea typeface="楷体" panose="02010609060101010101" pitchFamily="49" charset="-122"/>
                <a:sym typeface="Cambria" panose="02040503050406030204" pitchFamily="18" charset="0"/>
              </a:rPr>
              <a:t>3</a:t>
            </a:r>
            <a:r>
              <a:rPr lang="zh-CN" altLang="en-US" sz="2000" dirty="0">
                <a:latin typeface="楷体" panose="02010609060101010101" pitchFamily="49" charset="-122"/>
                <a:ea typeface="楷体" panose="02010609060101010101" pitchFamily="49" charset="-122"/>
                <a:sym typeface="Cambria" panose="02040503050406030204" pitchFamily="18" charset="0"/>
              </a:rPr>
              <a:t>月下跌</a:t>
            </a:r>
            <a:r>
              <a:rPr lang="en-US" altLang="zh-CN" sz="2000" dirty="0">
                <a:latin typeface="楷体" panose="02010609060101010101" pitchFamily="49" charset="-122"/>
                <a:ea typeface="楷体" panose="02010609060101010101" pitchFamily="49" charset="-122"/>
                <a:sym typeface="Cambria" panose="02040503050406030204" pitchFamily="18" charset="0"/>
              </a:rPr>
              <a:t>16.1%</a:t>
            </a:r>
            <a:r>
              <a:rPr lang="zh-CN" altLang="en-US" sz="2000" dirty="0">
                <a:latin typeface="楷体" panose="02010609060101010101" pitchFamily="49" charset="-122"/>
                <a:ea typeface="楷体" panose="02010609060101010101" pitchFamily="49" charset="-122"/>
                <a:sym typeface="Cambria" panose="02040503050406030204" pitchFamily="18" charset="0"/>
              </a:rPr>
              <a:t>。</a:t>
            </a:r>
            <a:endParaRPr lang="en-US" altLang="zh-CN" sz="2000" dirty="0">
              <a:latin typeface="楷体" panose="02010609060101010101" pitchFamily="49" charset="-122"/>
              <a:ea typeface="楷体" panose="02010609060101010101" pitchFamily="49" charset="-122"/>
              <a:sym typeface="Cambria" panose="02040503050406030204" pitchFamily="18" charset="0"/>
            </a:endParaRPr>
          </a:p>
          <a:p>
            <a:pPr indent="457200" algn="just">
              <a:spcAft>
                <a:spcPts val="600"/>
              </a:spcAft>
            </a:pPr>
            <a:r>
              <a:rPr lang="zh-CN" altLang="en-US" sz="2000" dirty="0">
                <a:latin typeface="楷体" panose="02010609060101010101" pitchFamily="49" charset="-122"/>
                <a:ea typeface="楷体" panose="02010609060101010101" pitchFamily="49" charset="-122"/>
              </a:rPr>
              <a:t>中国航空航天产业迎来历史性拐点，首次被写入政府工作报告并列为国家新兴支柱产业，标志着行业从“国家队主导”全面转向“市场化、产业化、规模化”发展新阶段。在政策定调、星座组网、火箭迭代、产业协同、场景拓展五大维度同步突破，正式迈入万亿级市场爆发前夜，成为支撑中国新质生产力发展的战略引擎。</a:t>
            </a:r>
            <a:endParaRPr lang="en-US" altLang="zh-CN" sz="2000" dirty="0">
              <a:latin typeface="楷体" panose="02010609060101010101" pitchFamily="49" charset="-122"/>
              <a:ea typeface="楷体" panose="02010609060101010101" pitchFamily="49" charset="-122"/>
              <a:sym typeface="Cambria" panose="02040503050406030204" pitchFamily="18" charset="0"/>
            </a:endParaRPr>
          </a:p>
        </p:txBody>
      </p:sp>
      <p:sp>
        <p:nvSpPr>
          <p:cNvPr id="12" name="矩形 11">
            <a:extLst>
              <a:ext uri="{FF2B5EF4-FFF2-40B4-BE49-F238E27FC236}">
                <a16:creationId xmlns:a16="http://schemas.microsoft.com/office/drawing/2014/main" id="{60F4DE27-8ACF-CC14-C5AF-C4DA5CAC89D6}"/>
              </a:ext>
            </a:extLst>
          </p:cNvPr>
          <p:cNvSpPr/>
          <p:nvPr/>
        </p:nvSpPr>
        <p:spPr>
          <a:xfrm>
            <a:off x="4343155" y="2788604"/>
            <a:ext cx="2476653" cy="559769"/>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85</a:t>
            </a:r>
          </a:p>
        </p:txBody>
      </p:sp>
      <p:sp>
        <p:nvSpPr>
          <p:cNvPr id="88" name="矩形 87">
            <a:extLst>
              <a:ext uri="{FF2B5EF4-FFF2-40B4-BE49-F238E27FC236}">
                <a16:creationId xmlns:a16="http://schemas.microsoft.com/office/drawing/2014/main" id="{07CFA2C1-D579-2673-680D-B1BA6C0855A8}"/>
              </a:ext>
            </a:extLst>
          </p:cNvPr>
          <p:cNvSpPr/>
          <p:nvPr/>
        </p:nvSpPr>
        <p:spPr>
          <a:xfrm>
            <a:off x="2508765" y="6744045"/>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a:extLst>
              <a:ext uri="{FF2B5EF4-FFF2-40B4-BE49-F238E27FC236}">
                <a16:creationId xmlns:a16="http://schemas.microsoft.com/office/drawing/2014/main" id="{2354C8E5-BC26-76C1-594E-77534DE2D50C}"/>
              </a:ext>
            </a:extLst>
          </p:cNvPr>
          <p:cNvCxnSpPr/>
          <p:nvPr/>
        </p:nvCxnSpPr>
        <p:spPr>
          <a:xfrm>
            <a:off x="4715040" y="6970430"/>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8F8D1F6F-7B8F-3C92-11FA-408107EF9817}"/>
              </a:ext>
            </a:extLst>
          </p:cNvPr>
          <p:cNvCxnSpPr/>
          <p:nvPr/>
        </p:nvCxnSpPr>
        <p:spPr>
          <a:xfrm>
            <a:off x="594309" y="7020701"/>
            <a:ext cx="1997356" cy="0"/>
          </a:xfrm>
          <a:prstGeom prst="line">
            <a:avLst/>
          </a:prstGeom>
        </p:spPr>
        <p:style>
          <a:lnRef idx="1">
            <a:schemeClr val="accent1"/>
          </a:lnRef>
          <a:fillRef idx="0">
            <a:schemeClr val="accent1"/>
          </a:fillRef>
          <a:effectRef idx="0">
            <a:schemeClr val="accent1"/>
          </a:effectRef>
          <a:fontRef idx="minor">
            <a:schemeClr val="tx1"/>
          </a:fontRef>
        </p:style>
      </p:cxnSp>
      <p:pic>
        <p:nvPicPr>
          <p:cNvPr id="45" name="图片 44">
            <a:extLst>
              <a:ext uri="{FF2B5EF4-FFF2-40B4-BE49-F238E27FC236}">
                <a16:creationId xmlns:a16="http://schemas.microsoft.com/office/drawing/2014/main" id="{367DA754-5C21-0AD4-FC7C-15E5EEE2D6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2358" y="7384384"/>
            <a:ext cx="2239307" cy="3844655"/>
          </a:xfrm>
          <a:prstGeom prst="rect">
            <a:avLst/>
          </a:prstGeom>
        </p:spPr>
      </p:pic>
      <p:sp>
        <p:nvSpPr>
          <p:cNvPr id="25" name="椭圆 24">
            <a:extLst>
              <a:ext uri="{FF2B5EF4-FFF2-40B4-BE49-F238E27FC236}">
                <a16:creationId xmlns:a16="http://schemas.microsoft.com/office/drawing/2014/main" id="{F03DE0CA-354C-1EBA-66E1-6F66F9E6ECB1}"/>
              </a:ext>
            </a:extLst>
          </p:cNvPr>
          <p:cNvSpPr/>
          <p:nvPr/>
        </p:nvSpPr>
        <p:spPr>
          <a:xfrm>
            <a:off x="4022690" y="3450421"/>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cxnSp>
        <p:nvCxnSpPr>
          <p:cNvPr id="40" name="直线连接符 45">
            <a:extLst>
              <a:ext uri="{FF2B5EF4-FFF2-40B4-BE49-F238E27FC236}">
                <a16:creationId xmlns:a16="http://schemas.microsoft.com/office/drawing/2014/main" id="{F04BB76B-49DC-13DC-278F-A2AD54BEEB65}"/>
              </a:ext>
            </a:extLst>
          </p:cNvPr>
          <p:cNvCxnSpPr/>
          <p:nvPr/>
        </p:nvCxnSpPr>
        <p:spPr>
          <a:xfrm>
            <a:off x="2790858" y="9385886"/>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94479FDF-B8DE-E6A6-2750-957CCDE293FF}"/>
              </a:ext>
            </a:extLst>
          </p:cNvPr>
          <p:cNvSpPr/>
          <p:nvPr/>
        </p:nvSpPr>
        <p:spPr>
          <a:xfrm>
            <a:off x="2736251" y="8274034"/>
            <a:ext cx="3650579" cy="1323439"/>
          </a:xfrm>
          <a:prstGeom prst="rect">
            <a:avLst/>
          </a:prstGeom>
        </p:spPr>
        <p:txBody>
          <a:bodyPr wrap="square">
            <a:spAutoFit/>
          </a:bodyPr>
          <a:lstStyle/>
          <a:p>
            <a:pPr algn="just"/>
            <a:r>
              <a:rPr lang="zh-CN" altLang="en-US" sz="1600" b="1" dirty="0">
                <a:latin typeface="楷体" panose="02010609060101010101" pitchFamily="49" charset="-122"/>
                <a:ea typeface="楷体" panose="02010609060101010101" pitchFamily="49" charset="-122"/>
              </a:rPr>
              <a:t>国家战略升格</a:t>
            </a:r>
            <a:endParaRPr lang="en-US" altLang="zh-CN" sz="1600" b="1" dirty="0">
              <a:latin typeface="楷体" panose="02010609060101010101" pitchFamily="49" charset="-122"/>
              <a:ea typeface="楷体" panose="02010609060101010101" pitchFamily="49" charset="-122"/>
            </a:endParaRPr>
          </a:p>
          <a:p>
            <a:r>
              <a:rPr lang="en-US" altLang="zh-CN" sz="1600" dirty="0">
                <a:latin typeface="楷体" panose="02010609060101010101" pitchFamily="49" charset="-122"/>
                <a:ea typeface="楷体" panose="02010609060101010101" pitchFamily="49" charset="-122"/>
              </a:rPr>
              <a:t>2026</a:t>
            </a:r>
            <a:r>
              <a:rPr lang="zh-CN" altLang="en-US" sz="1600" dirty="0">
                <a:latin typeface="楷体" panose="02010609060101010101" pitchFamily="49" charset="-122"/>
                <a:ea typeface="楷体" panose="02010609060101010101" pitchFamily="49" charset="-122"/>
              </a:rPr>
              <a:t>年政府工作报告首次将航空航天列为新兴支柱产业，确立其在新质生产力中的核心地位。</a:t>
            </a:r>
            <a:br>
              <a:rPr lang="zh-CN" altLang="en-US" sz="1600" dirty="0">
                <a:latin typeface="楷体" panose="02010609060101010101" pitchFamily="49" charset="-122"/>
                <a:ea typeface="楷体" panose="02010609060101010101" pitchFamily="49" charset="-122"/>
              </a:rPr>
            </a:br>
            <a:endParaRPr lang="zh-CN" altLang="en-US" sz="1600" dirty="0">
              <a:latin typeface="楷体" panose="02010609060101010101" pitchFamily="49" charset="-122"/>
              <a:ea typeface="楷体" panose="02010609060101010101" pitchFamily="49" charset="-122"/>
            </a:endParaRPr>
          </a:p>
        </p:txBody>
      </p:sp>
      <p:sp>
        <p:nvSpPr>
          <p:cNvPr id="27" name="文本框 26">
            <a:extLst>
              <a:ext uri="{FF2B5EF4-FFF2-40B4-BE49-F238E27FC236}">
                <a16:creationId xmlns:a16="http://schemas.microsoft.com/office/drawing/2014/main" id="{61331384-2790-E60B-50D8-840E26AA8D2D}"/>
              </a:ext>
            </a:extLst>
          </p:cNvPr>
          <p:cNvSpPr txBox="1"/>
          <p:nvPr/>
        </p:nvSpPr>
        <p:spPr>
          <a:xfrm>
            <a:off x="2661986" y="7196816"/>
            <a:ext cx="3647147" cy="1077218"/>
          </a:xfrm>
          <a:prstGeom prst="rect">
            <a:avLst/>
          </a:prstGeom>
          <a:noFill/>
        </p:spPr>
        <p:txBody>
          <a:bodyPr wrap="square" rtlCol="0">
            <a:spAutoFit/>
          </a:bodyPr>
          <a:lstStyle/>
          <a:p>
            <a:pPr algn="just"/>
            <a:r>
              <a:rPr lang="zh-CN" altLang="en-US" sz="1600" b="1" dirty="0">
                <a:latin typeface="楷体" panose="02010609060101010101" pitchFamily="49" charset="-122"/>
                <a:ea typeface="楷体" panose="02010609060101010101" pitchFamily="49" charset="-122"/>
              </a:rPr>
              <a:t>卫星互联网规模化组网启动</a:t>
            </a:r>
            <a:endParaRPr lang="en-US" altLang="zh-CN" sz="1600" b="1" dirty="0">
              <a:latin typeface="楷体" panose="02010609060101010101" pitchFamily="49" charset="-122"/>
              <a:ea typeface="楷体" panose="02010609060101010101" pitchFamily="49" charset="-122"/>
            </a:endParaRPr>
          </a:p>
          <a:p>
            <a:r>
              <a:rPr lang="zh-CN" altLang="en-US" sz="1600" dirty="0">
                <a:latin typeface="楷体" panose="02010609060101010101" pitchFamily="49" charset="-122"/>
                <a:ea typeface="楷体" panose="02010609060101010101" pitchFamily="49" charset="-122"/>
              </a:rPr>
              <a:t>中国星网工程进入高密度发射阶段，</a:t>
            </a:r>
            <a:r>
              <a:rPr lang="en-US" altLang="zh-CN" sz="1600" dirty="0">
                <a:latin typeface="楷体" panose="02010609060101010101" pitchFamily="49" charset="-122"/>
                <a:ea typeface="楷体" panose="02010609060101010101" pitchFamily="49" charset="-122"/>
              </a:rPr>
              <a:t>3</a:t>
            </a:r>
            <a:r>
              <a:rPr lang="zh-CN" altLang="en-US" sz="1600" dirty="0">
                <a:latin typeface="楷体" panose="02010609060101010101" pitchFamily="49" charset="-122"/>
                <a:ea typeface="楷体" panose="02010609060101010101" pitchFamily="49" charset="-122"/>
              </a:rPr>
              <a:t>月维持月均</a:t>
            </a:r>
            <a:r>
              <a:rPr lang="en-US" altLang="zh-CN" sz="1600" dirty="0">
                <a:latin typeface="楷体" panose="02010609060101010101" pitchFamily="49" charset="-122"/>
                <a:ea typeface="楷体" panose="02010609060101010101" pitchFamily="49" charset="-122"/>
              </a:rPr>
              <a:t>2–3</a:t>
            </a:r>
            <a:r>
              <a:rPr lang="zh-CN" altLang="en-US" sz="1600" dirty="0">
                <a:latin typeface="楷体" panose="02010609060101010101" pitchFamily="49" charset="-122"/>
                <a:ea typeface="楷体" panose="02010609060101010101" pitchFamily="49" charset="-122"/>
              </a:rPr>
              <a:t>次低轨卫星发射节奏。</a:t>
            </a:r>
            <a:br>
              <a:rPr lang="zh-CN" altLang="en-US" sz="1600" dirty="0">
                <a:latin typeface="楷体" panose="02010609060101010101" pitchFamily="49" charset="-122"/>
                <a:ea typeface="楷体" panose="02010609060101010101" pitchFamily="49" charset="-122"/>
              </a:rPr>
            </a:br>
            <a:endParaRPr lang="zh-CN" altLang="en-US" sz="1600" dirty="0">
              <a:latin typeface="楷体" panose="02010609060101010101" pitchFamily="49" charset="-122"/>
              <a:ea typeface="楷体" panose="02010609060101010101" pitchFamily="49" charset="-122"/>
            </a:endParaRPr>
          </a:p>
        </p:txBody>
      </p:sp>
      <p:pic>
        <p:nvPicPr>
          <p:cNvPr id="26" name="图片 25" descr="风向标头图">
            <a:extLst>
              <a:ext uri="{FF2B5EF4-FFF2-40B4-BE49-F238E27FC236}">
                <a16:creationId xmlns:a16="http://schemas.microsoft.com/office/drawing/2014/main" id="{AA849B6D-872F-13CF-0C08-0F06A7E18FF6}"/>
              </a:ext>
            </a:extLst>
          </p:cNvPr>
          <p:cNvPicPr>
            <a:picLocks noChangeAspect="1"/>
          </p:cNvPicPr>
          <p:nvPr/>
        </p:nvPicPr>
        <p:blipFill>
          <a:blip r:embed="rId4"/>
          <a:stretch>
            <a:fillRect/>
          </a:stretch>
        </p:blipFill>
        <p:spPr>
          <a:xfrm>
            <a:off x="0" y="-635"/>
            <a:ext cx="6858000" cy="1920536"/>
          </a:xfrm>
          <a:prstGeom prst="rect">
            <a:avLst/>
          </a:prstGeom>
        </p:spPr>
      </p:pic>
      <p:sp>
        <p:nvSpPr>
          <p:cNvPr id="35" name="文本框 34">
            <a:extLst>
              <a:ext uri="{FF2B5EF4-FFF2-40B4-BE49-F238E27FC236}">
                <a16:creationId xmlns:a16="http://schemas.microsoft.com/office/drawing/2014/main" id="{354B20FB-0C36-B1D4-BB36-6C7FE3C8AD9C}"/>
              </a:ext>
            </a:extLst>
          </p:cNvPr>
          <p:cNvSpPr txBox="1"/>
          <p:nvPr/>
        </p:nvSpPr>
        <p:spPr>
          <a:xfrm>
            <a:off x="529590" y="302260"/>
            <a:ext cx="5408295" cy="1077218"/>
          </a:xfrm>
          <a:prstGeom prst="rect">
            <a:avLst/>
          </a:prstGeom>
          <a:noFill/>
        </p:spPr>
        <p:txBody>
          <a:bodyPr wrap="square" rtlCol="0">
            <a:spAutoFit/>
          </a:bodyPr>
          <a:lstStyle/>
          <a:p>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航天</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159267</a:t>
            </a:r>
          </a:p>
        </p:txBody>
      </p:sp>
      <p:sp>
        <p:nvSpPr>
          <p:cNvPr id="37" name="文本框 36">
            <a:extLst>
              <a:ext uri="{FF2B5EF4-FFF2-40B4-BE49-F238E27FC236}">
                <a16:creationId xmlns:a16="http://schemas.microsoft.com/office/drawing/2014/main" id="{35BB6ED2-61DC-1DC4-A601-49546B2B10FB}"/>
              </a:ext>
            </a:extLst>
          </p:cNvPr>
          <p:cNvSpPr txBox="1"/>
          <p:nvPr/>
        </p:nvSpPr>
        <p:spPr>
          <a:xfrm>
            <a:off x="445919" y="1479500"/>
            <a:ext cx="5053330" cy="503555"/>
          </a:xfrm>
          <a:prstGeom prst="rect">
            <a:avLst/>
          </a:prstGeom>
          <a:noFill/>
        </p:spPr>
        <p:txBody>
          <a:bodyPr wrap="square" rtlCol="0">
            <a:noAutofit/>
          </a:bodyPr>
          <a:lstStyle/>
          <a:p>
            <a:r>
              <a:rPr lang="zh-CN" altLang="en-US">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a:solidFill>
                  <a:schemeClr val="bg1"/>
                </a:solidFill>
                <a:latin typeface="Arial" panose="020B0604020202020204" pitchFamily="34" charset="0"/>
                <a:ea typeface="Microsoft YaHei Regular" panose="020B0502040204020203" charset="-122"/>
                <a:cs typeface="Arial" panose="020B0604020202020204" pitchFamily="34" charset="0"/>
              </a:rPr>
              <a:t>A</a:t>
            </a:r>
            <a:r>
              <a:rPr lang="zh-CN" altLang="en-US">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a:solidFill>
                  <a:schemeClr val="bg1"/>
                </a:solidFill>
                <a:latin typeface="Arial" panose="020B0604020202020204" pitchFamily="34" charset="0"/>
                <a:ea typeface="Microsoft YaHei Regular" panose="020B0502040204020203" charset="-122"/>
                <a:cs typeface="Arial" panose="020B0604020202020204" pitchFamily="34" charset="0"/>
              </a:rPr>
              <a:t>025732   </a:t>
            </a:r>
            <a:r>
              <a:rPr lang="zh-CN" altLang="en-US">
                <a:solidFill>
                  <a:schemeClr val="bg1"/>
                </a:solidFill>
                <a:latin typeface="Arial" panose="020B0604020202020204" pitchFamily="34" charset="0"/>
                <a:ea typeface="Microsoft YaHei Regular" panose="020B0502040204020203" charset="-122"/>
                <a:cs typeface="Arial" panose="020B0604020202020204" pitchFamily="34" charset="0"/>
              </a:rPr>
              <a:t>联接</a:t>
            </a:r>
            <a:r>
              <a:rPr lang="en-US" altLang="zh-CN">
                <a:solidFill>
                  <a:schemeClr val="bg1"/>
                </a:solidFill>
                <a:latin typeface="Arial" panose="020B0604020202020204" pitchFamily="34" charset="0"/>
                <a:ea typeface="Microsoft YaHei Regular" panose="020B0502040204020203" charset="-122"/>
                <a:cs typeface="Arial" panose="020B0604020202020204" pitchFamily="34" charset="0"/>
              </a:rPr>
              <a:t>C</a:t>
            </a:r>
            <a:r>
              <a:rPr lang="zh-CN" altLang="en-US">
                <a:solidFill>
                  <a:schemeClr val="bg1"/>
                </a:solidFill>
                <a:latin typeface="Arial" panose="020B0604020202020204" pitchFamily="34" charset="0"/>
                <a:ea typeface="Microsoft YaHei Regular" panose="020B0502040204020203" charset="-122"/>
                <a:cs typeface="Arial" panose="020B0604020202020204" pitchFamily="34" charset="0"/>
              </a:rPr>
              <a:t>：</a:t>
            </a:r>
            <a:r>
              <a:rPr lang="en-US" altLang="zh-CN">
                <a:solidFill>
                  <a:schemeClr val="bg1"/>
                </a:solidFill>
                <a:latin typeface="Arial" panose="020B0604020202020204" pitchFamily="34" charset="0"/>
                <a:ea typeface="Microsoft YaHei Regular" panose="020B0502040204020203" charset="-122"/>
                <a:cs typeface="Arial" panose="020B0604020202020204" pitchFamily="34" charset="0"/>
              </a:rPr>
              <a:t>025733</a:t>
            </a:r>
            <a:endParaRPr lang="en-US" altLang="zh-CN" dirty="0">
              <a:solidFill>
                <a:schemeClr val="bg1"/>
              </a:solidFill>
              <a:latin typeface="Arial" panose="020B0604020202020204" pitchFamily="34" charset="0"/>
              <a:ea typeface="Microsoft YaHei Regular" panose="020B0502040204020203" charset="-122"/>
              <a:cs typeface="Arial" panose="020B0604020202020204" pitchFamily="34" charset="0"/>
            </a:endParaRPr>
          </a:p>
        </p:txBody>
      </p:sp>
      <p:sp>
        <p:nvSpPr>
          <p:cNvPr id="38" name="矩形 37">
            <a:extLst>
              <a:ext uri="{FF2B5EF4-FFF2-40B4-BE49-F238E27FC236}">
                <a16:creationId xmlns:a16="http://schemas.microsoft.com/office/drawing/2014/main" id="{CE8656D2-731A-25F8-C515-82D15C7EF147}"/>
              </a:ext>
            </a:extLst>
          </p:cNvPr>
          <p:cNvSpPr/>
          <p:nvPr/>
        </p:nvSpPr>
        <p:spPr>
          <a:xfrm flipH="1">
            <a:off x="318770" y="438150"/>
            <a:ext cx="86360" cy="805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pic>
        <p:nvPicPr>
          <p:cNvPr id="2" name="图片 1" descr="资源 1">
            <a:extLst>
              <a:ext uri="{FF2B5EF4-FFF2-40B4-BE49-F238E27FC236}">
                <a16:creationId xmlns:a16="http://schemas.microsoft.com/office/drawing/2014/main" id="{612CC163-F49E-5134-D8BB-96A13DA0A9C3}"/>
              </a:ext>
            </a:extLst>
          </p:cNvPr>
          <p:cNvPicPr>
            <a:picLocks noChangeAspect="1"/>
          </p:cNvPicPr>
          <p:nvPr>
            <p:custDataLst>
              <p:tags r:id="rId1"/>
            </p:custDataLst>
          </p:nvPr>
        </p:nvPicPr>
        <p:blipFill>
          <a:blip r:embed="rId5"/>
          <a:stretch>
            <a:fillRect/>
          </a:stretch>
        </p:blipFill>
        <p:spPr>
          <a:xfrm>
            <a:off x="4674870" y="179070"/>
            <a:ext cx="1711960" cy="438150"/>
          </a:xfrm>
          <a:prstGeom prst="rect">
            <a:avLst/>
          </a:prstGeom>
        </p:spPr>
      </p:pic>
      <p:graphicFrame>
        <p:nvGraphicFramePr>
          <p:cNvPr id="24" name="图表 23">
            <a:extLst>
              <a:ext uri="{FF2B5EF4-FFF2-40B4-BE49-F238E27FC236}">
                <a16:creationId xmlns:a16="http://schemas.microsoft.com/office/drawing/2014/main" id="{F2074EE1-9733-9D6E-9C92-D86F42197F13}"/>
              </a:ext>
            </a:extLst>
          </p:cNvPr>
          <p:cNvGraphicFramePr>
            <a:graphicFrameLocks/>
          </p:cNvGraphicFramePr>
          <p:nvPr/>
        </p:nvGraphicFramePr>
        <p:xfrm>
          <a:off x="3965146" y="3319625"/>
          <a:ext cx="2739574" cy="2838991"/>
        </p:xfrm>
        <a:graphic>
          <a:graphicData uri="http://schemas.openxmlformats.org/drawingml/2006/chart">
            <c:chart xmlns:c="http://schemas.openxmlformats.org/drawingml/2006/chart" xmlns:r="http://schemas.openxmlformats.org/officeDocument/2006/relationships" r:id="rId6"/>
          </a:graphicData>
        </a:graphic>
      </p:graphicFrame>
      <p:cxnSp>
        <p:nvCxnSpPr>
          <p:cNvPr id="21" name="直线连接符 43">
            <a:extLst>
              <a:ext uri="{FF2B5EF4-FFF2-40B4-BE49-F238E27FC236}">
                <a16:creationId xmlns:a16="http://schemas.microsoft.com/office/drawing/2014/main" id="{309853B0-65A3-673C-C58F-FD246C3B20CC}"/>
              </a:ext>
            </a:extLst>
          </p:cNvPr>
          <p:cNvCxnSpPr/>
          <p:nvPr/>
        </p:nvCxnSpPr>
        <p:spPr>
          <a:xfrm>
            <a:off x="2786170" y="8118210"/>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747276" y="9510451"/>
            <a:ext cx="3628528" cy="1077218"/>
          </a:xfrm>
          <a:prstGeom prst="rect">
            <a:avLst/>
          </a:prstGeom>
        </p:spPr>
        <p:txBody>
          <a:bodyPr wrap="square">
            <a:spAutoFit/>
          </a:bodyPr>
          <a:lstStyle/>
          <a:p>
            <a:r>
              <a:rPr lang="zh-CN" altLang="en-US" sz="1600" b="1" dirty="0">
                <a:latin typeface="楷体" panose="02010609060101010101" pitchFamily="49" charset="-122"/>
                <a:ea typeface="楷体" panose="02010609060101010101" pitchFamily="49" charset="-122"/>
              </a:rPr>
              <a:t>新一代运载火箭密集推进</a:t>
            </a:r>
            <a:endParaRPr lang="en-US" altLang="zh-CN" sz="1600" b="1" dirty="0">
              <a:latin typeface="楷体" panose="02010609060101010101" pitchFamily="49" charset="-122"/>
              <a:ea typeface="楷体" panose="02010609060101010101" pitchFamily="49" charset="-122"/>
            </a:endParaRPr>
          </a:p>
          <a:p>
            <a:r>
              <a:rPr lang="zh-CN" altLang="en-US" sz="1600" dirty="0">
                <a:latin typeface="楷体" panose="02010609060101010101" pitchFamily="49" charset="-122"/>
                <a:ea typeface="楷体" panose="02010609060101010101" pitchFamily="49" charset="-122"/>
              </a:rPr>
              <a:t>长征十二号乙与双曲线三号等新型可回收火箭加速首飞进程，推动运载能力与复用技术升级。</a:t>
            </a:r>
          </a:p>
        </p:txBody>
      </p:sp>
      <p:cxnSp>
        <p:nvCxnSpPr>
          <p:cNvPr id="28" name="直线连接符 43"/>
          <p:cNvCxnSpPr/>
          <p:nvPr/>
        </p:nvCxnSpPr>
        <p:spPr>
          <a:xfrm>
            <a:off x="2790857" y="10753412"/>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731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76324" y="2176992"/>
            <a:ext cx="3066205" cy="4124206"/>
          </a:xfrm>
          <a:prstGeom prst="rect">
            <a:avLst/>
          </a:prstGeom>
          <a:noFill/>
        </p:spPr>
        <p:txBody>
          <a:bodyPr wrap="square">
            <a:spAutoFit/>
          </a:bodyPr>
          <a:lstStyle/>
          <a:p>
            <a:pPr indent="457200" algn="just">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申万食品饮料指数</a:t>
            </a: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sym typeface="Cambria" panose="02040503050406030204" pitchFamily="18" charset="0"/>
              </a:rPr>
              <a:t>月下跌</a:t>
            </a:r>
            <a:r>
              <a:rPr lang="en-US" altLang="zh-CN" dirty="0">
                <a:latin typeface="楷体" panose="02010609060101010101" pitchFamily="49" charset="-122"/>
                <a:ea typeface="楷体" panose="02010609060101010101" pitchFamily="49" charset="-122"/>
                <a:sym typeface="Cambria" panose="02040503050406030204" pitchFamily="18" charset="0"/>
              </a:rPr>
              <a:t>3.51%</a:t>
            </a:r>
            <a:r>
              <a:rPr lang="zh-CN" altLang="en-US" dirty="0">
                <a:latin typeface="楷体" panose="02010609060101010101" pitchFamily="49" charset="-122"/>
                <a:ea typeface="楷体" panose="02010609060101010101" pitchFamily="49" charset="-122"/>
                <a:sym typeface="Cambria" panose="02040503050406030204" pitchFamily="18" charset="0"/>
              </a:rPr>
              <a:t>。</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indent="457200" algn="just">
              <a:spcAft>
                <a:spcPts val="600"/>
              </a:spcAft>
            </a:pP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sym typeface="Cambria" panose="02040503050406030204" pitchFamily="18" charset="0"/>
              </a:rPr>
              <a:t>月，</a:t>
            </a:r>
            <a:r>
              <a:rPr lang="en-US" altLang="zh-CN" dirty="0">
                <a:latin typeface="楷体" panose="02010609060101010101" pitchFamily="49" charset="-122"/>
                <a:ea typeface="楷体" panose="02010609060101010101" pitchFamily="49" charset="-122"/>
                <a:sym typeface="Cambria" panose="02040503050406030204" pitchFamily="18" charset="0"/>
              </a:rPr>
              <a:t>A</a:t>
            </a:r>
            <a:r>
              <a:rPr lang="zh-CN" altLang="en-US" dirty="0">
                <a:latin typeface="楷体" panose="02010609060101010101" pitchFamily="49" charset="-122"/>
                <a:ea typeface="楷体" panose="02010609060101010101" pitchFamily="49" charset="-122"/>
                <a:sym typeface="Cambria" panose="02040503050406030204" pitchFamily="18" charset="0"/>
              </a:rPr>
              <a:t>股白酒板块承压明显，食品饮料整体延续调整态势。</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indent="457200" algn="just">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当前，消费板块虽未主导市场风格，但其内在的长期增长逻辑与近期的估值性价比正在凸显。食品饮料板块当前处于​估值低位</a:t>
            </a:r>
            <a:r>
              <a:rPr lang="en-US" altLang="zh-CN" dirty="0">
                <a:latin typeface="楷体" panose="02010609060101010101" pitchFamily="49" charset="-122"/>
                <a:ea typeface="楷体" panose="02010609060101010101" pitchFamily="49" charset="-122"/>
                <a:sym typeface="Cambria" panose="02040503050406030204" pitchFamily="18" charset="0"/>
              </a:rPr>
              <a:t>+</a:t>
            </a:r>
            <a:r>
              <a:rPr lang="zh-CN" altLang="en-US" dirty="0">
                <a:latin typeface="楷体" panose="02010609060101010101" pitchFamily="49" charset="-122"/>
                <a:ea typeface="楷体" panose="02010609060101010101" pitchFamily="49" charset="-122"/>
                <a:sym typeface="Cambria" panose="02040503050406030204" pitchFamily="18" charset="0"/>
              </a:rPr>
              <a:t>结构分化​的配置窗口，投资逻辑可围绕​政策红利、细分赛道景气度、龙头估值修复​三大主线展开。</a:t>
            </a:r>
            <a:endParaRPr lang="en-US" altLang="zh-CN" dirty="0">
              <a:latin typeface="楷体" panose="02010609060101010101" pitchFamily="49" charset="-122"/>
              <a:ea typeface="楷体" panose="02010609060101010101" pitchFamily="49" charset="-122"/>
              <a:sym typeface="Cambria" panose="02040503050406030204" pitchFamily="18" charset="0"/>
            </a:endParaRPr>
          </a:p>
        </p:txBody>
      </p:sp>
      <p:sp>
        <p:nvSpPr>
          <p:cNvPr id="12" name="矩形 11"/>
          <p:cNvSpPr/>
          <p:nvPr/>
        </p:nvSpPr>
        <p:spPr>
          <a:xfrm>
            <a:off x="4273874" y="2522441"/>
            <a:ext cx="3370637"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86</a:t>
            </a:r>
          </a:p>
        </p:txBody>
      </p:sp>
      <p:sp>
        <p:nvSpPr>
          <p:cNvPr id="88" name="矩形 87"/>
          <p:cNvSpPr/>
          <p:nvPr/>
        </p:nvSpPr>
        <p:spPr>
          <a:xfrm>
            <a:off x="2522528" y="6137091"/>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69993" y="6373261"/>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68000" y="6373261"/>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4022690" y="3320609"/>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9" name="圆角矩形 28"/>
          <p:cNvSpPr/>
          <p:nvPr/>
        </p:nvSpPr>
        <p:spPr>
          <a:xfrm>
            <a:off x="2665356" y="8718639"/>
            <a:ext cx="3721474" cy="1327543"/>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r>
              <a:rPr lang="zh-CN" altLang="en-US" sz="1600" b="1" dirty="0">
                <a:solidFill>
                  <a:schemeClr val="tx1">
                    <a:lumMod val="75000"/>
                    <a:lumOff val="25000"/>
                  </a:schemeClr>
                </a:solidFill>
                <a:latin typeface="楷体" panose="02010609060101010101" pitchFamily="49" charset="-122"/>
                <a:ea typeface="楷体" panose="02010609060101010101" pitchFamily="49" charset="-122"/>
              </a:rPr>
              <a:t>政策定调转变</a:t>
            </a:r>
          </a:p>
          <a:p>
            <a:pPr marL="0" lvl="2" algn="just"/>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2026</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年工信部等三部委印发</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酿酒产业提质升级指导意见</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(2026-2030</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年</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，明确将酿酒产业界定为“传统优势产业、基础民生产业和历史经典产业”，政策基调从约束管控转向规范支持。</a:t>
            </a:r>
          </a:p>
        </p:txBody>
      </p:sp>
      <p:sp>
        <p:nvSpPr>
          <p:cNvPr id="33" name="圆角矩形 32"/>
          <p:cNvSpPr/>
          <p:nvPr/>
        </p:nvSpPr>
        <p:spPr>
          <a:xfrm>
            <a:off x="2738599" y="10604456"/>
            <a:ext cx="3563337" cy="761550"/>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r>
              <a:rPr lang="zh-CN" altLang="en-US" sz="1600" b="1" dirty="0">
                <a:solidFill>
                  <a:schemeClr val="tx1">
                    <a:lumMod val="75000"/>
                    <a:lumOff val="25000"/>
                  </a:schemeClr>
                </a:solidFill>
                <a:latin typeface="Cambria" panose="02040503050406030204" pitchFamily="18" charset="0"/>
                <a:ea typeface="楷体" panose="02010609060101010101" pitchFamily="49" charset="-122"/>
              </a:rPr>
              <a:t>板块呈现低估值、低预期、低持仓、高分红回报特点，投资性价比较高。</a:t>
            </a:r>
            <a:r>
              <a:rPr lang="zh-CN" altLang="en-US" sz="1600" dirty="0">
                <a:solidFill>
                  <a:schemeClr val="tx1"/>
                </a:solidFill>
                <a:latin typeface="Cambria" panose="02040503050406030204" pitchFamily="18" charset="0"/>
                <a:ea typeface="楷体" panose="02010609060101010101" pitchFamily="49" charset="-122"/>
              </a:rPr>
              <a:t>当前食品饮料指数</a:t>
            </a:r>
            <a:r>
              <a:rPr lang="en-US" altLang="zh-CN" sz="1600" dirty="0">
                <a:solidFill>
                  <a:schemeClr val="tx1"/>
                </a:solidFill>
                <a:latin typeface="Cambria" panose="02040503050406030204" pitchFamily="18" charset="0"/>
                <a:ea typeface="Cambria" panose="02040503050406030204" pitchFamily="18" charset="0"/>
              </a:rPr>
              <a:t>PE-TTM</a:t>
            </a:r>
            <a:r>
              <a:rPr lang="zh-CN" altLang="en-US" sz="1600" dirty="0">
                <a:solidFill>
                  <a:schemeClr val="tx1"/>
                </a:solidFill>
                <a:latin typeface="Cambria" panose="02040503050406030204" pitchFamily="18" charset="0"/>
                <a:ea typeface="楷体" panose="02010609060101010101" pitchFamily="49" charset="-122"/>
              </a:rPr>
              <a:t>仅为</a:t>
            </a:r>
            <a:r>
              <a:rPr lang="en-US" altLang="zh-CN" sz="1600" dirty="0">
                <a:solidFill>
                  <a:schemeClr val="tx1"/>
                </a:solidFill>
                <a:latin typeface="Cambria" panose="02040503050406030204" pitchFamily="18" charset="0"/>
                <a:ea typeface="楷体" panose="02010609060101010101" pitchFamily="49" charset="-122"/>
              </a:rPr>
              <a:t>22</a:t>
            </a:r>
            <a:r>
              <a:rPr lang="zh-CN" altLang="en-US" sz="1600" dirty="0">
                <a:solidFill>
                  <a:schemeClr val="tx1"/>
                </a:solidFill>
                <a:latin typeface="Cambria" panose="02040503050406030204" pitchFamily="18" charset="0"/>
                <a:ea typeface="楷体" panose="02010609060101010101" pitchFamily="49" charset="-122"/>
              </a:rPr>
              <a:t>倍，而多个龙头酒企股息率已经达到</a:t>
            </a:r>
            <a:r>
              <a:rPr lang="en-US" altLang="zh-CN" sz="1600" dirty="0">
                <a:solidFill>
                  <a:schemeClr val="tx1"/>
                </a:solidFill>
                <a:latin typeface="Cambria" panose="02040503050406030204" pitchFamily="18" charset="0"/>
                <a:ea typeface="楷体" panose="02010609060101010101" pitchFamily="49" charset="-122"/>
              </a:rPr>
              <a:t>4%</a:t>
            </a:r>
            <a:r>
              <a:rPr lang="zh-CN" altLang="en-US" sz="1600" dirty="0">
                <a:solidFill>
                  <a:schemeClr val="tx1"/>
                </a:solidFill>
                <a:latin typeface="Cambria" panose="02040503050406030204" pitchFamily="18" charset="0"/>
                <a:ea typeface="楷体" panose="02010609060101010101" pitchFamily="49" charset="-122"/>
              </a:rPr>
              <a:t>以上相对较高水平。</a:t>
            </a:r>
          </a:p>
        </p:txBody>
      </p:sp>
      <p:cxnSp>
        <p:nvCxnSpPr>
          <p:cNvPr id="34" name="直线连接符 43"/>
          <p:cNvCxnSpPr/>
          <p:nvPr/>
        </p:nvCxnSpPr>
        <p:spPr>
          <a:xfrm>
            <a:off x="2851664" y="8437449"/>
            <a:ext cx="334885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811505" y="10321420"/>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11505" y="11670936"/>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6" name="图表 25"/>
          <p:cNvGraphicFramePr/>
          <p:nvPr/>
        </p:nvGraphicFramePr>
        <p:xfrm>
          <a:off x="3927796" y="3176006"/>
          <a:ext cx="2739574" cy="2838991"/>
        </p:xfrm>
        <a:graphic>
          <a:graphicData uri="http://schemas.openxmlformats.org/drawingml/2006/chart">
            <c:chart xmlns:c="http://schemas.openxmlformats.org/drawingml/2006/chart" xmlns:r="http://schemas.openxmlformats.org/officeDocument/2006/relationships" r:id="rId3"/>
          </a:graphicData>
        </a:graphic>
      </p:graphicFrame>
      <p:sp>
        <p:nvSpPr>
          <p:cNvPr id="2" name="矩形 1"/>
          <p:cNvSpPr/>
          <p:nvPr/>
        </p:nvSpPr>
        <p:spPr>
          <a:xfrm>
            <a:off x="2811505" y="6598668"/>
            <a:ext cx="3575325" cy="1815882"/>
          </a:xfrm>
          <a:prstGeom prst="rect">
            <a:avLst/>
          </a:prstGeom>
        </p:spPr>
        <p:txBody>
          <a:bodyPr wrap="square">
            <a:spAutoFit/>
          </a:bodyPr>
          <a:lstStyle/>
          <a:p>
            <a:pPr marL="0" lvl="2" algn="just"/>
            <a:r>
              <a:rPr lang="zh-CN" altLang="en-US" sz="1600" b="1" dirty="0">
                <a:solidFill>
                  <a:schemeClr val="tx1">
                    <a:lumMod val="75000"/>
                    <a:lumOff val="25000"/>
                  </a:schemeClr>
                </a:solidFill>
                <a:latin typeface="楷体" panose="02010609060101010101" pitchFamily="49" charset="-122"/>
                <a:ea typeface="楷体" panose="02010609060101010101" pitchFamily="49" charset="-122"/>
              </a:rPr>
              <a:t>业绩验证期来临，分化加剧</a:t>
            </a:r>
          </a:p>
          <a:p>
            <a:pPr marL="0" lvl="2" algn="just"/>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3-4</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月是年报和一季报的业绩验证窗口期，市场核心关注点在于业绩是否已充分下修至“底部”或“稳态状态”。白酒企业自</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2025</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年三季度起进入显性“去库存”阶段，业绩加速出清已在市场预期之内。</a:t>
            </a:r>
          </a:p>
        </p:txBody>
      </p:sp>
      <p:pic>
        <p:nvPicPr>
          <p:cNvPr id="27" name="图片 26" descr="风向标头图"/>
          <p:cNvPicPr>
            <a:picLocks noChangeAspect="1"/>
          </p:cNvPicPr>
          <p:nvPr/>
        </p:nvPicPr>
        <p:blipFill>
          <a:blip r:embed="rId4"/>
          <a:stretch>
            <a:fillRect/>
          </a:stretch>
        </p:blipFill>
        <p:spPr>
          <a:xfrm>
            <a:off x="0" y="-635"/>
            <a:ext cx="6858000" cy="1920536"/>
          </a:xfrm>
          <a:prstGeom prst="rect">
            <a:avLst/>
          </a:prstGeom>
        </p:spPr>
      </p:pic>
      <p:sp>
        <p:nvSpPr>
          <p:cNvPr id="35" name="文本框 34"/>
          <p:cNvSpPr txBox="1"/>
          <p:nvPr/>
        </p:nvSpPr>
        <p:spPr>
          <a:xfrm>
            <a:off x="476324" y="596033"/>
            <a:ext cx="5054526" cy="1077218"/>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食品饮料</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516900</a:t>
            </a:r>
          </a:p>
        </p:txBody>
      </p:sp>
      <p:sp>
        <p:nvSpPr>
          <p:cNvPr id="36" name="矩形 35"/>
          <p:cNvSpPr/>
          <p:nvPr/>
        </p:nvSpPr>
        <p:spPr>
          <a:xfrm flipH="1">
            <a:off x="334588" y="778720"/>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37" name="文本框 36"/>
          <p:cNvSpPr txBox="1"/>
          <p:nvPr/>
        </p:nvSpPr>
        <p:spPr>
          <a:xfrm>
            <a:off x="447423" y="1435990"/>
            <a:ext cx="5053330" cy="503555"/>
          </a:xfrm>
          <a:prstGeom prst="rect">
            <a:avLst/>
          </a:prstGeom>
          <a:noFill/>
        </p:spPr>
        <p:txBody>
          <a:bodyPr wrap="square" rtlCol="0">
            <a:noAutofit/>
          </a:bodyPr>
          <a:lstStyle/>
          <a:p>
            <a:endPar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endParaRPr>
          </a:p>
        </p:txBody>
      </p:sp>
      <p:pic>
        <p:nvPicPr>
          <p:cNvPr id="38" name="图片 37" descr="资源 1"/>
          <p:cNvPicPr>
            <a:picLocks noChangeAspect="1"/>
          </p:cNvPicPr>
          <p:nvPr>
            <p:custDataLst>
              <p:tags r:id="rId1"/>
            </p:custDataLst>
          </p:nvPr>
        </p:nvPicPr>
        <p:blipFill>
          <a:blip r:embed="rId5"/>
          <a:stretch>
            <a:fillRect/>
          </a:stretch>
        </p:blipFill>
        <p:spPr>
          <a:xfrm>
            <a:off x="4674870" y="179070"/>
            <a:ext cx="1711960" cy="438150"/>
          </a:xfrm>
          <a:prstGeom prst="rect">
            <a:avLst/>
          </a:prstGeom>
        </p:spPr>
      </p:pic>
      <p:pic>
        <p:nvPicPr>
          <p:cNvPr id="21" name="图片 20"/>
          <p:cNvPicPr>
            <a:picLocks noChangeAspect="1"/>
          </p:cNvPicPr>
          <p:nvPr/>
        </p:nvPicPr>
        <p:blipFill>
          <a:blip r:embed="rId6" cstate="print">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tretch>
            <a:fillRect/>
          </a:stretch>
        </p:blipFill>
        <p:spPr>
          <a:xfrm>
            <a:off x="181064" y="7321384"/>
            <a:ext cx="2239307" cy="3844655"/>
          </a:xfrm>
          <a:prstGeom prst="rect">
            <a:avLst/>
          </a:prstGeom>
        </p:spPr>
      </p:pic>
    </p:spTree>
    <p:extLst>
      <p:ext uri="{BB962C8B-B14F-4D97-AF65-F5344CB8AC3E}">
        <p14:creationId xmlns:p14="http://schemas.microsoft.com/office/powerpoint/2010/main" val="1893869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635"/>
            <a:ext cx="6858000" cy="1920536"/>
            <a:chOff x="0" y="-635"/>
            <a:chExt cx="6858000" cy="1920536"/>
          </a:xfrm>
        </p:grpSpPr>
        <p:pic>
          <p:nvPicPr>
            <p:cNvPr id="2" name="图片 1" descr="风向标头图"/>
            <p:cNvPicPr>
              <a:picLocks noChangeAspect="1"/>
            </p:cNvPicPr>
            <p:nvPr/>
          </p:nvPicPr>
          <p:blipFill>
            <a:blip r:embed="rId3"/>
            <a:stretch>
              <a:fillRect/>
            </a:stretch>
          </p:blipFill>
          <p:spPr>
            <a:xfrm>
              <a:off x="0" y="-635"/>
              <a:ext cx="6858000" cy="1920536"/>
            </a:xfrm>
            <a:prstGeom prst="rect">
              <a:avLst/>
            </a:prstGeom>
          </p:spPr>
        </p:pic>
        <p:pic>
          <p:nvPicPr>
            <p:cNvPr id="3" name="图片 2"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39" name="文本框 38"/>
          <p:cNvSpPr txBox="1"/>
          <p:nvPr/>
        </p:nvSpPr>
        <p:spPr>
          <a:xfrm>
            <a:off x="2707320" y="10470963"/>
            <a:ext cx="3641814" cy="615553"/>
          </a:xfrm>
          <a:prstGeom prst="rect">
            <a:avLst/>
          </a:prstGeom>
          <a:noFill/>
        </p:spPr>
        <p:txBody>
          <a:bodyPr wrap="square" rtlCol="0">
            <a:spAutoFit/>
          </a:bodyPr>
          <a:lstStyle/>
          <a:p>
            <a:pPr marL="0" lvl="2" fontAlgn="base">
              <a:spcBef>
                <a:spcPct val="0"/>
              </a:spcBef>
              <a:spcAft>
                <a:spcPts val="600"/>
              </a:spcAft>
              <a:buClr>
                <a:schemeClr val="accent1"/>
              </a:buClr>
            </a:pPr>
            <a:r>
              <a:rPr lang="zh-CN" altLang="en-US" sz="2000" b="1" dirty="0">
                <a:solidFill>
                  <a:schemeClr val="tx1">
                    <a:lumMod val="75000"/>
                    <a:lumOff val="25000"/>
                  </a:schemeClr>
                </a:solidFill>
                <a:latin typeface="Cambria" panose="02040503050406030204" pitchFamily="18" charset="0"/>
                <a:ea typeface="楷体" panose="02010609060101010101" pitchFamily="49" charset="-122"/>
              </a:rPr>
              <a:t>基本面边际改善</a:t>
            </a:r>
            <a:r>
              <a:rPr lang="en-US" altLang="zh-CN" sz="2000" b="1" dirty="0">
                <a:solidFill>
                  <a:schemeClr val="tx1">
                    <a:lumMod val="75000"/>
                    <a:lumOff val="25000"/>
                  </a:schemeClr>
                </a:solidFill>
                <a:latin typeface="Cambria" panose="02040503050406030204" pitchFamily="18" charset="0"/>
                <a:ea typeface="楷体" panose="02010609060101010101" pitchFamily="49" charset="-122"/>
              </a:rPr>
              <a:t>:</a:t>
            </a:r>
            <a:r>
              <a:rPr lang="zh-CN" altLang="en-US" sz="1400" dirty="0">
                <a:solidFill>
                  <a:schemeClr val="tx1">
                    <a:lumMod val="75000"/>
                    <a:lumOff val="25000"/>
                  </a:schemeClr>
                </a:solidFill>
                <a:latin typeface="Cambria" panose="02040503050406030204" pitchFamily="18" charset="0"/>
                <a:ea typeface="楷体" panose="02010609060101010101" pitchFamily="49" charset="-122"/>
              </a:rPr>
              <a:t>创新产品陆续商业化，头部创新药企业开启盈利周期</a:t>
            </a:r>
          </a:p>
        </p:txBody>
      </p:sp>
      <p:sp>
        <p:nvSpPr>
          <p:cNvPr id="10" name="矩形 9"/>
          <p:cNvSpPr/>
          <p:nvPr/>
        </p:nvSpPr>
        <p:spPr>
          <a:xfrm>
            <a:off x="175087" y="2358294"/>
            <a:ext cx="3782102" cy="5170646"/>
          </a:xfrm>
          <a:prstGeom prst="rect">
            <a:avLst/>
          </a:prstGeom>
          <a:noFill/>
        </p:spPr>
        <p:txBody>
          <a:bodyPr wrap="square">
            <a:spAutoFit/>
          </a:bodyPr>
          <a:lstStyle/>
          <a:p>
            <a:pPr algn="just">
              <a:lnSpc>
                <a:spcPct val="150000"/>
              </a:lnSpc>
            </a:pPr>
            <a:r>
              <a:rPr lang="en-US" altLang="zh-CN"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	</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近期医药走势逐步企稳。当前医药板块正处于政策红利释放与基本面共振的节点。政府工作报告首次将生物医药定位为“新兴支柱产业”，为行业注入强心剂。同时，经过前期持续调整，以“创新</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出海”为核心的产业逻辑持续兑现。进入</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4</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月，</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AACR</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t>
            </a:r>
            <a:r>
              <a:rPr lang="en-US" altLang="zh-CN"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ASCO</a:t>
            </a:r>
            <a:r>
              <a:rPr lang="zh-CN" altLang="en-US" sz="20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等行业大会将密集召开，板块有望迎来密集催化，后续估值提升空间值得期待。</a:t>
            </a:r>
          </a:p>
        </p:txBody>
      </p:sp>
      <p:sp>
        <p:nvSpPr>
          <p:cNvPr id="12" name="矩形 11"/>
          <p:cNvSpPr/>
          <p:nvPr/>
        </p:nvSpPr>
        <p:spPr>
          <a:xfrm>
            <a:off x="4119245" y="2602641"/>
            <a:ext cx="2738755"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84</a:t>
            </a:r>
          </a:p>
        </p:txBody>
      </p:sp>
      <p:sp>
        <p:nvSpPr>
          <p:cNvPr id="88" name="矩形 87"/>
          <p:cNvSpPr/>
          <p:nvPr/>
        </p:nvSpPr>
        <p:spPr>
          <a:xfrm>
            <a:off x="2546252" y="7301989"/>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45231" y="7527379"/>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81286" y="7527379"/>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3971890" y="3477107"/>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cxnSp>
        <p:nvCxnSpPr>
          <p:cNvPr id="34" name="直线连接符 43"/>
          <p:cNvCxnSpPr/>
          <p:nvPr/>
        </p:nvCxnSpPr>
        <p:spPr>
          <a:xfrm>
            <a:off x="2767446" y="8912047"/>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767446" y="10113283"/>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61753" y="11536025"/>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29590" y="302260"/>
            <a:ext cx="5408295" cy="1076325"/>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医药</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生物医药</a:t>
            </a: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512120/159508</a:t>
            </a:r>
          </a:p>
        </p:txBody>
      </p:sp>
      <p:pic>
        <p:nvPicPr>
          <p:cNvPr id="36" name="图片 35"/>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326206" y="7782982"/>
            <a:ext cx="2239307" cy="3844655"/>
          </a:xfrm>
          <a:prstGeom prst="rect">
            <a:avLst/>
          </a:prstGeom>
        </p:spPr>
      </p:pic>
      <p:sp>
        <p:nvSpPr>
          <p:cNvPr id="21" name="文本框 20"/>
          <p:cNvSpPr txBox="1"/>
          <p:nvPr/>
        </p:nvSpPr>
        <p:spPr>
          <a:xfrm>
            <a:off x="529590" y="1454363"/>
            <a:ext cx="5053330" cy="50355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000373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000376</a:t>
            </a:r>
          </a:p>
        </p:txBody>
      </p:sp>
      <p:sp>
        <p:nvSpPr>
          <p:cNvPr id="35" name="文本框 34"/>
          <p:cNvSpPr txBox="1"/>
          <p:nvPr/>
        </p:nvSpPr>
        <p:spPr>
          <a:xfrm>
            <a:off x="2611686" y="9184379"/>
            <a:ext cx="3833081" cy="1061829"/>
          </a:xfrm>
          <a:prstGeom prst="rect">
            <a:avLst/>
          </a:prstGeom>
          <a:noFill/>
        </p:spPr>
        <p:txBody>
          <a:bodyPr wrap="square" rtlCol="0">
            <a:spAutoFit/>
          </a:bodyPr>
          <a:lstStyle/>
          <a:p>
            <a:pPr>
              <a:spcAft>
                <a:spcPts val="600"/>
              </a:spcAft>
              <a:buClr>
                <a:schemeClr val="accent1"/>
              </a:buClr>
            </a:pPr>
            <a:r>
              <a:rPr lang="zh-CN" altLang="en-US" sz="1600" b="1" dirty="0">
                <a:solidFill>
                  <a:schemeClr val="tx1">
                    <a:lumMod val="75000"/>
                    <a:lumOff val="25000"/>
                  </a:schemeClr>
                </a:solidFill>
                <a:latin typeface="Cambria" panose="02040503050406030204" pitchFamily="18" charset="0"/>
                <a:ea typeface="楷体" panose="02010609060101010101" pitchFamily="49" charset="-122"/>
              </a:rPr>
              <a:t>新技术、新需求驱动：</a:t>
            </a:r>
            <a:r>
              <a:rPr lang="zh-CN" altLang="en-US" sz="1400" dirty="0">
                <a:solidFill>
                  <a:schemeClr val="tx1">
                    <a:lumMod val="75000"/>
                    <a:lumOff val="25000"/>
                  </a:schemeClr>
                </a:solidFill>
                <a:latin typeface="Cambria" panose="02040503050406030204" pitchFamily="18" charset="0"/>
                <a:ea typeface="楷体" panose="02010609060101010101" pitchFamily="49" charset="-122"/>
              </a:rPr>
              <a:t>由新技术、新需求驱动，创新药板块的“热点”不断涌现，持续为板块带来新的催化剂。</a:t>
            </a:r>
          </a:p>
          <a:p>
            <a:pPr marL="0" lvl="2"/>
            <a:endParaRPr lang="en-US" altLang="zh-CN" sz="14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38" name="文本框 37"/>
          <p:cNvSpPr txBox="1"/>
          <p:nvPr/>
        </p:nvSpPr>
        <p:spPr>
          <a:xfrm>
            <a:off x="2611687" y="7862831"/>
            <a:ext cx="3833081" cy="861774"/>
          </a:xfrm>
          <a:prstGeom prst="rect">
            <a:avLst/>
          </a:prstGeom>
          <a:noFill/>
        </p:spPr>
        <p:txBody>
          <a:bodyPr wrap="square" rtlCol="0">
            <a:spAutoFit/>
          </a:bodyPr>
          <a:lstStyle/>
          <a:p>
            <a:pPr marL="0" lvl="2" fontAlgn="base">
              <a:spcBef>
                <a:spcPct val="0"/>
              </a:spcBef>
              <a:spcAft>
                <a:spcPts val="600"/>
              </a:spcAft>
              <a:buClr>
                <a:schemeClr val="accent1"/>
              </a:buClr>
            </a:pPr>
            <a:r>
              <a:rPr lang="zh-CN" altLang="en-US" b="1" dirty="0">
                <a:solidFill>
                  <a:schemeClr val="tx1">
                    <a:lumMod val="75000"/>
                    <a:lumOff val="25000"/>
                  </a:schemeClr>
                </a:solidFill>
                <a:latin typeface="Cambria" panose="02040503050406030204" pitchFamily="18" charset="0"/>
                <a:ea typeface="楷体" panose="02010609060101010101" pitchFamily="49" charset="-122"/>
              </a:rPr>
              <a:t>政策环境持续优化：</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国内市场政策持续优化，“医保</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商保”多元支付有望缓解医疗支付压力。</a:t>
            </a:r>
          </a:p>
        </p:txBody>
      </p:sp>
      <p:sp>
        <p:nvSpPr>
          <p:cNvPr id="24" name="矩形 23"/>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graphicFrame>
        <p:nvGraphicFramePr>
          <p:cNvPr id="23" name="图表 22"/>
          <p:cNvGraphicFramePr>
            <a:graphicFrameLocks/>
          </p:cNvGraphicFramePr>
          <p:nvPr/>
        </p:nvGraphicFramePr>
        <p:xfrm>
          <a:off x="3962089" y="3366665"/>
          <a:ext cx="2739574" cy="284067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153868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683063" y="9223568"/>
            <a:ext cx="3889413" cy="1077218"/>
          </a:xfrm>
          <a:prstGeom prst="rect">
            <a:avLst/>
          </a:prstGeom>
          <a:noFill/>
        </p:spPr>
        <p:txBody>
          <a:bodyPr wrap="square" rtlCol="0">
            <a:spAutoFit/>
          </a:bodyPr>
          <a:lstStyle/>
          <a:p>
            <a:pPr marL="0" lvl="2"/>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顺周期预期升温，盈利与估值双升可期。</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港股通央企红利指数深度布局交通运输、石油石化等顺周期行业龙头，有望受益于供需格局改善。</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26" name="文本框 25"/>
          <p:cNvSpPr txBox="1"/>
          <p:nvPr/>
        </p:nvSpPr>
        <p:spPr>
          <a:xfrm>
            <a:off x="2683063" y="7706974"/>
            <a:ext cx="3745055" cy="1323439"/>
          </a:xfrm>
          <a:prstGeom prst="rect">
            <a:avLst/>
          </a:prstGeom>
          <a:noFill/>
        </p:spPr>
        <p:txBody>
          <a:bodyPr wrap="square" rtlCol="0">
            <a:spAutoFit/>
          </a:bodyPr>
          <a:lstStyle/>
          <a:p>
            <a:pPr marL="0" lvl="2"/>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监管明确中长期资金入市要求，高股息资产有望受益：</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险资长期投资试点扩围，低利率环境的资产荒下，高股息资产有望受到机构增量资金青睐。</a:t>
            </a:r>
          </a:p>
        </p:txBody>
      </p:sp>
      <p:pic>
        <p:nvPicPr>
          <p:cNvPr id="4" name="图片 3" descr="风向标头图"/>
          <p:cNvPicPr>
            <a:picLocks noChangeAspect="1"/>
          </p:cNvPicPr>
          <p:nvPr/>
        </p:nvPicPr>
        <p:blipFill>
          <a:blip r:embed="rId3"/>
          <a:stretch>
            <a:fillRect/>
          </a:stretch>
        </p:blipFill>
        <p:spPr>
          <a:xfrm>
            <a:off x="0" y="-635"/>
            <a:ext cx="6858000" cy="1920536"/>
          </a:xfrm>
          <a:prstGeom prst="rect">
            <a:avLst/>
          </a:prstGeom>
        </p:spPr>
      </p:pic>
      <p:sp>
        <p:nvSpPr>
          <p:cNvPr id="10" name="矩形 9"/>
          <p:cNvSpPr/>
          <p:nvPr/>
        </p:nvSpPr>
        <p:spPr>
          <a:xfrm>
            <a:off x="374880" y="2462226"/>
            <a:ext cx="3272860" cy="4375557"/>
          </a:xfrm>
          <a:prstGeom prst="rect">
            <a:avLst/>
          </a:prstGeom>
          <a:noFill/>
        </p:spPr>
        <p:txBody>
          <a:bodyPr wrap="square">
            <a:spAutoFit/>
          </a:bodyPr>
          <a:lstStyle/>
          <a:p>
            <a:pPr indent="457200" algn="just">
              <a:lnSpc>
                <a:spcPts val="2300"/>
              </a:lnSpc>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恒生港股通中国央企红利指数</a:t>
            </a: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rPr>
              <a:t>月累计下跌</a:t>
            </a:r>
            <a:r>
              <a:rPr lang="en-US" altLang="zh-CN" dirty="0">
                <a:latin typeface="楷体" panose="02010609060101010101" pitchFamily="49" charset="-122"/>
                <a:ea typeface="楷体" panose="02010609060101010101" pitchFamily="49" charset="-122"/>
              </a:rPr>
              <a:t>6.2%</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indent="457200" algn="just">
              <a:lnSpc>
                <a:spcPts val="2300"/>
              </a:lnSpc>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由于</a:t>
            </a:r>
            <a:r>
              <a:rPr lang="en-US" altLang="zh-CN" dirty="0">
                <a:latin typeface="楷体" panose="02010609060101010101" pitchFamily="49" charset="-122"/>
                <a:ea typeface="楷体" panose="02010609060101010101" pitchFamily="49" charset="-122"/>
                <a:sym typeface="Cambria" panose="02040503050406030204" pitchFamily="18" charset="0"/>
              </a:rPr>
              <a:t>H</a:t>
            </a:r>
            <a:r>
              <a:rPr lang="zh-CN" altLang="en-US" dirty="0">
                <a:latin typeface="楷体" panose="02010609060101010101" pitchFamily="49" charset="-122"/>
                <a:ea typeface="楷体" panose="02010609060101010101" pitchFamily="49" charset="-122"/>
                <a:sym typeface="Cambria" panose="02040503050406030204" pitchFamily="18" charset="0"/>
              </a:rPr>
              <a:t>股相较</a:t>
            </a:r>
            <a:r>
              <a:rPr lang="en-US" altLang="zh-CN" dirty="0">
                <a:latin typeface="楷体" panose="02010609060101010101" pitchFamily="49" charset="-122"/>
                <a:ea typeface="楷体" panose="02010609060101010101" pitchFamily="49" charset="-122"/>
                <a:sym typeface="Cambria" panose="02040503050406030204" pitchFamily="18" charset="0"/>
              </a:rPr>
              <a:t>A</a:t>
            </a:r>
            <a:r>
              <a:rPr lang="zh-CN" altLang="en-US" dirty="0">
                <a:latin typeface="楷体" panose="02010609060101010101" pitchFamily="49" charset="-122"/>
                <a:ea typeface="楷体" panose="02010609060101010101" pitchFamily="49" charset="-122"/>
                <a:sym typeface="Cambria" panose="02040503050406030204" pitchFamily="18" charset="0"/>
              </a:rPr>
              <a:t>股折价较高，恒生港股通中国央企红利指数具有更高股息、更低估值特性，当前股息率达</a:t>
            </a:r>
            <a:r>
              <a:rPr lang="en-US" altLang="zh-CN" dirty="0">
                <a:latin typeface="楷体" panose="02010609060101010101" pitchFamily="49" charset="-122"/>
                <a:ea typeface="楷体" panose="02010609060101010101" pitchFamily="49" charset="-122"/>
                <a:sym typeface="Cambria" panose="02040503050406030204" pitchFamily="18" charset="0"/>
              </a:rPr>
              <a:t>5.56%</a:t>
            </a:r>
            <a:r>
              <a:rPr lang="zh-CN" altLang="en-US" dirty="0">
                <a:latin typeface="楷体" panose="02010609060101010101" pitchFamily="49" charset="-122"/>
                <a:ea typeface="楷体" panose="02010609060101010101" pitchFamily="49" charset="-122"/>
                <a:sym typeface="Cambria" panose="02040503050406030204" pitchFamily="18" charset="0"/>
              </a:rPr>
              <a:t>（</a:t>
            </a:r>
            <a:r>
              <a:rPr lang="en-US" altLang="zh-CN" dirty="0">
                <a:latin typeface="楷体" panose="02010609060101010101" pitchFamily="49" charset="-122"/>
                <a:ea typeface="楷体" panose="02010609060101010101" pitchFamily="49" charset="-122"/>
                <a:sym typeface="Cambria" panose="02040503050406030204" pitchFamily="18" charset="0"/>
              </a:rPr>
              <a:t>vs</a:t>
            </a:r>
            <a:r>
              <a:rPr lang="zh-CN" altLang="en-US" dirty="0">
                <a:latin typeface="楷体" panose="02010609060101010101" pitchFamily="49" charset="-122"/>
                <a:ea typeface="楷体" panose="02010609060101010101" pitchFamily="49" charset="-122"/>
                <a:sym typeface="Cambria" panose="02040503050406030204" pitchFamily="18" charset="0"/>
              </a:rPr>
              <a:t>中证红利</a:t>
            </a:r>
            <a:r>
              <a:rPr lang="en-US" altLang="zh-CN" dirty="0">
                <a:latin typeface="楷体" panose="02010609060101010101" pitchFamily="49" charset="-122"/>
                <a:ea typeface="楷体" panose="02010609060101010101" pitchFamily="49" charset="-122"/>
                <a:sym typeface="Cambria" panose="02040503050406030204" pitchFamily="18" charset="0"/>
              </a:rPr>
              <a:t>4.64%</a:t>
            </a:r>
            <a:r>
              <a:rPr lang="zh-CN" altLang="en-US" dirty="0">
                <a:latin typeface="楷体" panose="02010609060101010101" pitchFamily="49" charset="-122"/>
                <a:ea typeface="楷体" panose="02010609060101010101" pitchFamily="49" charset="-122"/>
                <a:sym typeface="Cambria" panose="02040503050406030204" pitchFamily="18" charset="0"/>
              </a:rPr>
              <a:t>），</a:t>
            </a:r>
            <a:r>
              <a:rPr lang="en-US" altLang="zh-CN" dirty="0">
                <a:latin typeface="楷体" panose="02010609060101010101" pitchFamily="49" charset="-122"/>
                <a:ea typeface="楷体" panose="02010609060101010101" pitchFamily="49" charset="-122"/>
                <a:sym typeface="Cambria" panose="02040503050406030204" pitchFamily="18" charset="0"/>
              </a:rPr>
              <a:t>PB</a:t>
            </a:r>
            <a:r>
              <a:rPr lang="zh-CN" altLang="en-US" dirty="0">
                <a:latin typeface="楷体" panose="02010609060101010101" pitchFamily="49" charset="-122"/>
                <a:ea typeface="楷体" panose="02010609060101010101" pitchFamily="49" charset="-122"/>
                <a:sym typeface="Cambria" panose="02040503050406030204" pitchFamily="18" charset="0"/>
              </a:rPr>
              <a:t>为</a:t>
            </a:r>
            <a:r>
              <a:rPr lang="en-US" altLang="zh-CN" dirty="0">
                <a:latin typeface="楷体" panose="02010609060101010101" pitchFamily="49" charset="-122"/>
                <a:ea typeface="楷体" panose="02010609060101010101" pitchFamily="49" charset="-122"/>
                <a:sym typeface="Cambria" panose="02040503050406030204" pitchFamily="18" charset="0"/>
              </a:rPr>
              <a:t>0.66</a:t>
            </a:r>
            <a:r>
              <a:rPr lang="zh-CN" altLang="en-US" dirty="0">
                <a:latin typeface="楷体" panose="02010609060101010101" pitchFamily="49" charset="-122"/>
                <a:ea typeface="楷体" panose="02010609060101010101" pitchFamily="49" charset="-122"/>
                <a:sym typeface="Cambria" panose="02040503050406030204" pitchFamily="18" charset="0"/>
              </a:rPr>
              <a:t>，</a:t>
            </a:r>
            <a:r>
              <a:rPr lang="en-US" altLang="zh-CN" dirty="0">
                <a:latin typeface="楷体" panose="02010609060101010101" pitchFamily="49" charset="-122"/>
                <a:ea typeface="楷体" panose="02010609060101010101" pitchFamily="49" charset="-122"/>
                <a:sym typeface="Cambria" panose="02040503050406030204" pitchFamily="18" charset="0"/>
              </a:rPr>
              <a:t>PE</a:t>
            </a:r>
            <a:r>
              <a:rPr lang="zh-CN" altLang="en-US" dirty="0">
                <a:latin typeface="楷体" panose="02010609060101010101" pitchFamily="49" charset="-122"/>
                <a:ea typeface="楷体" panose="02010609060101010101" pitchFamily="49" charset="-122"/>
                <a:sym typeface="Cambria" panose="02040503050406030204" pitchFamily="18" charset="0"/>
              </a:rPr>
              <a:t>为</a:t>
            </a:r>
            <a:r>
              <a:rPr lang="en-US" altLang="zh-CN" dirty="0">
                <a:latin typeface="楷体" panose="02010609060101010101" pitchFamily="49" charset="-122"/>
                <a:ea typeface="楷体" panose="02010609060101010101" pitchFamily="49" charset="-122"/>
                <a:sym typeface="Cambria" panose="02040503050406030204" pitchFamily="18" charset="0"/>
              </a:rPr>
              <a:t>7.57</a:t>
            </a:r>
            <a:r>
              <a:rPr lang="zh-CN" altLang="en-US" dirty="0">
                <a:latin typeface="楷体" panose="02010609060101010101" pitchFamily="49" charset="-122"/>
                <a:ea typeface="楷体" panose="02010609060101010101" pitchFamily="49" charset="-122"/>
                <a:sym typeface="Cambria" panose="02040503050406030204" pitchFamily="18" charset="0"/>
              </a:rPr>
              <a:t>。</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indent="457200" algn="just">
              <a:lnSpc>
                <a:spcPts val="2300"/>
              </a:lnSpc>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高分红央企往往具备稳定的盈利能力、扎实的基本面、充沛的现金流以及较低的波动率，同时更加注重对股东的回报，在低利率环境下，高分红央企有望获得更多溢价。</a:t>
            </a:r>
            <a:endParaRPr lang="en-US" altLang="zh-CN" dirty="0">
              <a:latin typeface="楷体" panose="02010609060101010101" pitchFamily="49" charset="-122"/>
              <a:ea typeface="楷体" panose="02010609060101010101" pitchFamily="49" charset="-122"/>
              <a:sym typeface="Cambria" panose="02040503050406030204" pitchFamily="18" charset="0"/>
            </a:endParaRPr>
          </a:p>
        </p:txBody>
      </p:sp>
      <p:sp>
        <p:nvSpPr>
          <p:cNvPr id="88" name="矩形 87"/>
          <p:cNvSpPr/>
          <p:nvPr/>
        </p:nvSpPr>
        <p:spPr>
          <a:xfrm>
            <a:off x="2489951" y="7117977"/>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07927" y="7343366"/>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24984" y="7343366"/>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528377" y="314873"/>
            <a:ext cx="5391975" cy="1077218"/>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港股通央企红利</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513920</a:t>
            </a:r>
            <a:endPar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p:txBody>
      </p:sp>
      <p:sp>
        <p:nvSpPr>
          <p:cNvPr id="25" name="椭圆 24"/>
          <p:cNvSpPr/>
          <p:nvPr/>
        </p:nvSpPr>
        <p:spPr>
          <a:xfrm>
            <a:off x="4022690" y="3568749"/>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8" name="圆角矩形 27"/>
          <p:cNvSpPr/>
          <p:nvPr/>
        </p:nvSpPr>
        <p:spPr>
          <a:xfrm>
            <a:off x="2565513" y="10470805"/>
            <a:ext cx="3878073" cy="969552"/>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央企改革持续推进，强化市值管理：</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国资委要求央企上市公司加强市值管理，牢固树立投资者回报意识，增加现金分红频次、提高现金分红比例。</a:t>
            </a:r>
          </a:p>
        </p:txBody>
      </p:sp>
      <p:cxnSp>
        <p:nvCxnSpPr>
          <p:cNvPr id="34" name="直线连接符 43"/>
          <p:cNvCxnSpPr/>
          <p:nvPr/>
        </p:nvCxnSpPr>
        <p:spPr>
          <a:xfrm>
            <a:off x="2795527" y="9113579"/>
            <a:ext cx="35596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795527" y="10299657"/>
            <a:ext cx="35596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22419" y="11500068"/>
            <a:ext cx="35596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flipH="1">
            <a:off x="325692" y="480887"/>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0" name="矩形 19"/>
          <p:cNvSpPr/>
          <p:nvPr/>
        </p:nvSpPr>
        <p:spPr>
          <a:xfrm>
            <a:off x="4119245" y="2772459"/>
            <a:ext cx="2738755" cy="559769"/>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86</a:t>
            </a:r>
          </a:p>
        </p:txBody>
      </p:sp>
      <p:pic>
        <p:nvPicPr>
          <p:cNvPr id="5" name="图片 4"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pic>
        <p:nvPicPr>
          <p:cNvPr id="6" name="图片 5"/>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326206" y="7706974"/>
            <a:ext cx="2239307" cy="3844655"/>
          </a:xfrm>
          <a:prstGeom prst="rect">
            <a:avLst/>
          </a:prstGeom>
        </p:spPr>
      </p:pic>
      <p:sp>
        <p:nvSpPr>
          <p:cNvPr id="23" name="文本框 22"/>
          <p:cNvSpPr txBox="1"/>
          <p:nvPr/>
        </p:nvSpPr>
        <p:spPr>
          <a:xfrm>
            <a:off x="529574" y="1449167"/>
            <a:ext cx="5053330" cy="50355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020866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020867</a:t>
            </a:r>
          </a:p>
        </p:txBody>
      </p:sp>
      <p:graphicFrame>
        <p:nvGraphicFramePr>
          <p:cNvPr id="27" name="图表 26"/>
          <p:cNvGraphicFramePr/>
          <p:nvPr/>
        </p:nvGraphicFramePr>
        <p:xfrm>
          <a:off x="3832901" y="3342894"/>
          <a:ext cx="2924736" cy="3101765"/>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048362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风向标头图">
            <a:extLst>
              <a:ext uri="{FF2B5EF4-FFF2-40B4-BE49-F238E27FC236}">
                <a16:creationId xmlns:a16="http://schemas.microsoft.com/office/drawing/2014/main" id="{F814B1F6-6463-F6BF-F21B-1AA6C271D444}"/>
              </a:ext>
            </a:extLst>
          </p:cNvPr>
          <p:cNvPicPr>
            <a:picLocks noChangeAspect="1"/>
          </p:cNvPicPr>
          <p:nvPr/>
        </p:nvPicPr>
        <p:blipFill>
          <a:blip r:embed="rId3"/>
          <a:stretch>
            <a:fillRect/>
          </a:stretch>
        </p:blipFill>
        <p:spPr>
          <a:xfrm>
            <a:off x="0" y="-635"/>
            <a:ext cx="6858000" cy="1920536"/>
          </a:xfrm>
          <a:prstGeom prst="rect">
            <a:avLst/>
          </a:prstGeom>
        </p:spPr>
      </p:pic>
      <p:sp>
        <p:nvSpPr>
          <p:cNvPr id="10" name="矩形 9"/>
          <p:cNvSpPr/>
          <p:nvPr/>
        </p:nvSpPr>
        <p:spPr>
          <a:xfrm>
            <a:off x="280393" y="2322202"/>
            <a:ext cx="3600282" cy="4662815"/>
          </a:xfrm>
          <a:prstGeom prst="rect">
            <a:avLst/>
          </a:prstGeom>
          <a:noFill/>
        </p:spPr>
        <p:txBody>
          <a:bodyPr wrap="square">
            <a:spAutoFit/>
          </a:bodyPr>
          <a:lstStyle/>
          <a:p>
            <a:pPr indent="457200" algn="just">
              <a:lnSpc>
                <a:spcPct val="150000"/>
              </a:lnSpc>
            </a:pPr>
            <a:r>
              <a:rPr lang="zh-CN" altLang="en-US"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当前红利板块正迎来多重利好因素驱动的投资机遇。随着前期科技股行情波动加剧与分化，叠加中东局势持续紧张推升避险情绪，资金重新回流红利资产。与此同时，长期稳健型资金入市意愿强烈，为板块带来增量配置需求。此外，伴随年报与分红季的实质性落地，上市公司分红方案相继实施，市场对高股息品种的关注度显著提升。</a:t>
            </a:r>
            <a:endParaRPr lang="en-US" altLang="zh-CN"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88" name="矩形 87"/>
          <p:cNvSpPr/>
          <p:nvPr/>
        </p:nvSpPr>
        <p:spPr>
          <a:xfrm>
            <a:off x="2489951" y="6710013"/>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26977" y="6935402"/>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24984" y="6935402"/>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511568" y="315211"/>
            <a:ext cx="5054526" cy="1077218"/>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国企红利</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561060</a:t>
            </a:r>
            <a:endPar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p:txBody>
      </p:sp>
      <p:sp>
        <p:nvSpPr>
          <p:cNvPr id="25" name="椭圆 24"/>
          <p:cNvSpPr/>
          <p:nvPr/>
        </p:nvSpPr>
        <p:spPr>
          <a:xfrm>
            <a:off x="4022690" y="3155509"/>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8" name="圆角矩形 27"/>
          <p:cNvSpPr/>
          <p:nvPr/>
        </p:nvSpPr>
        <p:spPr>
          <a:xfrm>
            <a:off x="2565513" y="8893303"/>
            <a:ext cx="4112874" cy="1061776"/>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上市公司分红积极性持续提升</a:t>
            </a:r>
            <a:r>
              <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t>
            </a:r>
          </a:p>
          <a:p>
            <a:pPr marL="0" lvl="2"/>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股票回购增持专项再贷款、鼓励分红回购、市值管理等举措促进上市公司分红积极性提升。</a:t>
            </a:r>
          </a:p>
        </p:txBody>
      </p:sp>
      <p:cxnSp>
        <p:nvCxnSpPr>
          <p:cNvPr id="34" name="直线连接符 43"/>
          <p:cNvCxnSpPr>
            <a:cxnSpLocks/>
          </p:cNvCxnSpPr>
          <p:nvPr/>
        </p:nvCxnSpPr>
        <p:spPr>
          <a:xfrm>
            <a:off x="2822419" y="8726168"/>
            <a:ext cx="355969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a:cxnSpLocks/>
          </p:cNvCxnSpPr>
          <p:nvPr/>
        </p:nvCxnSpPr>
        <p:spPr>
          <a:xfrm>
            <a:off x="2818497" y="10071303"/>
            <a:ext cx="35596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a:cxnSpLocks/>
          </p:cNvCxnSpPr>
          <p:nvPr/>
        </p:nvCxnSpPr>
        <p:spPr>
          <a:xfrm>
            <a:off x="2822419" y="11517848"/>
            <a:ext cx="355969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4" name="文本框 23"/>
          <p:cNvSpPr txBox="1"/>
          <p:nvPr/>
        </p:nvSpPr>
        <p:spPr>
          <a:xfrm>
            <a:off x="2679195" y="7327428"/>
            <a:ext cx="3893281" cy="1323439"/>
          </a:xfrm>
          <a:prstGeom prst="rect">
            <a:avLst/>
          </a:prstGeom>
          <a:noFill/>
        </p:spPr>
        <p:txBody>
          <a:bodyPr wrap="square" rtlCol="0">
            <a:spAutoFit/>
          </a:bodyPr>
          <a:lstStyle/>
          <a:p>
            <a:pPr marL="0" lvl="2"/>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国企改革持续推进，国企投资价值突出：</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“中特估”背景下，国有企业改革成效显著；“一利五率”改革促进央企</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ROE</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继续回升；当前国企估值偏低，未来有望迎来估值重塑。</a:t>
            </a:r>
          </a:p>
        </p:txBody>
      </p:sp>
      <p:sp>
        <p:nvSpPr>
          <p:cNvPr id="26" name="文本框 25"/>
          <p:cNvSpPr txBox="1"/>
          <p:nvPr/>
        </p:nvSpPr>
        <p:spPr>
          <a:xfrm>
            <a:off x="2679196" y="10288938"/>
            <a:ext cx="3999191" cy="1077218"/>
          </a:xfrm>
          <a:prstGeom prst="rect">
            <a:avLst/>
          </a:prstGeom>
          <a:noFill/>
        </p:spPr>
        <p:txBody>
          <a:bodyPr wrap="square" rtlCol="0">
            <a:spAutoFit/>
          </a:bodyPr>
          <a:lstStyle/>
          <a:p>
            <a:pPr marL="0" lvl="2"/>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低利率环境下红利策略性价比凸显：</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货币政策适度宽松，国内低利率环境延续。中证国企红利指数当前近一年股息率</a:t>
            </a:r>
            <a:r>
              <a:rPr lang="en-US" altLang="zh-CN" sz="160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4.62%</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，红利策略配置优势显现。</a:t>
            </a:r>
          </a:p>
        </p:txBody>
      </p:sp>
      <p:sp>
        <p:nvSpPr>
          <p:cNvPr id="20" name="矩形 19"/>
          <p:cNvSpPr/>
          <p:nvPr/>
        </p:nvSpPr>
        <p:spPr>
          <a:xfrm>
            <a:off x="4119246" y="2511710"/>
            <a:ext cx="2738755"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zh-CN" altLang="en-US"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94</a:t>
            </a:r>
          </a:p>
        </p:txBody>
      </p:sp>
      <p:sp>
        <p:nvSpPr>
          <p:cNvPr id="4" name="文本框 3">
            <a:extLst>
              <a:ext uri="{FF2B5EF4-FFF2-40B4-BE49-F238E27FC236}">
                <a16:creationId xmlns:a16="http://schemas.microsoft.com/office/drawing/2014/main" id="{D68F2A93-3CE5-7F53-49C1-205DA4C1558C}"/>
              </a:ext>
            </a:extLst>
          </p:cNvPr>
          <p:cNvSpPr txBox="1"/>
          <p:nvPr/>
        </p:nvSpPr>
        <p:spPr>
          <a:xfrm>
            <a:off x="512764" y="1447965"/>
            <a:ext cx="5053330" cy="50355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020461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020462</a:t>
            </a:r>
          </a:p>
        </p:txBody>
      </p:sp>
      <p:pic>
        <p:nvPicPr>
          <p:cNvPr id="8" name="图片 7" descr="资源 1">
            <a:extLst>
              <a:ext uri="{FF2B5EF4-FFF2-40B4-BE49-F238E27FC236}">
                <a16:creationId xmlns:a16="http://schemas.microsoft.com/office/drawing/2014/main" id="{4922A052-BF2C-4DAE-6CA2-BFAF37177C04}"/>
              </a:ext>
            </a:extLst>
          </p:cNvPr>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pic>
        <p:nvPicPr>
          <p:cNvPr id="9" name="图片 8">
            <a:extLst>
              <a:ext uri="{FF2B5EF4-FFF2-40B4-BE49-F238E27FC236}">
                <a16:creationId xmlns:a16="http://schemas.microsoft.com/office/drawing/2014/main" id="{659302E3-2E3F-772B-1181-2958447E76D2}"/>
              </a:ext>
            </a:extLst>
          </p:cNvPr>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250644" y="7318876"/>
            <a:ext cx="2239307" cy="3844655"/>
          </a:xfrm>
          <a:prstGeom prst="rect">
            <a:avLst/>
          </a:prstGeom>
        </p:spPr>
      </p:pic>
      <p:graphicFrame>
        <p:nvGraphicFramePr>
          <p:cNvPr id="23" name="图表 22"/>
          <p:cNvGraphicFramePr>
            <a:graphicFrameLocks/>
          </p:cNvGraphicFramePr>
          <p:nvPr/>
        </p:nvGraphicFramePr>
        <p:xfrm>
          <a:off x="3835215" y="2887274"/>
          <a:ext cx="2924736" cy="3101765"/>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3038049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3241" y="2106373"/>
            <a:ext cx="3832002" cy="5262979"/>
          </a:xfrm>
          <a:prstGeom prst="rect">
            <a:avLst/>
          </a:prstGeom>
          <a:noFill/>
        </p:spPr>
        <p:txBody>
          <a:bodyPr wrap="square">
            <a:spAutoFit/>
          </a:bodyPr>
          <a:lstStyle/>
          <a:p>
            <a:pPr indent="457200" algn="just">
              <a:lnSpc>
                <a:spcPct val="150000"/>
              </a:lnSpc>
            </a:pPr>
            <a:r>
              <a:rPr lang="zh-CN" altLang="en-US" sz="1600" dirty="0">
                <a:latin typeface="楷体" panose="02010609060101010101" pitchFamily="49" charset="-122"/>
                <a:ea typeface="楷体" panose="02010609060101010101" pitchFamily="49" charset="-122"/>
                <a:sym typeface="Cambria" panose="02040503050406030204" pitchFamily="18" charset="0"/>
              </a:rPr>
              <a:t>日经</a:t>
            </a:r>
            <a:r>
              <a:rPr lang="en-US" altLang="zh-CN" sz="1600" dirty="0">
                <a:latin typeface="楷体" panose="02010609060101010101" pitchFamily="49" charset="-122"/>
                <a:ea typeface="楷体" panose="02010609060101010101" pitchFamily="49" charset="-122"/>
                <a:sym typeface="Cambria" panose="02040503050406030204" pitchFamily="18" charset="0"/>
              </a:rPr>
              <a:t>225</a:t>
            </a:r>
            <a:r>
              <a:rPr lang="zh-CN" altLang="en-US" sz="1600" dirty="0">
                <a:latin typeface="楷体" panose="02010609060101010101" pitchFamily="49" charset="-122"/>
                <a:ea typeface="楷体" panose="02010609060101010101" pitchFamily="49" charset="-122"/>
                <a:sym typeface="Cambria" panose="02040503050406030204" pitchFamily="18" charset="0"/>
              </a:rPr>
              <a:t>指数</a:t>
            </a:r>
            <a:r>
              <a:rPr lang="en-US" altLang="zh-CN" sz="1600" dirty="0">
                <a:latin typeface="楷体" panose="02010609060101010101" pitchFamily="49" charset="-122"/>
                <a:ea typeface="楷体" panose="02010609060101010101" pitchFamily="49" charset="-122"/>
                <a:sym typeface="Cambria" panose="02040503050406030204" pitchFamily="18" charset="0"/>
              </a:rPr>
              <a:t>3</a:t>
            </a:r>
            <a:r>
              <a:rPr lang="zh-CN" altLang="en-US" sz="1600" dirty="0">
                <a:latin typeface="楷体" panose="02010609060101010101" pitchFamily="49" charset="-122"/>
                <a:ea typeface="楷体" panose="02010609060101010101" pitchFamily="49" charset="-122"/>
                <a:sym typeface="Cambria" panose="02040503050406030204" pitchFamily="18" charset="0"/>
              </a:rPr>
              <a:t>月下跌</a:t>
            </a:r>
            <a:r>
              <a:rPr lang="en-US" altLang="zh-CN" sz="1600" dirty="0">
                <a:latin typeface="楷体" panose="02010609060101010101" pitchFamily="49" charset="-122"/>
                <a:ea typeface="楷体" panose="02010609060101010101" pitchFamily="49" charset="-122"/>
                <a:sym typeface="Cambria" panose="02040503050406030204" pitchFamily="18" charset="0"/>
              </a:rPr>
              <a:t>13.23%</a:t>
            </a:r>
            <a:r>
              <a:rPr lang="zh-CN" altLang="en-US" sz="1600" dirty="0">
                <a:latin typeface="楷体" panose="02010609060101010101" pitchFamily="49" charset="-122"/>
                <a:ea typeface="楷体" panose="02010609060101010101" pitchFamily="49" charset="-122"/>
                <a:sym typeface="Cambria" panose="02040503050406030204" pitchFamily="18" charset="0"/>
              </a:rPr>
              <a:t>。</a:t>
            </a:r>
            <a:endParaRPr lang="en-US" altLang="zh-CN" sz="1600" dirty="0">
              <a:latin typeface="楷体" panose="02010609060101010101" pitchFamily="49" charset="-122"/>
              <a:ea typeface="楷体" panose="02010609060101010101" pitchFamily="49" charset="-122"/>
              <a:sym typeface="Cambria" panose="02040503050406030204" pitchFamily="18" charset="0"/>
            </a:endParaRPr>
          </a:p>
          <a:p>
            <a:pPr indent="457200" algn="just">
              <a:lnSpc>
                <a:spcPct val="150000"/>
              </a:lnSpc>
            </a:pPr>
            <a:r>
              <a:rPr lang="zh-CN" altLang="en-US" sz="1600" dirty="0">
                <a:latin typeface="楷体" panose="02010609060101010101" pitchFamily="49" charset="-122"/>
                <a:ea typeface="楷体" panose="02010609060101010101" pitchFamily="49" charset="-122"/>
                <a:cs typeface="Arial" panose="020B0604020202020204" pitchFamily="34" charset="0"/>
              </a:rPr>
              <a:t>日本央行维持基准利率于</a:t>
            </a:r>
            <a:r>
              <a:rPr lang="en-US" altLang="zh-CN" sz="1600" dirty="0">
                <a:latin typeface="楷体" panose="02010609060101010101" pitchFamily="49" charset="-122"/>
                <a:ea typeface="楷体" panose="02010609060101010101" pitchFamily="49" charset="-122"/>
                <a:cs typeface="Arial" panose="020B0604020202020204" pitchFamily="34" charset="0"/>
              </a:rPr>
              <a:t>0.75%</a:t>
            </a:r>
            <a:r>
              <a:rPr lang="zh-CN" altLang="en-US" sz="1600" dirty="0">
                <a:latin typeface="楷体" panose="02010609060101010101" pitchFamily="49" charset="-122"/>
                <a:ea typeface="楷体" panose="02010609060101010101" pitchFamily="49" charset="-122"/>
                <a:cs typeface="Arial" panose="020B0604020202020204" pitchFamily="34" charset="0"/>
              </a:rPr>
              <a:t>不变，为连续第二次会议保持政策不动。日本央行同时表示，将从可持续、稳定实现</a:t>
            </a:r>
            <a:r>
              <a:rPr lang="en-US" altLang="zh-CN" sz="1600" dirty="0">
                <a:latin typeface="楷体" panose="02010609060101010101" pitchFamily="49" charset="-122"/>
                <a:ea typeface="楷体" panose="02010609060101010101" pitchFamily="49" charset="-122"/>
                <a:cs typeface="Arial" panose="020B0604020202020204" pitchFamily="34" charset="0"/>
              </a:rPr>
              <a:t>2%</a:t>
            </a:r>
            <a:r>
              <a:rPr lang="zh-CN" altLang="en-US" sz="1600" dirty="0">
                <a:latin typeface="楷体" panose="02010609060101010101" pitchFamily="49" charset="-122"/>
                <a:ea typeface="楷体" panose="02010609060101010101" pitchFamily="49" charset="-122"/>
                <a:cs typeface="Arial" panose="020B0604020202020204" pitchFamily="34" charset="0"/>
              </a:rPr>
              <a:t>通胀目标的角度出发适当实施货币政策，并将根据经济和物价的改善情况继续上调政策利率。</a:t>
            </a:r>
            <a:endParaRPr lang="en-US" altLang="zh-CN" sz="1600" dirty="0">
              <a:latin typeface="楷体" panose="02010609060101010101" pitchFamily="49" charset="-122"/>
              <a:ea typeface="楷体" panose="02010609060101010101" pitchFamily="49" charset="-122"/>
              <a:cs typeface="Arial" panose="020B0604020202020204" pitchFamily="34" charset="0"/>
            </a:endParaRPr>
          </a:p>
          <a:p>
            <a:pPr indent="457200" algn="just">
              <a:lnSpc>
                <a:spcPct val="150000"/>
              </a:lnSpc>
            </a:pPr>
            <a:r>
              <a:rPr lang="en-US" altLang="zh-CN" sz="1600" dirty="0">
                <a:latin typeface="楷体" panose="02010609060101010101" pitchFamily="49" charset="-122"/>
                <a:ea typeface="楷体" panose="02010609060101010101" pitchFamily="49" charset="-122"/>
                <a:sym typeface="Cambria" panose="02040503050406030204" pitchFamily="18" charset="0"/>
              </a:rPr>
              <a:t>3</a:t>
            </a:r>
            <a:r>
              <a:rPr lang="zh-CN" altLang="en-US" sz="1600" dirty="0">
                <a:latin typeface="楷体" panose="02010609060101010101" pitchFamily="49" charset="-122"/>
                <a:ea typeface="楷体" panose="02010609060101010101" pitchFamily="49" charset="-122"/>
                <a:sym typeface="Cambria" panose="02040503050406030204" pitchFamily="18" charset="0"/>
              </a:rPr>
              <a:t>月日经</a:t>
            </a:r>
            <a:r>
              <a:rPr lang="en-US" altLang="zh-CN" sz="1600" dirty="0">
                <a:latin typeface="楷体" panose="02010609060101010101" pitchFamily="49" charset="-122"/>
                <a:ea typeface="楷体" panose="02010609060101010101" pitchFamily="49" charset="-122"/>
                <a:sym typeface="Cambria" panose="02040503050406030204" pitchFamily="18" charset="0"/>
              </a:rPr>
              <a:t>225</a:t>
            </a:r>
            <a:r>
              <a:rPr lang="zh-CN" altLang="en-US" sz="1600" dirty="0">
                <a:latin typeface="楷体" panose="02010609060101010101" pitchFamily="49" charset="-122"/>
                <a:ea typeface="楷体" panose="02010609060101010101" pitchFamily="49" charset="-122"/>
                <a:sym typeface="Cambria" panose="02040503050406030204" pitchFamily="18" charset="0"/>
              </a:rPr>
              <a:t>回调主要受中东地缘冲突升级导致的外部冲击，而日本本月已开始释放石油库存，以缓解霍尔木兹海峡实际封锁所造成的供应紧张。</a:t>
            </a:r>
            <a:r>
              <a:rPr lang="zh-CN" altLang="en-US" sz="1600" dirty="0">
                <a:latin typeface="楷体" panose="02010609060101010101" pitchFamily="49" charset="-122"/>
                <a:ea typeface="楷体" panose="02010609060101010101" pitchFamily="49" charset="-122"/>
                <a:cs typeface="Arial" panose="020B0604020202020204" pitchFamily="34" charset="0"/>
              </a:rPr>
              <a:t>这一轮调整更多是外部风险事件引发的情绪波动，而非日本自身经济基本面出现问题，市场的长期结构性支撑因素依然稳固。</a:t>
            </a:r>
            <a:endParaRPr lang="en-US" altLang="zh-CN" sz="1600" dirty="0">
              <a:latin typeface="楷体" panose="02010609060101010101" pitchFamily="49" charset="-122"/>
              <a:ea typeface="楷体" panose="02010609060101010101" pitchFamily="49" charset="-122"/>
              <a:cs typeface="Arial" panose="020B0604020202020204" pitchFamily="34" charset="0"/>
              <a:sym typeface="Cambria" panose="02040503050406030204" pitchFamily="18" charset="0"/>
            </a:endParaRPr>
          </a:p>
        </p:txBody>
      </p:sp>
      <p:sp>
        <p:nvSpPr>
          <p:cNvPr id="12" name="矩形 11"/>
          <p:cNvSpPr/>
          <p:nvPr/>
        </p:nvSpPr>
        <p:spPr>
          <a:xfrm>
            <a:off x="4273874" y="2998154"/>
            <a:ext cx="3370637" cy="646331"/>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87</a:t>
            </a:r>
          </a:p>
        </p:txBody>
      </p:sp>
      <p:sp>
        <p:nvSpPr>
          <p:cNvPr id="88" name="矩形 87"/>
          <p:cNvSpPr/>
          <p:nvPr/>
        </p:nvSpPr>
        <p:spPr>
          <a:xfrm>
            <a:off x="2522528" y="7314960"/>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69993" y="7551130"/>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68000" y="7551130"/>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4022690" y="3845711"/>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8" name="圆角矩形 27"/>
          <p:cNvSpPr/>
          <p:nvPr/>
        </p:nvSpPr>
        <p:spPr>
          <a:xfrm>
            <a:off x="2649779" y="9602134"/>
            <a:ext cx="3833877" cy="883642"/>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indent="-457200" algn="just">
              <a:lnSpc>
                <a:spcPct val="150000"/>
              </a:lnSpc>
            </a:pP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29" name="圆角矩形 28"/>
          <p:cNvSpPr/>
          <p:nvPr/>
        </p:nvSpPr>
        <p:spPr>
          <a:xfrm>
            <a:off x="2720395" y="7958403"/>
            <a:ext cx="3833877" cy="921493"/>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日本良性的“工资</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通胀螺旋”或已形成，日本经济的复苏态势有望延续。长期来看，日本股市具备配置价值。</a:t>
            </a:r>
            <a:endParaRPr lang="zh-CN" altLang="en-US"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33" name="圆角矩形 32"/>
          <p:cNvSpPr/>
          <p:nvPr/>
        </p:nvSpPr>
        <p:spPr>
          <a:xfrm>
            <a:off x="2720396" y="10655481"/>
            <a:ext cx="3833877" cy="761550"/>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indent="-457200"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日本股票市场与</a:t>
            </a:r>
            <a:r>
              <a:rPr lang="en-US" altLang="zh-CN" sz="1600" dirty="0">
                <a:solidFill>
                  <a:schemeClr val="tx1">
                    <a:lumMod val="75000"/>
                    <a:lumOff val="25000"/>
                  </a:schemeClr>
                </a:solidFill>
                <a:latin typeface="楷体" panose="02010609060101010101" pitchFamily="49" charset="-122"/>
                <a:ea typeface="楷体" panose="02010609060101010101" pitchFamily="49" charset="-122"/>
              </a:rPr>
              <a:t>A</a:t>
            </a: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股相关性较低，配置价值较为显著。</a:t>
            </a: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cxnSp>
        <p:nvCxnSpPr>
          <p:cNvPr id="34" name="直线连接符 43"/>
          <p:cNvCxnSpPr/>
          <p:nvPr/>
        </p:nvCxnSpPr>
        <p:spPr>
          <a:xfrm>
            <a:off x="2893915" y="9058719"/>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811505" y="10598912"/>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62705" y="11813866"/>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6" name="图表 25"/>
          <p:cNvGraphicFramePr/>
          <p:nvPr/>
        </p:nvGraphicFramePr>
        <p:xfrm>
          <a:off x="3927796" y="3623556"/>
          <a:ext cx="2739574" cy="2838991"/>
        </p:xfrm>
        <a:graphic>
          <a:graphicData uri="http://schemas.openxmlformats.org/drawingml/2006/chart">
            <c:chart xmlns:c="http://schemas.openxmlformats.org/drawingml/2006/chart" xmlns:r="http://schemas.openxmlformats.org/officeDocument/2006/relationships" r:id="rId3"/>
          </a:graphicData>
        </a:graphic>
      </p:graphicFrame>
      <p:sp>
        <p:nvSpPr>
          <p:cNvPr id="2" name="矩形 1"/>
          <p:cNvSpPr/>
          <p:nvPr/>
        </p:nvSpPr>
        <p:spPr>
          <a:xfrm>
            <a:off x="2811505" y="9030392"/>
            <a:ext cx="3742768" cy="1511952"/>
          </a:xfrm>
          <a:prstGeom prst="rect">
            <a:avLst/>
          </a:prstGeom>
        </p:spPr>
        <p:txBody>
          <a:bodyPr wrap="square">
            <a:spAutoFit/>
          </a:bodyPr>
          <a:lstStyle/>
          <a:p>
            <a:pPr marL="0" lvl="2" indent="-457200" algn="just">
              <a:lnSpc>
                <a:spcPct val="150000"/>
              </a:lnSpc>
            </a:pPr>
            <a:r>
              <a:rPr lang="zh-CN" altLang="en-US" sz="1600" dirty="0">
                <a:solidFill>
                  <a:schemeClr val="tx1">
                    <a:lumMod val="75000"/>
                    <a:lumOff val="25000"/>
                  </a:schemeClr>
                </a:solidFill>
                <a:latin typeface="楷体" panose="02010609060101010101" pitchFamily="49" charset="-122"/>
                <a:ea typeface="楷体" panose="02010609060101010101" pitchFamily="49" charset="-122"/>
              </a:rPr>
              <a:t>东京证交所积极进行上市公司治理，要求通过股份回购等方式提升股价、改善企业利润表，当前日股多项盈利指标已回升，日股基本面持续向好。</a:t>
            </a:r>
          </a:p>
        </p:txBody>
      </p:sp>
      <p:pic>
        <p:nvPicPr>
          <p:cNvPr id="27" name="图片 26" descr="风向标头图"/>
          <p:cNvPicPr>
            <a:picLocks noChangeAspect="1"/>
          </p:cNvPicPr>
          <p:nvPr/>
        </p:nvPicPr>
        <p:blipFill>
          <a:blip r:embed="rId4"/>
          <a:stretch>
            <a:fillRect/>
          </a:stretch>
        </p:blipFill>
        <p:spPr>
          <a:xfrm>
            <a:off x="0" y="-635"/>
            <a:ext cx="6858000" cy="1920536"/>
          </a:xfrm>
          <a:prstGeom prst="rect">
            <a:avLst/>
          </a:prstGeom>
        </p:spPr>
      </p:pic>
      <p:sp>
        <p:nvSpPr>
          <p:cNvPr id="35" name="文本框 34"/>
          <p:cNvSpPr txBox="1"/>
          <p:nvPr/>
        </p:nvSpPr>
        <p:spPr>
          <a:xfrm>
            <a:off x="476324" y="267777"/>
            <a:ext cx="5054526" cy="1077218"/>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日经</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225ETF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513880</a:t>
            </a:r>
          </a:p>
        </p:txBody>
      </p:sp>
      <p:sp>
        <p:nvSpPr>
          <p:cNvPr id="36" name="矩形 35"/>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37" name="文本框 36"/>
          <p:cNvSpPr txBox="1"/>
          <p:nvPr/>
        </p:nvSpPr>
        <p:spPr>
          <a:xfrm>
            <a:off x="447423" y="1435990"/>
            <a:ext cx="5053330" cy="50355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020712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020713</a:t>
            </a:r>
          </a:p>
        </p:txBody>
      </p:sp>
      <p:pic>
        <p:nvPicPr>
          <p:cNvPr id="38" name="图片 37" descr="资源 1"/>
          <p:cNvPicPr>
            <a:picLocks noChangeAspect="1"/>
          </p:cNvPicPr>
          <p:nvPr>
            <p:custDataLst>
              <p:tags r:id="rId1"/>
            </p:custDataLst>
          </p:nvPr>
        </p:nvPicPr>
        <p:blipFill>
          <a:blip r:embed="rId5"/>
          <a:stretch>
            <a:fillRect/>
          </a:stretch>
        </p:blipFill>
        <p:spPr>
          <a:xfrm>
            <a:off x="4674870" y="179070"/>
            <a:ext cx="1711960" cy="438150"/>
          </a:xfrm>
          <a:prstGeom prst="rect">
            <a:avLst/>
          </a:prstGeom>
        </p:spPr>
      </p:pic>
      <p:pic>
        <p:nvPicPr>
          <p:cNvPr id="22" name="图片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3221" y="7715985"/>
            <a:ext cx="2239307" cy="3844655"/>
          </a:xfrm>
          <a:prstGeom prst="rect">
            <a:avLst/>
          </a:prstGeom>
        </p:spPr>
      </p:pic>
    </p:spTree>
    <p:extLst>
      <p:ext uri="{BB962C8B-B14F-4D97-AF65-F5344CB8AC3E}">
        <p14:creationId xmlns:p14="http://schemas.microsoft.com/office/powerpoint/2010/main" val="2322163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0" y="-634"/>
            <a:ext cx="6858000" cy="1895351"/>
            <a:chOff x="0" y="-634"/>
            <a:chExt cx="6858000" cy="1471894"/>
          </a:xfrm>
        </p:grpSpPr>
        <p:pic>
          <p:nvPicPr>
            <p:cNvPr id="13" name="图片 12" descr="风向标头图"/>
            <p:cNvPicPr>
              <a:picLocks noChangeAspect="1"/>
            </p:cNvPicPr>
            <p:nvPr/>
          </p:nvPicPr>
          <p:blipFill>
            <a:blip r:embed="rId3"/>
            <a:stretch>
              <a:fillRect/>
            </a:stretch>
          </p:blipFill>
          <p:spPr>
            <a:xfrm>
              <a:off x="0" y="-634"/>
              <a:ext cx="6858000" cy="1471894"/>
            </a:xfrm>
            <a:prstGeom prst="rect">
              <a:avLst/>
            </a:prstGeom>
          </p:spPr>
        </p:pic>
        <p:pic>
          <p:nvPicPr>
            <p:cNvPr id="14" name="图片 13"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22" name="文本框 21"/>
          <p:cNvSpPr txBox="1"/>
          <p:nvPr/>
        </p:nvSpPr>
        <p:spPr>
          <a:xfrm>
            <a:off x="511564" y="315648"/>
            <a:ext cx="5054526" cy="954107"/>
          </a:xfrm>
          <a:prstGeom prst="rect">
            <a:avLst/>
          </a:prstGeom>
          <a:noFill/>
        </p:spPr>
        <p:txBody>
          <a:bodyPr wrap="square" rtlCol="0">
            <a:spAutoFit/>
          </a:bodyPr>
          <a:lstStyle/>
          <a:p>
            <a:r>
              <a:rPr lang="zh-CN" altLang="en-US"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黄金</a:t>
            </a:r>
            <a:r>
              <a:rPr lang="en-US" altLang="zh-CN"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a:t>
            </a:r>
            <a:r>
              <a:rPr lang="zh-CN" altLang="en-US"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黄金股</a:t>
            </a:r>
            <a:r>
              <a:rPr lang="en-US" altLang="zh-CN"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p>
          <a:p>
            <a:r>
              <a:rPr lang="en-US" altLang="zh-CN" sz="28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518880/159321</a:t>
            </a:r>
          </a:p>
        </p:txBody>
      </p:sp>
      <p:sp>
        <p:nvSpPr>
          <p:cNvPr id="23" name="矩形 22"/>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15" name="椭圆 14"/>
          <p:cNvSpPr/>
          <p:nvPr/>
        </p:nvSpPr>
        <p:spPr>
          <a:xfrm>
            <a:off x="3914511" y="3784274"/>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16" name="矩形 15"/>
          <p:cNvSpPr/>
          <p:nvPr/>
        </p:nvSpPr>
        <p:spPr>
          <a:xfrm>
            <a:off x="3911482" y="2953253"/>
            <a:ext cx="2760105" cy="559769"/>
          </a:xfrm>
          <a:prstGeom prst="rect">
            <a:avLst/>
          </a:prstGeom>
          <a:noFill/>
        </p:spPr>
        <p:txBody>
          <a:bodyPr wrap="square" anchor="ctr">
            <a:spAutoFit/>
          </a:bodyPr>
          <a:lstStyle/>
          <a:p>
            <a:pPr>
              <a:lnSpc>
                <a:spcPct val="150000"/>
              </a:lnSpc>
            </a:pPr>
            <a:r>
              <a:rPr lang="zh-CN" altLang="en-US" sz="2000"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93</a:t>
            </a:r>
          </a:p>
        </p:txBody>
      </p:sp>
      <p:sp>
        <p:nvSpPr>
          <p:cNvPr id="17" name="矩形 16"/>
          <p:cNvSpPr/>
          <p:nvPr/>
        </p:nvSpPr>
        <p:spPr>
          <a:xfrm>
            <a:off x="2370093" y="6914607"/>
            <a:ext cx="2273781" cy="461665"/>
          </a:xfrm>
          <a:prstGeom prst="rect">
            <a:avLst/>
          </a:prstGeom>
          <a:noFill/>
        </p:spPr>
        <p:txBody>
          <a:bodyPr wrap="square" anchor="ctr">
            <a:spAutoFit/>
          </a:bodyPr>
          <a:lstStyle/>
          <a:p>
            <a:pPr algn="ctr"/>
            <a:r>
              <a:rPr lang="zh-CN" altLang="en-US" sz="2400" b="1" dirty="0">
                <a:solidFill>
                  <a:srgbClr val="2581B5"/>
                </a:solidFill>
                <a:latin typeface="Cambria" panose="02040503050406030204" pitchFamily="18" charset="0"/>
                <a:ea typeface="楷体" panose="02010609060101010101" pitchFamily="49" charset="-122"/>
                <a:sym typeface="Cambria" panose="02040503050406030204" pitchFamily="18" charset="0"/>
              </a:rPr>
              <a:t>核心驱动因素</a:t>
            </a:r>
          </a:p>
        </p:txBody>
      </p:sp>
      <p:sp>
        <p:nvSpPr>
          <p:cNvPr id="19" name="矩形 18"/>
          <p:cNvSpPr/>
          <p:nvPr/>
        </p:nvSpPr>
        <p:spPr>
          <a:xfrm>
            <a:off x="2706900" y="9060898"/>
            <a:ext cx="3600438" cy="1477328"/>
          </a:xfrm>
          <a:prstGeom prst="rect">
            <a:avLst/>
          </a:prstGeom>
        </p:spPr>
        <p:txBody>
          <a:bodyPr wrap="square">
            <a:spAutoFit/>
          </a:bodyPr>
          <a:lstStyle/>
          <a:p>
            <a:pPr algn="just">
              <a:buClr>
                <a:srgbClr val="D6862D"/>
              </a:buClr>
              <a:defRPr/>
            </a:pPr>
            <a:r>
              <a:rPr lang="en-US" altLang="zh-CN" dirty="0">
                <a:latin typeface="楷体" panose="02010609060101010101" pitchFamily="49" charset="-122"/>
                <a:ea typeface="楷体" panose="02010609060101010101" pitchFamily="49" charset="-122"/>
                <a:cs typeface="+mn-ea"/>
                <a:sym typeface="+mn-lt"/>
              </a:rPr>
              <a:t>2</a:t>
            </a:r>
            <a:r>
              <a:rPr lang="zh-CN" altLang="en-US" dirty="0">
                <a:latin typeface="楷体" panose="02010609060101010101" pitchFamily="49" charset="-122"/>
                <a:ea typeface="楷体" panose="02010609060101010101" pitchFamily="49" charset="-122"/>
                <a:cs typeface="+mn-ea"/>
                <a:sym typeface="+mn-lt"/>
              </a:rPr>
              <a:t>、</a:t>
            </a:r>
            <a:r>
              <a:rPr lang="en-US" altLang="zh-CN" dirty="0">
                <a:latin typeface="楷体" panose="02010609060101010101" pitchFamily="49" charset="-122"/>
                <a:ea typeface="楷体" panose="02010609060101010101" pitchFamily="49" charset="-122"/>
                <a:cs typeface="+mn-ea"/>
                <a:sym typeface="+mn-lt"/>
              </a:rPr>
              <a:t>2026</a:t>
            </a:r>
            <a:r>
              <a:rPr lang="zh-CN" altLang="en-US" dirty="0">
                <a:latin typeface="楷体" panose="02010609060101010101" pitchFamily="49" charset="-122"/>
                <a:ea typeface="楷体" panose="02010609060101010101" pitchFamily="49" charset="-122"/>
                <a:cs typeface="+mn-ea"/>
                <a:sym typeface="+mn-lt"/>
              </a:rPr>
              <a:t>年内最大回撤达</a:t>
            </a:r>
            <a:r>
              <a:rPr lang="en-US" altLang="zh-CN" dirty="0">
                <a:latin typeface="楷体" panose="02010609060101010101" pitchFamily="49" charset="-122"/>
                <a:ea typeface="楷体" panose="02010609060101010101" pitchFamily="49" charset="-122"/>
                <a:cs typeface="+mn-ea"/>
                <a:sym typeface="+mn-lt"/>
              </a:rPr>
              <a:t>26%</a:t>
            </a:r>
            <a:r>
              <a:rPr lang="zh-CN" altLang="en-US" dirty="0">
                <a:latin typeface="楷体" panose="02010609060101010101" pitchFamily="49" charset="-122"/>
                <a:ea typeface="楷体" panose="02010609060101010101" pitchFamily="49" charset="-122"/>
                <a:cs typeface="+mn-ea"/>
                <a:sym typeface="+mn-lt"/>
              </a:rPr>
              <a:t>，参考历史经验，</a:t>
            </a:r>
            <a:r>
              <a:rPr lang="en-US" altLang="zh-CN" dirty="0">
                <a:latin typeface="楷体" panose="02010609060101010101" pitchFamily="49" charset="-122"/>
                <a:ea typeface="楷体" panose="02010609060101010101" pitchFamily="49" charset="-122"/>
                <a:cs typeface="+mn-ea"/>
                <a:sym typeface="+mn-lt"/>
              </a:rPr>
              <a:t>2022</a:t>
            </a:r>
            <a:r>
              <a:rPr lang="zh-CN" altLang="en-US" dirty="0">
                <a:latin typeface="楷体" panose="02010609060101010101" pitchFamily="49" charset="-122"/>
                <a:ea typeface="楷体" panose="02010609060101010101" pitchFamily="49" charset="-122"/>
                <a:cs typeface="+mn-ea"/>
                <a:sym typeface="+mn-lt"/>
              </a:rPr>
              <a:t>年俄乌冲突时最大回撤</a:t>
            </a:r>
            <a:r>
              <a:rPr lang="en-US" altLang="zh-CN" dirty="0">
                <a:latin typeface="楷体" panose="02010609060101010101" pitchFamily="49" charset="-122"/>
                <a:ea typeface="楷体" panose="02010609060101010101" pitchFamily="49" charset="-122"/>
                <a:cs typeface="+mn-ea"/>
                <a:sym typeface="+mn-lt"/>
              </a:rPr>
              <a:t>21%</a:t>
            </a:r>
            <a:r>
              <a:rPr lang="zh-CN" altLang="en-US" dirty="0">
                <a:latin typeface="楷体" panose="02010609060101010101" pitchFamily="49" charset="-122"/>
                <a:ea typeface="楷体" panose="02010609060101010101" pitchFamily="49" charset="-122"/>
                <a:cs typeface="+mn-ea"/>
                <a:sym typeface="+mn-lt"/>
              </a:rPr>
              <a:t>，</a:t>
            </a:r>
            <a:r>
              <a:rPr lang="en-US" altLang="zh-CN" dirty="0">
                <a:latin typeface="楷体" panose="02010609060101010101" pitchFamily="49" charset="-122"/>
                <a:ea typeface="楷体" panose="02010609060101010101" pitchFamily="49" charset="-122"/>
                <a:cs typeface="+mn-ea"/>
                <a:sym typeface="+mn-lt"/>
              </a:rPr>
              <a:t>2008</a:t>
            </a:r>
            <a:r>
              <a:rPr lang="zh-CN" altLang="en-US" dirty="0">
                <a:latin typeface="楷体" panose="02010609060101010101" pitchFamily="49" charset="-122"/>
                <a:ea typeface="楷体" panose="02010609060101010101" pitchFamily="49" charset="-122"/>
                <a:cs typeface="+mn-ea"/>
                <a:sym typeface="+mn-lt"/>
              </a:rPr>
              <a:t>年金融危机时最大回撤</a:t>
            </a:r>
            <a:r>
              <a:rPr lang="en-US" altLang="zh-CN" dirty="0">
                <a:latin typeface="楷体" panose="02010609060101010101" pitchFamily="49" charset="-122"/>
                <a:ea typeface="楷体" panose="02010609060101010101" pitchFamily="49" charset="-122"/>
                <a:cs typeface="+mn-ea"/>
                <a:sym typeface="+mn-lt"/>
              </a:rPr>
              <a:t>30%</a:t>
            </a:r>
            <a:r>
              <a:rPr lang="zh-CN" altLang="en-US" dirty="0">
                <a:latin typeface="楷体" panose="02010609060101010101" pitchFamily="49" charset="-122"/>
                <a:ea typeface="楷体" panose="02010609060101010101" pitchFamily="49" charset="-122"/>
                <a:cs typeface="+mn-ea"/>
                <a:sym typeface="+mn-lt"/>
              </a:rPr>
              <a:t>。从跌幅角度，黄金的情绪冲击已呈现极端水平。</a:t>
            </a:r>
            <a:endParaRPr lang="zh-CN" altLang="en-US"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cxnSp>
        <p:nvCxnSpPr>
          <p:cNvPr id="20" name="直线连接符 29"/>
          <p:cNvCxnSpPr/>
          <p:nvPr/>
        </p:nvCxnSpPr>
        <p:spPr>
          <a:xfrm>
            <a:off x="4507119" y="7139997"/>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线连接符 30"/>
          <p:cNvCxnSpPr/>
          <p:nvPr/>
        </p:nvCxnSpPr>
        <p:spPr>
          <a:xfrm>
            <a:off x="505128" y="7139997"/>
            <a:ext cx="199735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线连接符 40"/>
          <p:cNvCxnSpPr/>
          <p:nvPr/>
        </p:nvCxnSpPr>
        <p:spPr>
          <a:xfrm>
            <a:off x="2760693" y="8967072"/>
            <a:ext cx="3430841"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420914" y="1979595"/>
            <a:ext cx="3171480" cy="4955203"/>
          </a:xfrm>
          <a:prstGeom prst="rect">
            <a:avLst/>
          </a:prstGeom>
          <a:noFill/>
        </p:spPr>
        <p:txBody>
          <a:bodyPr wrap="square">
            <a:spAutoFit/>
          </a:bodyPr>
          <a:lstStyle/>
          <a:p>
            <a:pPr indent="457200" algn="just">
              <a:spcAft>
                <a:spcPts val="600"/>
              </a:spcAft>
            </a:pP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月黄金表现受美联储加息预期、流动性冲击、部分央行卖出等影响大幅震荡。</a:t>
            </a:r>
            <a:r>
              <a:rPr lang="en-US" altLang="zh-CN" dirty="0">
                <a:latin typeface="楷体" panose="02010609060101010101" pitchFamily="49" charset="-122"/>
                <a:ea typeface="楷体" panose="02010609060101010101" pitchFamily="49" charset="-122"/>
              </a:rPr>
              <a:t>AU9999</a:t>
            </a:r>
            <a:r>
              <a:rPr lang="zh-CN" altLang="en-US" dirty="0">
                <a:latin typeface="楷体" panose="02010609060101010101" pitchFamily="49" charset="-122"/>
                <a:ea typeface="楷体" panose="02010609060101010101" pitchFamily="49" charset="-122"/>
              </a:rPr>
              <a:t>跌</a:t>
            </a:r>
            <a:r>
              <a:rPr lang="en-US" altLang="zh-CN" dirty="0">
                <a:latin typeface="楷体" panose="02010609060101010101" pitchFamily="49" charset="-122"/>
                <a:ea typeface="楷体" panose="02010609060101010101" pitchFamily="49" charset="-122"/>
              </a:rPr>
              <a:t>10.86%</a:t>
            </a:r>
            <a:r>
              <a:rPr lang="zh-CN" altLang="en-US" dirty="0">
                <a:latin typeface="楷体" panose="02010609060101010101" pitchFamily="49" charset="-122"/>
                <a:ea typeface="楷体" panose="02010609060101010101" pitchFamily="49" charset="-122"/>
              </a:rPr>
              <a:t>至</a:t>
            </a:r>
            <a:r>
              <a:rPr lang="en-US" altLang="zh-CN" dirty="0">
                <a:latin typeface="楷体" panose="02010609060101010101" pitchFamily="49" charset="-122"/>
                <a:ea typeface="楷体" panose="02010609060101010101" pitchFamily="49" charset="-122"/>
              </a:rPr>
              <a:t>1018.9</a:t>
            </a:r>
            <a:r>
              <a:rPr lang="zh-CN" altLang="en-US" dirty="0">
                <a:latin typeface="楷体" panose="02010609060101010101" pitchFamily="49" charset="-122"/>
                <a:ea typeface="楷体" panose="02010609060101010101" pitchFamily="49" charset="-122"/>
              </a:rPr>
              <a:t>元</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克，伦敦金跌</a:t>
            </a:r>
            <a:r>
              <a:rPr lang="en-US" altLang="zh-CN" dirty="0">
                <a:latin typeface="楷体" panose="02010609060101010101" pitchFamily="49" charset="-122"/>
                <a:ea typeface="楷体" panose="02010609060101010101" pitchFamily="49" charset="-122"/>
              </a:rPr>
              <a:t>11.54%</a:t>
            </a:r>
            <a:r>
              <a:rPr lang="zh-CN" altLang="en-US" dirty="0">
                <a:latin typeface="楷体" panose="02010609060101010101" pitchFamily="49" charset="-122"/>
                <a:ea typeface="楷体" panose="02010609060101010101" pitchFamily="49" charset="-122"/>
              </a:rPr>
              <a:t>至</a:t>
            </a:r>
            <a:r>
              <a:rPr lang="en-US" altLang="zh-CN" dirty="0">
                <a:latin typeface="楷体" panose="02010609060101010101" pitchFamily="49" charset="-122"/>
                <a:ea typeface="楷体" panose="02010609060101010101" pitchFamily="49" charset="-122"/>
              </a:rPr>
              <a:t>4669.13</a:t>
            </a:r>
            <a:r>
              <a:rPr lang="zh-CN" altLang="en-US" dirty="0">
                <a:latin typeface="楷体" panose="02010609060101010101" pitchFamily="49" charset="-122"/>
                <a:ea typeface="楷体" panose="02010609060101010101" pitchFamily="49" charset="-122"/>
              </a:rPr>
              <a:t>美元</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盎司。</a:t>
            </a:r>
          </a:p>
          <a:p>
            <a:pPr indent="457200" algn="just">
              <a:spcAft>
                <a:spcPts val="600"/>
              </a:spcAft>
            </a:pPr>
            <a:r>
              <a:rPr lang="en-US" altLang="zh-CN" dirty="0">
                <a:latin typeface="楷体" panose="02010609060101010101" pitchFamily="49" charset="-122"/>
                <a:ea typeface="楷体" panose="02010609060101010101" pitchFamily="49" charset="-122"/>
                <a:cs typeface="+mn-ea"/>
                <a:sym typeface="+mn-lt"/>
              </a:rPr>
              <a:t>3</a:t>
            </a:r>
            <a:r>
              <a:rPr lang="zh-CN" altLang="en-US" dirty="0">
                <a:latin typeface="楷体" panose="02010609060101010101" pitchFamily="49" charset="-122"/>
                <a:ea typeface="楷体" panose="02010609060101010101" pitchFamily="49" charset="-122"/>
                <a:cs typeface="+mn-ea"/>
                <a:sym typeface="+mn-lt"/>
              </a:rPr>
              <a:t>月的美伊冲突对全球资产定价形成冲击，黄金不是单一受影响的资产。</a:t>
            </a:r>
          </a:p>
          <a:p>
            <a:pPr indent="457200" algn="just">
              <a:spcAft>
                <a:spcPts val="600"/>
              </a:spcAft>
            </a:pPr>
            <a:r>
              <a:rPr lang="zh-CN" altLang="en-US" dirty="0">
                <a:latin typeface="楷体" panose="02010609060101010101" pitchFamily="49" charset="-122"/>
                <a:ea typeface="楷体" panose="02010609060101010101" pitchFamily="49" charset="-122"/>
                <a:cs typeface="+mn-ea"/>
                <a:sym typeface="+mn-lt"/>
              </a:rPr>
              <a:t>展望</a:t>
            </a:r>
            <a:r>
              <a:rPr lang="en-US" altLang="zh-CN" dirty="0">
                <a:latin typeface="楷体" panose="02010609060101010101" pitchFamily="49" charset="-122"/>
                <a:ea typeface="楷体" panose="02010609060101010101" pitchFamily="49" charset="-122"/>
                <a:cs typeface="+mn-ea"/>
                <a:sym typeface="+mn-lt"/>
              </a:rPr>
              <a:t>2026</a:t>
            </a:r>
            <a:r>
              <a:rPr lang="zh-CN" altLang="en-US" dirty="0">
                <a:latin typeface="楷体" panose="02010609060101010101" pitchFamily="49" charset="-122"/>
                <a:ea typeface="楷体" panose="02010609060101010101" pitchFamily="49" charset="-122"/>
                <a:cs typeface="+mn-ea"/>
                <a:sym typeface="+mn-lt"/>
              </a:rPr>
              <a:t>年，黄金短期流动性冲击不改长期趋势，美联储加息预期抬升但受限于债务压力和经济就业衰退，加息落地难度较大。长期来看，黄金对冲“国际秩序碎片化风险”与“主权信用货币风险”的价值有望持续显现。</a:t>
            </a:r>
          </a:p>
        </p:txBody>
      </p:sp>
      <p:sp>
        <p:nvSpPr>
          <p:cNvPr id="28" name="矩形 27"/>
          <p:cNvSpPr/>
          <p:nvPr/>
        </p:nvSpPr>
        <p:spPr>
          <a:xfrm>
            <a:off x="2760692" y="7429806"/>
            <a:ext cx="3579953" cy="1477328"/>
          </a:xfrm>
          <a:prstGeom prst="rect">
            <a:avLst/>
          </a:prstGeom>
        </p:spPr>
        <p:txBody>
          <a:bodyPr wrap="square">
            <a:spAutoFit/>
          </a:bodyPr>
          <a:lstStyle/>
          <a:p>
            <a:pPr algn="just">
              <a:buClr>
                <a:srgbClr val="D6862D"/>
              </a:buClr>
              <a:defRPr/>
            </a:pPr>
            <a:r>
              <a:rPr lang="en-US" altLang="zh-CN" dirty="0">
                <a:latin typeface="楷体" panose="02010609060101010101" pitchFamily="49" charset="-122"/>
                <a:ea typeface="楷体" panose="02010609060101010101" pitchFamily="49" charset="-122"/>
                <a:cs typeface="+mn-ea"/>
                <a:sym typeface="+mn-lt"/>
              </a:rPr>
              <a:t>1</a:t>
            </a:r>
            <a:r>
              <a:rPr lang="zh-CN" altLang="en-US" dirty="0">
                <a:latin typeface="楷体" panose="02010609060101010101" pitchFamily="49" charset="-122"/>
                <a:ea typeface="楷体" panose="02010609060101010101" pitchFamily="49" charset="-122"/>
                <a:cs typeface="+mn-ea"/>
                <a:sym typeface="+mn-lt"/>
              </a:rPr>
              <a:t>、美伊冲突骤然升级，霍尔木兹海峡的封锁令全球能源价格飙升，通胀预期重燃。流动性抽水、美联储鹰派、部分央行卖出等因素造成黄金自</a:t>
            </a:r>
            <a:r>
              <a:rPr lang="en-US" altLang="zh-CN" dirty="0">
                <a:latin typeface="楷体" panose="02010609060101010101" pitchFamily="49" charset="-122"/>
                <a:ea typeface="楷体" panose="02010609060101010101" pitchFamily="49" charset="-122"/>
                <a:cs typeface="+mn-ea"/>
                <a:sym typeface="+mn-lt"/>
              </a:rPr>
              <a:t>5400</a:t>
            </a:r>
            <a:r>
              <a:rPr lang="zh-CN" altLang="en-US" dirty="0">
                <a:latin typeface="楷体" panose="02010609060101010101" pitchFamily="49" charset="-122"/>
                <a:ea typeface="楷体" panose="02010609060101010101" pitchFamily="49" charset="-122"/>
                <a:cs typeface="+mn-ea"/>
                <a:sym typeface="+mn-lt"/>
              </a:rPr>
              <a:t>美元高位回调。</a:t>
            </a:r>
          </a:p>
        </p:txBody>
      </p:sp>
      <p:graphicFrame>
        <p:nvGraphicFramePr>
          <p:cNvPr id="29" name="图表 28"/>
          <p:cNvGraphicFramePr/>
          <p:nvPr/>
        </p:nvGraphicFramePr>
        <p:xfrm>
          <a:off x="3405985" y="3289362"/>
          <a:ext cx="3341594" cy="2990851"/>
        </p:xfrm>
        <a:graphic>
          <a:graphicData uri="http://schemas.openxmlformats.org/drawingml/2006/chart">
            <c:chart xmlns:c="http://schemas.openxmlformats.org/drawingml/2006/chart" xmlns:r="http://schemas.openxmlformats.org/officeDocument/2006/relationships" r:id="rId5"/>
          </a:graphicData>
        </a:graphic>
      </p:graphicFrame>
      <p:pic>
        <p:nvPicPr>
          <p:cNvPr id="34" name="图片 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2027" y="7606652"/>
            <a:ext cx="2239307" cy="3844655"/>
          </a:xfrm>
          <a:prstGeom prst="rect">
            <a:avLst/>
          </a:prstGeom>
        </p:spPr>
      </p:pic>
      <p:graphicFrame>
        <p:nvGraphicFramePr>
          <p:cNvPr id="31" name="图表 30"/>
          <p:cNvGraphicFramePr>
            <a:graphicFrameLocks/>
          </p:cNvGraphicFramePr>
          <p:nvPr/>
        </p:nvGraphicFramePr>
        <p:xfrm>
          <a:off x="3518607" y="3571180"/>
          <a:ext cx="3341594" cy="2990851"/>
        </p:xfrm>
        <a:graphic>
          <a:graphicData uri="http://schemas.openxmlformats.org/drawingml/2006/chart">
            <c:chart xmlns:c="http://schemas.openxmlformats.org/drawingml/2006/chart" xmlns:r="http://schemas.openxmlformats.org/officeDocument/2006/relationships" r:id="rId7"/>
          </a:graphicData>
        </a:graphic>
      </p:graphicFrame>
      <p:cxnSp>
        <p:nvCxnSpPr>
          <p:cNvPr id="32" name="直线连接符 40"/>
          <p:cNvCxnSpPr/>
          <p:nvPr/>
        </p:nvCxnSpPr>
        <p:spPr>
          <a:xfrm>
            <a:off x="2760692" y="10582461"/>
            <a:ext cx="3430841"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511564" y="1353654"/>
            <a:ext cx="5992086" cy="428614"/>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000216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000217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I</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022653</a:t>
            </a:r>
          </a:p>
        </p:txBody>
      </p:sp>
      <p:sp>
        <p:nvSpPr>
          <p:cNvPr id="2" name="矩形 1"/>
          <p:cNvSpPr/>
          <p:nvPr/>
        </p:nvSpPr>
        <p:spPr>
          <a:xfrm>
            <a:off x="2723754" y="10636002"/>
            <a:ext cx="3600438" cy="923330"/>
          </a:xfrm>
          <a:prstGeom prst="rect">
            <a:avLst/>
          </a:prstGeom>
        </p:spPr>
        <p:txBody>
          <a:bodyPr wrap="square">
            <a:spAutoFit/>
          </a:bodyPr>
          <a:lstStyle/>
          <a:p>
            <a:pPr algn="just">
              <a:buClr>
                <a:srgbClr val="D6862D"/>
              </a:buClr>
            </a:pPr>
            <a:r>
              <a:rPr lang="en-US" altLang="zh-CN" dirty="0">
                <a:latin typeface="楷体" panose="02010609060101010101" pitchFamily="49" charset="-122"/>
                <a:ea typeface="楷体" panose="02010609060101010101" pitchFamily="49" charset="-122"/>
                <a:cs typeface="+mn-ea"/>
              </a:rPr>
              <a:t>3</a:t>
            </a:r>
            <a:r>
              <a:rPr lang="zh-CN" altLang="en-US" dirty="0">
                <a:latin typeface="楷体" panose="02010609060101010101" pitchFamily="49" charset="-122"/>
                <a:ea typeface="楷体" panose="02010609060101010101" pitchFamily="49" charset="-122"/>
                <a:cs typeface="+mn-ea"/>
              </a:rPr>
              <a:t>、黄金兼具收益性和低相关性，近</a:t>
            </a:r>
            <a:r>
              <a:rPr lang="en-US" altLang="zh-CN" dirty="0">
                <a:latin typeface="楷体" panose="02010609060101010101" pitchFamily="49" charset="-122"/>
                <a:ea typeface="楷体" panose="02010609060101010101" pitchFamily="49" charset="-122"/>
                <a:cs typeface="+mn-ea"/>
              </a:rPr>
              <a:t>20</a:t>
            </a:r>
            <a:r>
              <a:rPr lang="zh-CN" altLang="en-US" dirty="0">
                <a:latin typeface="楷体" panose="02010609060101010101" pitchFamily="49" charset="-122"/>
                <a:ea typeface="楷体" panose="02010609060101010101" pitchFamily="49" charset="-122"/>
                <a:cs typeface="+mn-ea"/>
              </a:rPr>
              <a:t>年年化收益超</a:t>
            </a:r>
            <a:r>
              <a:rPr lang="en-US" altLang="zh-CN" dirty="0">
                <a:latin typeface="楷体" panose="02010609060101010101" pitchFamily="49" charset="-122"/>
                <a:ea typeface="楷体" panose="02010609060101010101" pitchFamily="49" charset="-122"/>
                <a:cs typeface="+mn-ea"/>
              </a:rPr>
              <a:t>10%</a:t>
            </a:r>
            <a:r>
              <a:rPr lang="zh-CN" altLang="en-US" dirty="0">
                <a:latin typeface="楷体" panose="02010609060101010101" pitchFamily="49" charset="-122"/>
                <a:ea typeface="楷体" panose="02010609060101010101" pitchFamily="49" charset="-122"/>
                <a:cs typeface="+mn-ea"/>
              </a:rPr>
              <a:t>，凸显配置功能，全球黄金</a:t>
            </a:r>
            <a:r>
              <a:rPr lang="en-US" altLang="zh-CN" dirty="0">
                <a:latin typeface="楷体" panose="02010609060101010101" pitchFamily="49" charset="-122"/>
                <a:ea typeface="楷体" panose="02010609060101010101" pitchFamily="49" charset="-122"/>
                <a:cs typeface="+mn-ea"/>
              </a:rPr>
              <a:t>ETF</a:t>
            </a:r>
            <a:r>
              <a:rPr lang="zh-CN" altLang="en-US" dirty="0">
                <a:latin typeface="楷体" panose="02010609060101010101" pitchFamily="49" charset="-122"/>
                <a:ea typeface="楷体" panose="02010609060101010101" pitchFamily="49" charset="-122"/>
                <a:cs typeface="+mn-ea"/>
              </a:rPr>
              <a:t>需求激增。</a:t>
            </a:r>
          </a:p>
        </p:txBody>
      </p:sp>
      <p:cxnSp>
        <p:nvCxnSpPr>
          <p:cNvPr id="33" name="直线连接符 40"/>
          <p:cNvCxnSpPr/>
          <p:nvPr/>
        </p:nvCxnSpPr>
        <p:spPr>
          <a:xfrm>
            <a:off x="2708221" y="11695757"/>
            <a:ext cx="3430841"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1152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37884" y="2078333"/>
            <a:ext cx="3121534" cy="4678204"/>
          </a:xfrm>
          <a:prstGeom prst="rect">
            <a:avLst/>
          </a:prstGeom>
          <a:noFill/>
        </p:spPr>
        <p:txBody>
          <a:bodyPr wrap="square">
            <a:spAutoFit/>
          </a:bodyPr>
          <a:lstStyle/>
          <a:p>
            <a:pPr indent="457200" algn="just">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上证</a:t>
            </a:r>
            <a:r>
              <a:rPr lang="en-US" altLang="zh-CN" dirty="0">
                <a:latin typeface="楷体" panose="02010609060101010101" pitchFamily="49" charset="-122"/>
                <a:ea typeface="楷体" panose="02010609060101010101" pitchFamily="49" charset="-122"/>
                <a:sym typeface="Cambria" panose="02040503050406030204" pitchFamily="18" charset="0"/>
              </a:rPr>
              <a:t>180</a:t>
            </a:r>
            <a:r>
              <a:rPr lang="zh-CN" altLang="en-US" dirty="0">
                <a:latin typeface="楷体" panose="02010609060101010101" pitchFamily="49" charset="-122"/>
                <a:ea typeface="楷体" panose="02010609060101010101" pitchFamily="49" charset="-122"/>
                <a:sym typeface="Cambria" panose="02040503050406030204" pitchFamily="18" charset="0"/>
              </a:rPr>
              <a:t>指数</a:t>
            </a:r>
            <a:r>
              <a:rPr lang="en-US" altLang="zh-CN" dirty="0">
                <a:latin typeface="楷体" panose="02010609060101010101" pitchFamily="49" charset="-122"/>
                <a:ea typeface="楷体" panose="02010609060101010101" pitchFamily="49" charset="-122"/>
                <a:sym typeface="Cambria" panose="02040503050406030204" pitchFamily="18" charset="0"/>
              </a:rPr>
              <a:t>3</a:t>
            </a:r>
            <a:r>
              <a:rPr lang="zh-CN" altLang="en-US" dirty="0">
                <a:latin typeface="楷体" panose="02010609060101010101" pitchFamily="49" charset="-122"/>
                <a:ea typeface="楷体" panose="02010609060101010101" pitchFamily="49" charset="-122"/>
                <a:sym typeface="Cambria" panose="02040503050406030204" pitchFamily="18" charset="0"/>
              </a:rPr>
              <a:t>月下跌</a:t>
            </a:r>
            <a:r>
              <a:rPr lang="en-US" altLang="zh-CN" dirty="0">
                <a:latin typeface="楷体" panose="02010609060101010101" pitchFamily="49" charset="-122"/>
                <a:ea typeface="楷体" panose="02010609060101010101" pitchFamily="49" charset="-122"/>
                <a:sym typeface="Cambria" panose="02040503050406030204" pitchFamily="18" charset="0"/>
              </a:rPr>
              <a:t>7.97%</a:t>
            </a:r>
            <a:r>
              <a:rPr lang="zh-CN" altLang="en-US" dirty="0">
                <a:latin typeface="楷体" panose="02010609060101010101" pitchFamily="49" charset="-122"/>
                <a:ea typeface="楷体" panose="02010609060101010101" pitchFamily="49" charset="-122"/>
                <a:sym typeface="Cambria" panose="02040503050406030204" pitchFamily="18" charset="0"/>
              </a:rPr>
              <a:t>。</a:t>
            </a:r>
          </a:p>
          <a:p>
            <a:pPr indent="457200" algn="just">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上证</a:t>
            </a:r>
            <a:r>
              <a:rPr lang="en-US" altLang="zh-CN" dirty="0">
                <a:latin typeface="楷体" panose="02010609060101010101" pitchFamily="49" charset="-122"/>
                <a:ea typeface="楷体" panose="02010609060101010101" pitchFamily="49" charset="-122"/>
                <a:sym typeface="Cambria" panose="02040503050406030204" pitchFamily="18" charset="0"/>
              </a:rPr>
              <a:t>180</a:t>
            </a:r>
            <a:r>
              <a:rPr lang="zh-CN" altLang="en-US" dirty="0">
                <a:latin typeface="楷体" panose="02010609060101010101" pitchFamily="49" charset="-122"/>
                <a:ea typeface="楷体" panose="02010609060101010101" pitchFamily="49" charset="-122"/>
                <a:sym typeface="Cambria" panose="02040503050406030204" pitchFamily="18" charset="0"/>
              </a:rPr>
              <a:t>指数</a:t>
            </a:r>
            <a:r>
              <a:rPr lang="en-US" altLang="zh-CN" dirty="0">
                <a:latin typeface="楷体" panose="02010609060101010101" pitchFamily="49" charset="-122"/>
                <a:ea typeface="楷体" panose="02010609060101010101" pitchFamily="49" charset="-122"/>
                <a:sym typeface="Cambria" panose="02040503050406030204" pitchFamily="18" charset="0"/>
              </a:rPr>
              <a:t>60%</a:t>
            </a:r>
            <a:r>
              <a:rPr lang="zh-CN" altLang="en-US" dirty="0">
                <a:latin typeface="楷体" panose="02010609060101010101" pitchFamily="49" charset="-122"/>
                <a:ea typeface="楷体" panose="02010609060101010101" pitchFamily="49" charset="-122"/>
                <a:sym typeface="Cambria" panose="02040503050406030204" pitchFamily="18" charset="0"/>
              </a:rPr>
              <a:t>以上的市值来自央国企上市公司。在国内经济温和复苏环境下，央国企资产受市值管理政策影响，估值修复潜力较大。</a:t>
            </a:r>
            <a:endParaRPr lang="en-US" altLang="zh-CN" dirty="0">
              <a:latin typeface="楷体" panose="02010609060101010101" pitchFamily="49" charset="-122"/>
              <a:ea typeface="楷体" panose="02010609060101010101" pitchFamily="49" charset="-122"/>
              <a:sym typeface="Cambria" panose="02040503050406030204" pitchFamily="18" charset="0"/>
            </a:endParaRPr>
          </a:p>
          <a:p>
            <a:pPr indent="457200" algn="just">
              <a:spcAft>
                <a:spcPts val="600"/>
              </a:spcAft>
            </a:pPr>
            <a:r>
              <a:rPr lang="zh-CN" altLang="en-US" dirty="0">
                <a:latin typeface="楷体" panose="02010609060101010101" pitchFamily="49" charset="-122"/>
                <a:ea typeface="楷体" panose="02010609060101010101" pitchFamily="49" charset="-122"/>
                <a:sym typeface="Cambria" panose="02040503050406030204" pitchFamily="18" charset="0"/>
              </a:rPr>
              <a:t>当前全球地缘政治局势波谲云诡，经济秩序加剧重构。中国市场凭借强大的内需潜力，丰富的科创潜力和蓄势待发的产业升级潜力，展现出增长韧性。而上证</a:t>
            </a:r>
            <a:r>
              <a:rPr lang="en-US" altLang="zh-CN" dirty="0">
                <a:latin typeface="楷体" panose="02010609060101010101" pitchFamily="49" charset="-122"/>
                <a:ea typeface="楷体" panose="02010609060101010101" pitchFamily="49" charset="-122"/>
                <a:sym typeface="Cambria" panose="02040503050406030204" pitchFamily="18" charset="0"/>
              </a:rPr>
              <a:t>180</a:t>
            </a:r>
            <a:r>
              <a:rPr lang="zh-CN" altLang="en-US" dirty="0">
                <a:latin typeface="楷体" panose="02010609060101010101" pitchFamily="49" charset="-122"/>
                <a:ea typeface="楷体" panose="02010609060101010101" pitchFamily="49" charset="-122"/>
                <a:sym typeface="Cambria" panose="02040503050406030204" pitchFamily="18" charset="0"/>
              </a:rPr>
              <a:t>指数作为沪市核心资产指数，必能把握结构性机会，稳中向好。</a:t>
            </a:r>
            <a:endParaRPr lang="en-US" altLang="zh-CN" dirty="0">
              <a:latin typeface="楷体" panose="02010609060101010101" pitchFamily="49" charset="-122"/>
              <a:ea typeface="楷体" panose="02010609060101010101" pitchFamily="49" charset="-122"/>
              <a:sym typeface="Cambria" panose="02040503050406030204" pitchFamily="18" charset="0"/>
            </a:endParaRPr>
          </a:p>
        </p:txBody>
      </p:sp>
      <p:sp>
        <p:nvSpPr>
          <p:cNvPr id="12" name="矩形 11"/>
          <p:cNvSpPr/>
          <p:nvPr/>
        </p:nvSpPr>
        <p:spPr>
          <a:xfrm>
            <a:off x="4076518" y="2883859"/>
            <a:ext cx="3370637" cy="559769"/>
          </a:xfrm>
          <a:prstGeom prst="rect">
            <a:avLst/>
          </a:prstGeom>
          <a:noFill/>
        </p:spPr>
        <p:txBody>
          <a:bodyPr wrap="square" anchor="ctr">
            <a:spAutoFit/>
          </a:bodyPr>
          <a:lstStyle/>
          <a:p>
            <a:pPr>
              <a:lnSpc>
                <a:spcPct val="150000"/>
              </a:lnSpc>
            </a:pPr>
            <a:r>
              <a:rPr lang="zh-CN" altLang="en-US" b="1" dirty="0">
                <a:solidFill>
                  <a:srgbClr val="2581B5"/>
                </a:solidFill>
                <a:latin typeface="Cambria" panose="02040503050406030204" pitchFamily="18" charset="0"/>
                <a:ea typeface="楷体" panose="02010609060101010101" pitchFamily="49" charset="-122"/>
                <a:sym typeface="Cambria" panose="02040503050406030204" pitchFamily="18" charset="0"/>
              </a:rPr>
              <a:t>雷达图综合得分：</a:t>
            </a:r>
            <a:r>
              <a:rPr lang="en-US" altLang="zh-CN" sz="2400" b="1" dirty="0">
                <a:solidFill>
                  <a:schemeClr val="accent2">
                    <a:lumMod val="60000"/>
                    <a:lumOff val="40000"/>
                  </a:schemeClr>
                </a:solidFill>
                <a:latin typeface="楷体" panose="02010609060101010101" pitchFamily="49" charset="-122"/>
                <a:ea typeface="楷体" panose="02010609060101010101" pitchFamily="49" charset="-122"/>
                <a:sym typeface="Cambria" panose="02040503050406030204" pitchFamily="18" charset="0"/>
              </a:rPr>
              <a:t>92</a:t>
            </a:r>
          </a:p>
        </p:txBody>
      </p:sp>
      <p:sp>
        <p:nvSpPr>
          <p:cNvPr id="88" name="矩形 87"/>
          <p:cNvSpPr/>
          <p:nvPr/>
        </p:nvSpPr>
        <p:spPr>
          <a:xfrm>
            <a:off x="2522528" y="7022860"/>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69993" y="7259030"/>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68000" y="7259030"/>
            <a:ext cx="199735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4022690" y="3470856"/>
            <a:ext cx="2549786" cy="2549786"/>
          </a:xfrm>
          <a:prstGeom prst="ellipse">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8" name="圆角矩形 27"/>
          <p:cNvSpPr/>
          <p:nvPr/>
        </p:nvSpPr>
        <p:spPr>
          <a:xfrm>
            <a:off x="2649779" y="8853895"/>
            <a:ext cx="3833877" cy="910736"/>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indent="-457200" algn="just">
              <a:lnSpc>
                <a:spcPct val="150000"/>
              </a:lnSpc>
            </a:pP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p:txBody>
      </p:sp>
      <p:sp>
        <p:nvSpPr>
          <p:cNvPr id="29" name="圆角矩形 28"/>
          <p:cNvSpPr/>
          <p:nvPr/>
        </p:nvSpPr>
        <p:spPr>
          <a:xfrm>
            <a:off x="2758236" y="7597561"/>
            <a:ext cx="3519428" cy="1035041"/>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spcBef>
                <a:spcPct val="0"/>
              </a:spcBef>
              <a:spcAft>
                <a:spcPts val="600"/>
              </a:spcAft>
            </a:pPr>
            <a:r>
              <a:rPr lang="zh-CN" altLang="en-US" sz="1600" b="1" dirty="0">
                <a:solidFill>
                  <a:schemeClr val="tx1">
                    <a:lumMod val="75000"/>
                    <a:lumOff val="25000"/>
                  </a:schemeClr>
                </a:solidFill>
                <a:latin typeface="Cambria" panose="02040503050406030204" pitchFamily="18" charset="0"/>
                <a:ea typeface="楷体" panose="02010609060101010101" pitchFamily="49" charset="-122"/>
              </a:rPr>
              <a:t>聚焦核心央国企，把握核心资产：</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随着“一利五率”考核指标体系落地，央国企有望通过市场化方式，进一步挖掘价值重估潜力。</a:t>
            </a:r>
            <a:endParaRPr lang="en-US" altLang="zh-CN" sz="1600" dirty="0">
              <a:solidFill>
                <a:schemeClr val="tx1">
                  <a:lumMod val="75000"/>
                  <a:lumOff val="25000"/>
                </a:schemeClr>
              </a:solidFill>
              <a:latin typeface="Cambria" panose="02040503050406030204" pitchFamily="18" charset="0"/>
              <a:ea typeface="楷体" panose="02010609060101010101" pitchFamily="49" charset="-122"/>
              <a:sym typeface="Cambria" panose="02040503050406030204" pitchFamily="18" charset="0"/>
            </a:endParaRPr>
          </a:p>
        </p:txBody>
      </p:sp>
      <p:sp>
        <p:nvSpPr>
          <p:cNvPr id="33" name="圆角矩形 32"/>
          <p:cNvSpPr/>
          <p:nvPr/>
        </p:nvSpPr>
        <p:spPr>
          <a:xfrm>
            <a:off x="2738599" y="10267125"/>
            <a:ext cx="3642852" cy="1007835"/>
          </a:xfrm>
          <a:prstGeom prst="roundRect">
            <a:avLst>
              <a:gd name="adj" fmla="val 36888"/>
            </a:avLst>
          </a:prstGeom>
          <a:noFill/>
          <a:ln w="28575" cmpd="sng">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lvl="2" algn="just"/>
            <a:r>
              <a:rPr lang="zh-CN" altLang="en-US" sz="1600" b="1" dirty="0">
                <a:solidFill>
                  <a:schemeClr val="tx1">
                    <a:lumMod val="75000"/>
                    <a:lumOff val="25000"/>
                  </a:schemeClr>
                </a:solidFill>
                <a:latin typeface="Cambria" panose="02040503050406030204" pitchFamily="18" charset="0"/>
                <a:ea typeface="楷体" panose="02010609060101010101" pitchFamily="49" charset="-122"/>
              </a:rPr>
              <a:t>指数估值合理，投资性价比较高：</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当前上证</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180</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指数</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PE-TTM</a:t>
            </a:r>
            <a:r>
              <a:rPr lang="zh-CN" altLang="en-US" sz="1600" dirty="0">
                <a:solidFill>
                  <a:schemeClr val="tx1"/>
                </a:solidFill>
                <a:latin typeface="Cambria" panose="02040503050406030204" pitchFamily="18" charset="0"/>
                <a:ea typeface="楷体" panose="02010609060101010101" pitchFamily="49" charset="-122"/>
              </a:rPr>
              <a:t>为</a:t>
            </a:r>
            <a:r>
              <a:rPr lang="en-US" altLang="zh-CN" sz="1600" dirty="0">
                <a:solidFill>
                  <a:schemeClr val="tx1"/>
                </a:solidFill>
                <a:latin typeface="Cambria" panose="02040503050406030204" pitchFamily="18" charset="0"/>
                <a:ea typeface="楷体" panose="02010609060101010101" pitchFamily="49" charset="-122"/>
              </a:rPr>
              <a:t>12</a:t>
            </a:r>
            <a:r>
              <a:rPr lang="zh-CN" altLang="en-US" sz="1600" dirty="0">
                <a:solidFill>
                  <a:schemeClr val="tx1"/>
                </a:solidFill>
                <a:latin typeface="Cambria" panose="02040503050406030204" pitchFamily="18" charset="0"/>
                <a:ea typeface="楷体" panose="02010609060101010101" pitchFamily="49" charset="-122"/>
              </a:rPr>
              <a:t>倍，相对海内外宽基指数较低，</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投资性价比较高。</a:t>
            </a:r>
          </a:p>
        </p:txBody>
      </p:sp>
      <p:cxnSp>
        <p:nvCxnSpPr>
          <p:cNvPr id="34" name="直线连接符 43"/>
          <p:cNvCxnSpPr/>
          <p:nvPr/>
        </p:nvCxnSpPr>
        <p:spPr>
          <a:xfrm>
            <a:off x="2893915" y="8743248"/>
            <a:ext cx="33256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903911" y="10234431"/>
            <a:ext cx="332561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933700" y="11340339"/>
            <a:ext cx="332432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6" name="图表 25"/>
          <p:cNvGraphicFramePr/>
          <p:nvPr/>
        </p:nvGraphicFramePr>
        <p:xfrm>
          <a:off x="3927796" y="3298090"/>
          <a:ext cx="2739574" cy="2838991"/>
        </p:xfrm>
        <a:graphic>
          <a:graphicData uri="http://schemas.openxmlformats.org/drawingml/2006/chart">
            <c:chart xmlns:c="http://schemas.openxmlformats.org/drawingml/2006/chart" xmlns:r="http://schemas.openxmlformats.org/officeDocument/2006/relationships" r:id="rId3"/>
          </a:graphicData>
        </a:graphic>
      </p:graphicFrame>
      <p:sp>
        <p:nvSpPr>
          <p:cNvPr id="2" name="矩形 1"/>
          <p:cNvSpPr/>
          <p:nvPr/>
        </p:nvSpPr>
        <p:spPr>
          <a:xfrm>
            <a:off x="2861811" y="8808628"/>
            <a:ext cx="3389818" cy="1323439"/>
          </a:xfrm>
          <a:prstGeom prst="rect">
            <a:avLst/>
          </a:prstGeom>
        </p:spPr>
        <p:txBody>
          <a:bodyPr wrap="square">
            <a:spAutoFit/>
          </a:bodyPr>
          <a:lstStyle/>
          <a:p>
            <a:pPr marL="0" lvl="2" algn="just"/>
            <a:r>
              <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180</a:t>
            </a:r>
            <a:r>
              <a:rPr lang="zh-CN" altLang="en-US"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rPr>
              <a:t>指数覆盖沪市上市公司的六成市值、七成分红和八成利润：</a:t>
            </a:r>
            <a:endParaRPr lang="en-US" altLang="zh-CN" sz="1600" b="1" dirty="0">
              <a:solidFill>
                <a:schemeClr val="tx1">
                  <a:lumMod val="75000"/>
                  <a:lumOff val="25000"/>
                </a:schemeClr>
              </a:solidFill>
              <a:latin typeface="楷体" panose="02010609060101010101" pitchFamily="49" charset="-122"/>
              <a:ea typeface="楷体" panose="02010609060101010101" pitchFamily="49" charset="-122"/>
              <a:sym typeface="Cambria" panose="02040503050406030204" pitchFamily="18" charset="0"/>
            </a:endParaRPr>
          </a:p>
          <a:p>
            <a:pPr marL="0" lvl="2" algn="just"/>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囊括金融、能源、消费等关键支柱领域的核心龙头企业，深度锚定沪市核心资产价值中枢。</a:t>
            </a:r>
          </a:p>
        </p:txBody>
      </p:sp>
      <p:pic>
        <p:nvPicPr>
          <p:cNvPr id="27" name="图片 26" descr="风向标头图"/>
          <p:cNvPicPr>
            <a:picLocks noChangeAspect="1"/>
          </p:cNvPicPr>
          <p:nvPr/>
        </p:nvPicPr>
        <p:blipFill>
          <a:blip r:embed="rId4"/>
          <a:stretch>
            <a:fillRect/>
          </a:stretch>
        </p:blipFill>
        <p:spPr>
          <a:xfrm>
            <a:off x="0" y="-635"/>
            <a:ext cx="6858000" cy="1920536"/>
          </a:xfrm>
          <a:prstGeom prst="rect">
            <a:avLst/>
          </a:prstGeom>
        </p:spPr>
      </p:pic>
      <p:sp>
        <p:nvSpPr>
          <p:cNvPr id="35" name="文本框 34"/>
          <p:cNvSpPr txBox="1"/>
          <p:nvPr/>
        </p:nvSpPr>
        <p:spPr>
          <a:xfrm>
            <a:off x="476324" y="255071"/>
            <a:ext cx="5054526" cy="1077218"/>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上证</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180ETF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endParaRP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510180</a:t>
            </a:r>
          </a:p>
        </p:txBody>
      </p:sp>
      <p:sp>
        <p:nvSpPr>
          <p:cNvPr id="36" name="矩形 35"/>
          <p:cNvSpPr/>
          <p:nvPr/>
        </p:nvSpPr>
        <p:spPr>
          <a:xfrm flipH="1">
            <a:off x="334588" y="437758"/>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37" name="文本框 36"/>
          <p:cNvSpPr txBox="1"/>
          <p:nvPr/>
        </p:nvSpPr>
        <p:spPr>
          <a:xfrm>
            <a:off x="447423" y="1435990"/>
            <a:ext cx="6410577" cy="503555"/>
          </a:xfrm>
          <a:prstGeom prst="rect">
            <a:avLst/>
          </a:prstGeom>
          <a:noFill/>
        </p:spPr>
        <p:txBody>
          <a:bodyPr wrap="square" rtlCol="0">
            <a:noAutofit/>
          </a:bodyPr>
          <a:lstStyle/>
          <a:p>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040180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C</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014979   </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联接</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I</a:t>
            </a:r>
            <a:r>
              <a:rPr lang="zh-CN" altLang="en-US"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a:t>
            </a:r>
            <a:r>
              <a:rPr lang="en-US" altLang="zh-CN" dirty="0">
                <a:solidFill>
                  <a:schemeClr val="bg1"/>
                </a:solidFill>
                <a:latin typeface="Microsoft YaHei Regular" panose="020B0502040204020203" charset="-122"/>
                <a:ea typeface="Microsoft YaHei Regular" panose="020B0502040204020203" charset="-122"/>
                <a:cs typeface="Microsoft YaHei Regular" panose="020B0502040204020203" charset="-122"/>
              </a:rPr>
              <a:t>022646</a:t>
            </a:r>
          </a:p>
        </p:txBody>
      </p:sp>
      <p:pic>
        <p:nvPicPr>
          <p:cNvPr id="38" name="图片 37" descr="资源 1"/>
          <p:cNvPicPr>
            <a:picLocks noChangeAspect="1"/>
          </p:cNvPicPr>
          <p:nvPr>
            <p:custDataLst>
              <p:tags r:id="rId1"/>
            </p:custDataLst>
          </p:nvPr>
        </p:nvPicPr>
        <p:blipFill>
          <a:blip r:embed="rId5"/>
          <a:stretch>
            <a:fillRect/>
          </a:stretch>
        </p:blipFill>
        <p:spPr>
          <a:xfrm>
            <a:off x="4674870" y="179070"/>
            <a:ext cx="1711960" cy="438150"/>
          </a:xfrm>
          <a:prstGeom prst="rect">
            <a:avLst/>
          </a:prstGeom>
        </p:spPr>
      </p:pic>
      <p:pic>
        <p:nvPicPr>
          <p:cNvPr id="22" name="图片 21"/>
          <p:cNvPicPr>
            <a:picLocks noChangeAspect="1"/>
          </p:cNvPicPr>
          <p:nvPr/>
        </p:nvPicPr>
        <p:blipFill>
          <a:blip r:embed="rId6" cstate="print">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tretch>
            <a:fillRect/>
          </a:stretch>
        </p:blipFill>
        <p:spPr>
          <a:xfrm>
            <a:off x="238697" y="7495684"/>
            <a:ext cx="2239307" cy="3844655"/>
          </a:xfrm>
          <a:prstGeom prst="rect">
            <a:avLst/>
          </a:prstGeom>
        </p:spPr>
      </p:pic>
    </p:spTree>
    <p:extLst>
      <p:ext uri="{BB962C8B-B14F-4D97-AF65-F5344CB8AC3E}">
        <p14:creationId xmlns:p14="http://schemas.microsoft.com/office/powerpoint/2010/main" val="3467739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0"/>
            <a:ext cx="6858000" cy="1920536"/>
            <a:chOff x="0" y="-635"/>
            <a:chExt cx="6858000" cy="1920536"/>
          </a:xfrm>
        </p:grpSpPr>
        <p:pic>
          <p:nvPicPr>
            <p:cNvPr id="2" name="图片 1" descr="风向标头图"/>
            <p:cNvPicPr>
              <a:picLocks noChangeAspect="1"/>
            </p:cNvPicPr>
            <p:nvPr/>
          </p:nvPicPr>
          <p:blipFill>
            <a:blip r:embed="rId3"/>
            <a:stretch>
              <a:fillRect/>
            </a:stretch>
          </p:blipFill>
          <p:spPr>
            <a:xfrm>
              <a:off x="0" y="-635"/>
              <a:ext cx="6858000" cy="1920536"/>
            </a:xfrm>
            <a:prstGeom prst="rect">
              <a:avLst/>
            </a:prstGeom>
          </p:spPr>
        </p:pic>
        <p:pic>
          <p:nvPicPr>
            <p:cNvPr id="3" name="图片 2"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39" name="文本框 38"/>
          <p:cNvSpPr txBox="1"/>
          <p:nvPr/>
        </p:nvSpPr>
        <p:spPr>
          <a:xfrm>
            <a:off x="2707320" y="9817523"/>
            <a:ext cx="3641814" cy="1521827"/>
          </a:xfrm>
          <a:prstGeom prst="rect">
            <a:avLst/>
          </a:prstGeom>
          <a:noFill/>
        </p:spPr>
        <p:txBody>
          <a:bodyPr wrap="square" rtlCol="0">
            <a:spAutoFit/>
          </a:bodyPr>
          <a:lstStyle/>
          <a:p>
            <a:pPr marL="285750" indent="-285750">
              <a:lnSpc>
                <a:spcPct val="150000"/>
              </a:lnSpc>
              <a:spcAft>
                <a:spcPts val="600"/>
              </a:spcAft>
              <a:buClr>
                <a:schemeClr val="accent1"/>
              </a:buClr>
              <a:buFont typeface="Wingdings" panose="05000000000000000000" pitchFamily="2" charset="2"/>
              <a:buChar char="p"/>
            </a:pP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沪深</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300</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指数市场覆盖率高，主要成份股权重比较分散；成分股在</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股市场中权重占比较高，沪深</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300</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指数常起到引领市场的作用。</a:t>
            </a:r>
          </a:p>
        </p:txBody>
      </p:sp>
      <p:sp>
        <p:nvSpPr>
          <p:cNvPr id="10" name="矩形 9"/>
          <p:cNvSpPr/>
          <p:nvPr/>
        </p:nvSpPr>
        <p:spPr>
          <a:xfrm>
            <a:off x="326206" y="2236006"/>
            <a:ext cx="6144986" cy="2277547"/>
          </a:xfrm>
          <a:prstGeom prst="rect">
            <a:avLst/>
          </a:prstGeom>
          <a:noFill/>
        </p:spPr>
        <p:txBody>
          <a:bodyPr wrap="square">
            <a:spAutoFit/>
          </a:bodyPr>
          <a:lstStyle/>
          <a:p>
            <a:pPr marL="171450" indent="-171450">
              <a:lnSpc>
                <a:spcPct val="150000"/>
              </a:lnSpc>
              <a:spcAft>
                <a:spcPts val="600"/>
              </a:spcAft>
              <a:buClr>
                <a:schemeClr val="accent1"/>
              </a:buClr>
              <a:buFont typeface="Wingdings" panose="05000000000000000000" pitchFamily="2" charset="2"/>
              <a:buChar char="l"/>
            </a:pPr>
            <a:r>
              <a:rPr lang="zh-CN" altLang="en-US" dirty="0">
                <a:solidFill>
                  <a:schemeClr val="tx1">
                    <a:lumMod val="75000"/>
                    <a:lumOff val="25000"/>
                  </a:schemeClr>
                </a:solidFill>
                <a:latin typeface="楷体" panose="02010609060101010101" pitchFamily="49" charset="-122"/>
                <a:ea typeface="楷体" panose="02010609060101010101" pitchFamily="49" charset="-122"/>
              </a:rPr>
              <a:t>华安沪深</a:t>
            </a:r>
            <a:r>
              <a:rPr lang="en-US" altLang="zh-CN" dirty="0">
                <a:solidFill>
                  <a:schemeClr val="tx1">
                    <a:lumMod val="75000"/>
                    <a:lumOff val="25000"/>
                  </a:schemeClr>
                </a:solidFill>
                <a:latin typeface="楷体" panose="02010609060101010101" pitchFamily="49" charset="-122"/>
                <a:ea typeface="楷体" panose="02010609060101010101" pitchFamily="49" charset="-122"/>
              </a:rPr>
              <a:t>300</a:t>
            </a:r>
            <a:r>
              <a:rPr lang="zh-CN" altLang="en-US" dirty="0">
                <a:solidFill>
                  <a:schemeClr val="tx1">
                    <a:lumMod val="75000"/>
                    <a:lumOff val="25000"/>
                  </a:schemeClr>
                </a:solidFill>
                <a:latin typeface="楷体" panose="02010609060101010101" pitchFamily="49" charset="-122"/>
                <a:ea typeface="楷体" panose="02010609060101010101" pitchFamily="49" charset="-122"/>
              </a:rPr>
              <a:t>增强策略</a:t>
            </a:r>
            <a:r>
              <a:rPr lang="en-US" altLang="zh-CN" dirty="0">
                <a:solidFill>
                  <a:schemeClr val="tx1">
                    <a:lumMod val="75000"/>
                    <a:lumOff val="25000"/>
                  </a:schemeClr>
                </a:solidFill>
                <a:latin typeface="楷体" panose="02010609060101010101" pitchFamily="49" charset="-122"/>
                <a:ea typeface="楷体" panose="02010609060101010101" pitchFamily="49" charset="-122"/>
              </a:rPr>
              <a:t>ETF</a:t>
            </a:r>
            <a:r>
              <a:rPr lang="zh-CN" altLang="en-US" dirty="0">
                <a:solidFill>
                  <a:schemeClr val="tx1">
                    <a:lumMod val="75000"/>
                    <a:lumOff val="25000"/>
                  </a:schemeClr>
                </a:solidFill>
                <a:latin typeface="楷体" panose="02010609060101010101" pitchFamily="49" charset="-122"/>
                <a:ea typeface="楷体" panose="02010609060101010101" pitchFamily="49" charset="-122"/>
              </a:rPr>
              <a:t>采用多因子结合人工智能模型构建组合。基金上市以来，年化超额沪深</a:t>
            </a:r>
            <a:r>
              <a:rPr lang="en-US" altLang="zh-CN" dirty="0">
                <a:solidFill>
                  <a:schemeClr val="tx1">
                    <a:lumMod val="75000"/>
                    <a:lumOff val="25000"/>
                  </a:schemeClr>
                </a:solidFill>
                <a:latin typeface="楷体" panose="02010609060101010101" pitchFamily="49" charset="-122"/>
                <a:ea typeface="楷体" panose="02010609060101010101" pitchFamily="49" charset="-122"/>
              </a:rPr>
              <a:t>300</a:t>
            </a:r>
            <a:r>
              <a:rPr lang="zh-CN" altLang="en-US" dirty="0">
                <a:solidFill>
                  <a:schemeClr val="tx1">
                    <a:lumMod val="75000"/>
                    <a:lumOff val="25000"/>
                  </a:schemeClr>
                </a:solidFill>
                <a:latin typeface="楷体" panose="02010609060101010101" pitchFamily="49" charset="-122"/>
                <a:ea typeface="楷体" panose="02010609060101010101" pitchFamily="49" charset="-122"/>
              </a:rPr>
              <a:t>指数收益率约</a:t>
            </a:r>
            <a:r>
              <a:rPr lang="en-US" altLang="zh-CN" dirty="0">
                <a:solidFill>
                  <a:schemeClr val="tx1">
                    <a:lumMod val="75000"/>
                    <a:lumOff val="25000"/>
                  </a:schemeClr>
                </a:solidFill>
                <a:latin typeface="楷体" panose="02010609060101010101" pitchFamily="49" charset="-122"/>
                <a:ea typeface="楷体" panose="02010609060101010101" pitchFamily="49" charset="-122"/>
              </a:rPr>
              <a:t>3.5%</a:t>
            </a:r>
            <a:r>
              <a:rPr lang="zh-CN" altLang="en-US" dirty="0">
                <a:solidFill>
                  <a:schemeClr val="tx1">
                    <a:lumMod val="75000"/>
                    <a:lumOff val="25000"/>
                  </a:schemeClr>
                </a:solidFill>
                <a:latin typeface="楷体" panose="02010609060101010101" pitchFamily="49" charset="-122"/>
                <a:ea typeface="楷体" panose="02010609060101010101" pitchFamily="49" charset="-122"/>
              </a:rPr>
              <a:t>，超额最大回撤与波动较低。</a:t>
            </a:r>
            <a:endParaRPr lang="en-US" altLang="zh-CN" dirty="0">
              <a:solidFill>
                <a:schemeClr val="tx1">
                  <a:lumMod val="75000"/>
                  <a:lumOff val="25000"/>
                </a:schemeClr>
              </a:solidFill>
              <a:latin typeface="楷体" panose="02010609060101010101" pitchFamily="49" charset="-122"/>
              <a:ea typeface="楷体" panose="02010609060101010101" pitchFamily="49" charset="-122"/>
            </a:endParaRPr>
          </a:p>
          <a:p>
            <a:pPr marL="171450" indent="-171450">
              <a:lnSpc>
                <a:spcPct val="150000"/>
              </a:lnSpc>
              <a:spcAft>
                <a:spcPts val="600"/>
              </a:spcAft>
              <a:buClr>
                <a:schemeClr val="accent1"/>
              </a:buClr>
              <a:buFont typeface="Wingdings" panose="05000000000000000000" pitchFamily="2" charset="2"/>
              <a:buChar char="l"/>
            </a:pPr>
            <a:endParaRPr lang="en-US" altLang="zh-CN" dirty="0">
              <a:solidFill>
                <a:schemeClr val="tx1">
                  <a:lumMod val="75000"/>
                  <a:lumOff val="25000"/>
                </a:schemeClr>
              </a:solidFill>
              <a:latin typeface="楷体" panose="02010609060101010101" pitchFamily="49" charset="-122"/>
              <a:ea typeface="楷体" panose="02010609060101010101" pitchFamily="49" charset="-122"/>
            </a:endParaRPr>
          </a:p>
          <a:p>
            <a:pPr>
              <a:lnSpc>
                <a:spcPct val="150000"/>
              </a:lnSpc>
              <a:spcAft>
                <a:spcPts val="600"/>
              </a:spcAft>
              <a:buClr>
                <a:schemeClr val="accent1"/>
              </a:buClr>
            </a:pP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88" name="矩形 87"/>
          <p:cNvSpPr/>
          <p:nvPr/>
        </p:nvSpPr>
        <p:spPr>
          <a:xfrm>
            <a:off x="2546252" y="7301989"/>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45231" y="7527379"/>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81286" y="7527379"/>
            <a:ext cx="199735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713757" y="9818815"/>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17506" y="11418042"/>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29590" y="631388"/>
            <a:ext cx="5819544" cy="1077218"/>
          </a:xfrm>
          <a:prstGeom prst="rect">
            <a:avLst/>
          </a:prstGeom>
          <a:noFill/>
        </p:spPr>
        <p:txBody>
          <a:bodyPr wrap="square" rtlCol="0">
            <a:spAutoFit/>
          </a:bodyPr>
          <a:lstStyle/>
          <a:p>
            <a:pPr>
              <a:lnSpc>
                <a:spcPct val="100000"/>
              </a:lnSpc>
            </a:pP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沪深</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300</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增强</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endParaRP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561000</a:t>
            </a:r>
          </a:p>
        </p:txBody>
      </p:sp>
      <p:pic>
        <p:nvPicPr>
          <p:cNvPr id="36" name="图片 35"/>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326206" y="7782982"/>
            <a:ext cx="2239307" cy="3844655"/>
          </a:xfrm>
          <a:prstGeom prst="rect">
            <a:avLst/>
          </a:prstGeom>
        </p:spPr>
      </p:pic>
      <p:sp>
        <p:nvSpPr>
          <p:cNvPr id="38" name="文本框 37"/>
          <p:cNvSpPr txBox="1"/>
          <p:nvPr/>
        </p:nvSpPr>
        <p:spPr>
          <a:xfrm>
            <a:off x="2546252" y="7865268"/>
            <a:ext cx="3833081" cy="1938992"/>
          </a:xfrm>
          <a:prstGeom prst="rect">
            <a:avLst/>
          </a:prstGeom>
          <a:noFill/>
        </p:spPr>
        <p:txBody>
          <a:bodyPr wrap="square" rtlCol="0">
            <a:spAutoFit/>
          </a:bodyPr>
          <a:lstStyle/>
          <a:p>
            <a:pPr marL="285750" indent="-285750">
              <a:lnSpc>
                <a:spcPct val="150000"/>
              </a:lnSpc>
              <a:spcAft>
                <a:spcPts val="600"/>
              </a:spcAft>
              <a:buClr>
                <a:schemeClr val="accent1"/>
              </a:buClr>
              <a:buFont typeface="Wingdings" panose="05000000000000000000" pitchFamily="2" charset="2"/>
              <a:buChar char="p"/>
            </a:pP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沪深</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300</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指数具有“好、大、高”的特点：好的成分股资产质量，大的标的市场规模，高的企业竞争壁垒，使得沪深</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300 </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指数成为当前权益市场状态下不错配置选择之一。</a:t>
            </a:r>
            <a:endParaRPr lang="en-US" altLang="zh-CN" sz="1600" dirty="0">
              <a:solidFill>
                <a:schemeClr val="tx1">
                  <a:lumMod val="75000"/>
                  <a:lumOff val="25000"/>
                </a:schemeClr>
              </a:solidFill>
              <a:latin typeface="Cambria" panose="02040503050406030204" pitchFamily="18" charset="0"/>
              <a:ea typeface="楷体" panose="02010609060101010101" pitchFamily="49" charset="-122"/>
            </a:endParaRPr>
          </a:p>
        </p:txBody>
      </p:sp>
      <p:sp>
        <p:nvSpPr>
          <p:cNvPr id="24" name="矩形 23"/>
          <p:cNvSpPr/>
          <p:nvPr/>
        </p:nvSpPr>
        <p:spPr>
          <a:xfrm flipH="1">
            <a:off x="326206" y="735529"/>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5" name="文本框 4"/>
          <p:cNvSpPr txBox="1"/>
          <p:nvPr/>
        </p:nvSpPr>
        <p:spPr>
          <a:xfrm>
            <a:off x="360987" y="3549080"/>
            <a:ext cx="5560134" cy="923330"/>
          </a:xfrm>
          <a:prstGeom prst="rect">
            <a:avLst/>
          </a:prstGeom>
          <a:noFill/>
        </p:spPr>
        <p:txBody>
          <a:bodyPr wrap="square" rtlCol="0">
            <a:spAutoFit/>
          </a:bodyPr>
          <a:lstStyle/>
          <a:p>
            <a:pPr marL="171450" indent="-171450">
              <a:lnSpc>
                <a:spcPct val="150000"/>
              </a:lnSpc>
              <a:spcAft>
                <a:spcPts val="600"/>
              </a:spcAft>
              <a:buClr>
                <a:schemeClr val="accent1"/>
              </a:buClr>
              <a:buFont typeface="Wingdings" panose="05000000000000000000" pitchFamily="2" charset="2"/>
              <a:buChar char="l"/>
            </a:pPr>
            <a:r>
              <a:rPr lang="zh-CN" altLang="en-US" dirty="0">
                <a:solidFill>
                  <a:schemeClr val="tx1">
                    <a:lumMod val="75000"/>
                    <a:lumOff val="25000"/>
                  </a:schemeClr>
                </a:solidFill>
                <a:latin typeface="楷体" panose="02010609060101010101" pitchFamily="49" charset="-122"/>
                <a:ea typeface="楷体" panose="02010609060101010101" pitchFamily="49" charset="-122"/>
              </a:rPr>
              <a:t>年管理费率</a:t>
            </a:r>
            <a:r>
              <a:rPr lang="en-US" altLang="zh-CN" dirty="0">
                <a:solidFill>
                  <a:schemeClr val="tx1">
                    <a:lumMod val="75000"/>
                    <a:lumOff val="25000"/>
                  </a:schemeClr>
                </a:solidFill>
                <a:latin typeface="楷体" panose="02010609060101010101" pitchFamily="49" charset="-122"/>
                <a:ea typeface="楷体" panose="02010609060101010101" pitchFamily="49" charset="-122"/>
              </a:rPr>
              <a:t>0.50%</a:t>
            </a:r>
            <a:r>
              <a:rPr lang="zh-CN" altLang="en-US" dirty="0">
                <a:solidFill>
                  <a:schemeClr val="tx1">
                    <a:lumMod val="75000"/>
                    <a:lumOff val="25000"/>
                  </a:schemeClr>
                </a:solidFill>
                <a:latin typeface="楷体" panose="02010609060101010101" pitchFamily="49" charset="-122"/>
                <a:ea typeface="楷体" panose="02010609060101010101" pitchFamily="49" charset="-122"/>
              </a:rPr>
              <a:t>，年托管费率</a:t>
            </a:r>
            <a:r>
              <a:rPr lang="en-US" altLang="zh-CN" dirty="0">
                <a:solidFill>
                  <a:schemeClr val="tx1">
                    <a:lumMod val="75000"/>
                    <a:lumOff val="25000"/>
                  </a:schemeClr>
                </a:solidFill>
                <a:latin typeface="楷体" panose="02010609060101010101" pitchFamily="49" charset="-122"/>
                <a:ea typeface="楷体" panose="02010609060101010101" pitchFamily="49" charset="-122"/>
              </a:rPr>
              <a:t>0.10%</a:t>
            </a:r>
            <a:r>
              <a:rPr lang="zh-CN" altLang="en-US" dirty="0">
                <a:solidFill>
                  <a:schemeClr val="tx1">
                    <a:lumMod val="75000"/>
                    <a:lumOff val="25000"/>
                  </a:schemeClr>
                </a:solidFill>
                <a:latin typeface="楷体" panose="02010609060101010101" pitchFamily="49" charset="-122"/>
                <a:ea typeface="楷体" panose="02010609060101010101" pitchFamily="49" charset="-122"/>
              </a:rPr>
              <a:t>，相比同类增强产品，费率较低。</a:t>
            </a:r>
            <a:endParaRPr lang="en-US" altLang="zh-CN" dirty="0">
              <a:solidFill>
                <a:schemeClr val="tx1">
                  <a:lumMod val="75000"/>
                  <a:lumOff val="25000"/>
                </a:schemeClr>
              </a:solidFill>
              <a:latin typeface="楷体" panose="02010609060101010101" pitchFamily="49" charset="-122"/>
              <a:ea typeface="楷体" panose="02010609060101010101" pitchFamily="49" charset="-122"/>
            </a:endParaRPr>
          </a:p>
        </p:txBody>
      </p:sp>
      <p:graphicFrame>
        <p:nvGraphicFramePr>
          <p:cNvPr id="18" name="Chart 1"/>
          <p:cNvGraphicFramePr>
            <a:graphicFrameLocks/>
          </p:cNvGraphicFramePr>
          <p:nvPr>
            <p:extLst>
              <p:ext uri="{D42A27DB-BD31-4B8C-83A1-F6EECF244321}">
                <p14:modId xmlns:p14="http://schemas.microsoft.com/office/powerpoint/2010/main" val="3996675106"/>
              </p:ext>
            </p:extLst>
          </p:nvPr>
        </p:nvGraphicFramePr>
        <p:xfrm>
          <a:off x="412532" y="4472410"/>
          <a:ext cx="6197818" cy="2952327"/>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809277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0"/>
            <a:ext cx="6858000" cy="1920536"/>
            <a:chOff x="0" y="-635"/>
            <a:chExt cx="6858000" cy="1920536"/>
          </a:xfrm>
        </p:grpSpPr>
        <p:pic>
          <p:nvPicPr>
            <p:cNvPr id="2" name="图片 1" descr="风向标头图"/>
            <p:cNvPicPr>
              <a:picLocks noChangeAspect="1"/>
            </p:cNvPicPr>
            <p:nvPr/>
          </p:nvPicPr>
          <p:blipFill>
            <a:blip r:embed="rId3"/>
            <a:stretch>
              <a:fillRect/>
            </a:stretch>
          </p:blipFill>
          <p:spPr>
            <a:xfrm>
              <a:off x="0" y="-635"/>
              <a:ext cx="6858000" cy="1920536"/>
            </a:xfrm>
            <a:prstGeom prst="rect">
              <a:avLst/>
            </a:prstGeom>
          </p:spPr>
        </p:pic>
        <p:pic>
          <p:nvPicPr>
            <p:cNvPr id="3" name="图片 2"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39" name="文本框 38"/>
          <p:cNvSpPr txBox="1"/>
          <p:nvPr/>
        </p:nvSpPr>
        <p:spPr>
          <a:xfrm>
            <a:off x="2707320" y="9817523"/>
            <a:ext cx="3641814" cy="1569660"/>
          </a:xfrm>
          <a:prstGeom prst="rect">
            <a:avLst/>
          </a:prstGeom>
          <a:noFill/>
        </p:spPr>
        <p:txBody>
          <a:bodyPr wrap="square" rtlCol="0">
            <a:spAutoFit/>
          </a:bodyPr>
          <a:lstStyle/>
          <a:p>
            <a:pPr marL="285750" indent="-285750" algn="just">
              <a:lnSpc>
                <a:spcPct val="150000"/>
              </a:lnSpc>
              <a:spcAft>
                <a:spcPts val="600"/>
              </a:spcAft>
              <a:buClr>
                <a:schemeClr val="accent1"/>
              </a:buClr>
              <a:buFont typeface="Wingdings" panose="05000000000000000000" pitchFamily="2" charset="2"/>
              <a:buChar char="p"/>
            </a:pP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中证</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A500</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以不到</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股市场</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10%</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的成份股数量，占</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股</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57%</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的总市值， </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63%</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的营业收入，和</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71%</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的净利润， 体现了对</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股市场较强的代表性。</a:t>
            </a:r>
          </a:p>
        </p:txBody>
      </p:sp>
      <p:sp>
        <p:nvSpPr>
          <p:cNvPr id="10" name="矩形 9"/>
          <p:cNvSpPr/>
          <p:nvPr/>
        </p:nvSpPr>
        <p:spPr>
          <a:xfrm>
            <a:off x="326206" y="2236006"/>
            <a:ext cx="6144986" cy="2277547"/>
          </a:xfrm>
          <a:prstGeom prst="rect">
            <a:avLst/>
          </a:prstGeom>
          <a:noFill/>
        </p:spPr>
        <p:txBody>
          <a:bodyPr wrap="square">
            <a:spAutoFit/>
          </a:bodyPr>
          <a:lstStyle/>
          <a:p>
            <a:pPr marL="171450" indent="-171450">
              <a:lnSpc>
                <a:spcPct val="150000"/>
              </a:lnSpc>
              <a:spcAft>
                <a:spcPts val="600"/>
              </a:spcAft>
              <a:buClr>
                <a:schemeClr val="accent1"/>
              </a:buClr>
              <a:buFont typeface="Wingdings" panose="05000000000000000000" pitchFamily="2" charset="2"/>
              <a:buChar char="l"/>
            </a:pPr>
            <a:r>
              <a:rPr lang="zh-CN" altLang="en-US" dirty="0">
                <a:solidFill>
                  <a:schemeClr val="tx1">
                    <a:lumMod val="75000"/>
                    <a:lumOff val="25000"/>
                  </a:schemeClr>
                </a:solidFill>
                <a:latin typeface="楷体" panose="02010609060101010101" pitchFamily="49" charset="-122"/>
                <a:ea typeface="楷体" panose="02010609060101010101" pitchFamily="49" charset="-122"/>
              </a:rPr>
              <a:t>华安中证</a:t>
            </a:r>
            <a:r>
              <a:rPr lang="en-US" altLang="zh-CN" dirty="0">
                <a:solidFill>
                  <a:schemeClr val="tx1">
                    <a:lumMod val="75000"/>
                    <a:lumOff val="25000"/>
                  </a:schemeClr>
                </a:solidFill>
                <a:latin typeface="楷体" panose="02010609060101010101" pitchFamily="49" charset="-122"/>
                <a:ea typeface="楷体" panose="02010609060101010101" pitchFamily="49" charset="-122"/>
              </a:rPr>
              <a:t>A500</a:t>
            </a:r>
            <a:r>
              <a:rPr lang="zh-CN" altLang="en-US" dirty="0">
                <a:solidFill>
                  <a:schemeClr val="tx1">
                    <a:lumMod val="75000"/>
                    <a:lumOff val="25000"/>
                  </a:schemeClr>
                </a:solidFill>
                <a:latin typeface="楷体" panose="02010609060101010101" pitchFamily="49" charset="-122"/>
                <a:ea typeface="楷体" panose="02010609060101010101" pitchFamily="49" charset="-122"/>
              </a:rPr>
              <a:t>增强</a:t>
            </a:r>
            <a:r>
              <a:rPr lang="en-US" altLang="zh-CN" dirty="0">
                <a:solidFill>
                  <a:schemeClr val="tx1">
                    <a:lumMod val="75000"/>
                    <a:lumOff val="25000"/>
                  </a:schemeClr>
                </a:solidFill>
                <a:latin typeface="楷体" panose="02010609060101010101" pitchFamily="49" charset="-122"/>
                <a:ea typeface="楷体" panose="02010609060101010101" pitchFamily="49" charset="-122"/>
              </a:rPr>
              <a:t>ETF</a:t>
            </a:r>
            <a:r>
              <a:rPr lang="zh-CN" altLang="en-US" dirty="0">
                <a:solidFill>
                  <a:schemeClr val="tx1">
                    <a:lumMod val="75000"/>
                    <a:lumOff val="25000"/>
                  </a:schemeClr>
                </a:solidFill>
                <a:latin typeface="楷体" panose="02010609060101010101" pitchFamily="49" charset="-122"/>
                <a:ea typeface="楷体" panose="02010609060101010101" pitchFamily="49" charset="-122"/>
              </a:rPr>
              <a:t>策略采用多因子结合人工智能模型构建组合。基金</a:t>
            </a:r>
            <a:r>
              <a:rPr lang="en-US" altLang="zh-CN" dirty="0">
                <a:solidFill>
                  <a:schemeClr val="tx1">
                    <a:lumMod val="75000"/>
                    <a:lumOff val="25000"/>
                  </a:schemeClr>
                </a:solidFill>
                <a:latin typeface="楷体" panose="02010609060101010101" pitchFamily="49" charset="-122"/>
                <a:ea typeface="楷体" panose="02010609060101010101" pitchFamily="49" charset="-122"/>
              </a:rPr>
              <a:t>25</a:t>
            </a:r>
            <a:r>
              <a:rPr lang="zh-CN" altLang="en-US" dirty="0">
                <a:solidFill>
                  <a:schemeClr val="tx1">
                    <a:lumMod val="75000"/>
                    <a:lumOff val="25000"/>
                  </a:schemeClr>
                </a:solidFill>
                <a:latin typeface="楷体" panose="02010609060101010101" pitchFamily="49" charset="-122"/>
                <a:ea typeface="楷体" panose="02010609060101010101" pitchFamily="49" charset="-122"/>
              </a:rPr>
              <a:t>年</a:t>
            </a:r>
            <a:r>
              <a:rPr lang="en-US" altLang="zh-CN" dirty="0">
                <a:solidFill>
                  <a:schemeClr val="tx1">
                    <a:lumMod val="75000"/>
                    <a:lumOff val="25000"/>
                  </a:schemeClr>
                </a:solidFill>
                <a:latin typeface="楷体" panose="02010609060101010101" pitchFamily="49" charset="-122"/>
                <a:ea typeface="楷体" panose="02010609060101010101" pitchFamily="49" charset="-122"/>
              </a:rPr>
              <a:t>7</a:t>
            </a:r>
            <a:r>
              <a:rPr lang="zh-CN" altLang="en-US" dirty="0">
                <a:solidFill>
                  <a:schemeClr val="tx1">
                    <a:lumMod val="75000"/>
                    <a:lumOff val="25000"/>
                  </a:schemeClr>
                </a:solidFill>
                <a:latin typeface="楷体" panose="02010609060101010101" pitchFamily="49" charset="-122"/>
                <a:ea typeface="楷体" panose="02010609060101010101" pitchFamily="49" charset="-122"/>
              </a:rPr>
              <a:t>月产品转换，</a:t>
            </a:r>
            <a:r>
              <a:rPr lang="en-US" altLang="zh-CN" dirty="0">
                <a:solidFill>
                  <a:schemeClr val="tx1">
                    <a:lumMod val="75000"/>
                    <a:lumOff val="25000"/>
                  </a:schemeClr>
                </a:solidFill>
                <a:latin typeface="楷体" panose="02010609060101010101" pitchFamily="49" charset="-122"/>
                <a:ea typeface="楷体" panose="02010609060101010101" pitchFamily="49" charset="-122"/>
              </a:rPr>
              <a:t>9</a:t>
            </a:r>
            <a:r>
              <a:rPr lang="zh-CN" altLang="en-US" dirty="0">
                <a:solidFill>
                  <a:schemeClr val="tx1">
                    <a:lumMod val="75000"/>
                    <a:lumOff val="25000"/>
                  </a:schemeClr>
                </a:solidFill>
                <a:latin typeface="楷体" panose="02010609060101010101" pitchFamily="49" charset="-122"/>
                <a:ea typeface="楷体" panose="02010609060101010101" pitchFamily="49" charset="-122"/>
              </a:rPr>
              <a:t>月策略正式运行。</a:t>
            </a:r>
            <a:r>
              <a:rPr lang="en-US" altLang="zh-CN" dirty="0">
                <a:solidFill>
                  <a:schemeClr val="tx1">
                    <a:lumMod val="75000"/>
                    <a:lumOff val="25000"/>
                  </a:schemeClr>
                </a:solidFill>
                <a:latin typeface="楷体" panose="02010609060101010101" pitchFamily="49" charset="-122"/>
                <a:ea typeface="楷体" panose="02010609060101010101" pitchFamily="49" charset="-122"/>
              </a:rPr>
              <a:t>26</a:t>
            </a:r>
            <a:r>
              <a:rPr lang="zh-CN" altLang="en-US" dirty="0">
                <a:solidFill>
                  <a:schemeClr val="tx1">
                    <a:lumMod val="75000"/>
                    <a:lumOff val="25000"/>
                  </a:schemeClr>
                </a:solidFill>
                <a:latin typeface="楷体" panose="02010609060101010101" pitchFamily="49" charset="-122"/>
                <a:ea typeface="楷体" panose="02010609060101010101" pitchFamily="49" charset="-122"/>
              </a:rPr>
              <a:t>年以来，累计超额中证</a:t>
            </a:r>
            <a:r>
              <a:rPr lang="en-US" altLang="zh-CN" dirty="0">
                <a:solidFill>
                  <a:schemeClr val="tx1">
                    <a:lumMod val="75000"/>
                    <a:lumOff val="25000"/>
                  </a:schemeClr>
                </a:solidFill>
                <a:latin typeface="楷体" panose="02010609060101010101" pitchFamily="49" charset="-122"/>
                <a:ea typeface="楷体" panose="02010609060101010101" pitchFamily="49" charset="-122"/>
              </a:rPr>
              <a:t>A500</a:t>
            </a:r>
            <a:r>
              <a:rPr lang="zh-CN" altLang="en-US" dirty="0">
                <a:solidFill>
                  <a:schemeClr val="tx1">
                    <a:lumMod val="75000"/>
                    <a:lumOff val="25000"/>
                  </a:schemeClr>
                </a:solidFill>
                <a:latin typeface="楷体" panose="02010609060101010101" pitchFamily="49" charset="-122"/>
                <a:ea typeface="楷体" panose="02010609060101010101" pitchFamily="49" charset="-122"/>
              </a:rPr>
              <a:t>指数收益率约</a:t>
            </a:r>
            <a:r>
              <a:rPr lang="en-US" altLang="zh-CN" dirty="0">
                <a:solidFill>
                  <a:schemeClr val="tx1">
                    <a:lumMod val="75000"/>
                    <a:lumOff val="25000"/>
                  </a:schemeClr>
                </a:solidFill>
                <a:latin typeface="楷体" panose="02010609060101010101" pitchFamily="49" charset="-122"/>
                <a:ea typeface="楷体" panose="02010609060101010101" pitchFamily="49" charset="-122"/>
              </a:rPr>
              <a:t>0.45%</a:t>
            </a:r>
            <a:r>
              <a:rPr lang="zh-CN" altLang="en-US" dirty="0">
                <a:solidFill>
                  <a:schemeClr val="tx1">
                    <a:lumMod val="75000"/>
                    <a:lumOff val="25000"/>
                  </a:schemeClr>
                </a:solidFill>
                <a:latin typeface="楷体" panose="02010609060101010101" pitchFamily="49" charset="-122"/>
                <a:ea typeface="楷体" panose="02010609060101010101" pitchFamily="49" charset="-122"/>
              </a:rPr>
              <a:t>。</a:t>
            </a:r>
            <a:endParaRPr lang="en-US" altLang="zh-CN" dirty="0">
              <a:solidFill>
                <a:schemeClr val="tx1">
                  <a:lumMod val="75000"/>
                  <a:lumOff val="25000"/>
                </a:schemeClr>
              </a:solidFill>
              <a:latin typeface="楷体" panose="02010609060101010101" pitchFamily="49" charset="-122"/>
              <a:ea typeface="楷体" panose="02010609060101010101" pitchFamily="49" charset="-122"/>
            </a:endParaRPr>
          </a:p>
          <a:p>
            <a:pPr marL="171450" indent="-171450">
              <a:lnSpc>
                <a:spcPct val="150000"/>
              </a:lnSpc>
              <a:spcAft>
                <a:spcPts val="600"/>
              </a:spcAft>
              <a:buClr>
                <a:schemeClr val="accent1"/>
              </a:buClr>
              <a:buFont typeface="Wingdings" panose="05000000000000000000" pitchFamily="2" charset="2"/>
              <a:buChar char="l"/>
            </a:pPr>
            <a:endParaRPr lang="en-US" altLang="zh-CN" dirty="0">
              <a:solidFill>
                <a:schemeClr val="tx1">
                  <a:lumMod val="75000"/>
                  <a:lumOff val="25000"/>
                </a:schemeClr>
              </a:solidFill>
              <a:latin typeface="楷体" panose="02010609060101010101" pitchFamily="49" charset="-122"/>
              <a:ea typeface="楷体" panose="02010609060101010101" pitchFamily="49" charset="-122"/>
            </a:endParaRPr>
          </a:p>
          <a:p>
            <a:pPr>
              <a:lnSpc>
                <a:spcPct val="150000"/>
              </a:lnSpc>
              <a:spcAft>
                <a:spcPts val="600"/>
              </a:spcAft>
              <a:buClr>
                <a:schemeClr val="accent1"/>
              </a:buClr>
            </a:pPr>
            <a:endParaRPr lang="en-US" altLang="zh-CN" sz="1600" dirty="0">
              <a:solidFill>
                <a:schemeClr val="tx1">
                  <a:lumMod val="75000"/>
                  <a:lumOff val="25000"/>
                </a:schemeClr>
              </a:solidFill>
              <a:latin typeface="楷体" panose="02010609060101010101" pitchFamily="49" charset="-122"/>
              <a:ea typeface="楷体" panose="02010609060101010101" pitchFamily="49" charset="-122"/>
            </a:endParaRPr>
          </a:p>
        </p:txBody>
      </p:sp>
      <p:sp>
        <p:nvSpPr>
          <p:cNvPr id="88" name="矩形 87"/>
          <p:cNvSpPr/>
          <p:nvPr/>
        </p:nvSpPr>
        <p:spPr>
          <a:xfrm>
            <a:off x="2546252" y="7301989"/>
            <a:ext cx="2273781" cy="461665"/>
          </a:xfrm>
          <a:prstGeom prst="rect">
            <a:avLst/>
          </a:prstGeom>
          <a:noFill/>
        </p:spPr>
        <p:txBody>
          <a:bodyPr wrap="square" anchor="ctr">
            <a:spAutoFit/>
          </a:bodyPr>
          <a:lstStyle/>
          <a:p>
            <a:pPr algn="ctr"/>
            <a:r>
              <a:rPr lang="zh-CN" altLang="en-US" sz="2400" b="1" dirty="0">
                <a:solidFill>
                  <a:schemeClr val="accent5">
                    <a:lumMod val="75000"/>
                  </a:schemeClr>
                </a:solidFill>
                <a:latin typeface="Cambria" panose="02040503050406030204" pitchFamily="18" charset="0"/>
                <a:ea typeface="楷体" panose="02010609060101010101" pitchFamily="49" charset="-122"/>
                <a:sym typeface="Cambria" panose="02040503050406030204" pitchFamily="18" charset="0"/>
              </a:rPr>
              <a:t>核心驱动因素</a:t>
            </a:r>
          </a:p>
        </p:txBody>
      </p:sp>
      <p:cxnSp>
        <p:nvCxnSpPr>
          <p:cNvPr id="30" name="直线连接符 29"/>
          <p:cNvCxnSpPr/>
          <p:nvPr/>
        </p:nvCxnSpPr>
        <p:spPr>
          <a:xfrm>
            <a:off x="4645231" y="7527379"/>
            <a:ext cx="16319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81286" y="7527379"/>
            <a:ext cx="199735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线连接符 45"/>
          <p:cNvCxnSpPr/>
          <p:nvPr/>
        </p:nvCxnSpPr>
        <p:spPr>
          <a:xfrm>
            <a:off x="2713757" y="9818815"/>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符 43"/>
          <p:cNvCxnSpPr/>
          <p:nvPr/>
        </p:nvCxnSpPr>
        <p:spPr>
          <a:xfrm>
            <a:off x="2817506" y="11418042"/>
            <a:ext cx="340802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29590" y="631388"/>
            <a:ext cx="5819544" cy="1077218"/>
          </a:xfrm>
          <a:prstGeom prst="rect">
            <a:avLst/>
          </a:prstGeom>
          <a:noFill/>
        </p:spPr>
        <p:txBody>
          <a:bodyPr wrap="square" rtlCol="0">
            <a:spAutoFit/>
          </a:bodyPr>
          <a:lstStyle/>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A500</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增强</a:t>
            </a: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rPr>
              <a:t>华安</a:t>
            </a:r>
            <a:endPar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endParaRPr>
          </a:p>
          <a:p>
            <a:pPr>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561090</a:t>
            </a:r>
          </a:p>
        </p:txBody>
      </p:sp>
      <p:pic>
        <p:nvPicPr>
          <p:cNvPr id="36" name="图片 35"/>
          <p:cNvPicPr>
            <a:picLocks noChangeAspect="1"/>
          </p:cNvPicPr>
          <p:nvPr/>
        </p:nvPicPr>
        <p:blipFill>
          <a:blip r:embed="rId5" cstate="print">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val="0"/>
              </a:ext>
            </a:extLst>
          </a:blip>
          <a:stretch>
            <a:fillRect/>
          </a:stretch>
        </p:blipFill>
        <p:spPr>
          <a:xfrm>
            <a:off x="326206" y="7782982"/>
            <a:ext cx="2239307" cy="3844655"/>
          </a:xfrm>
          <a:prstGeom prst="rect">
            <a:avLst/>
          </a:prstGeom>
        </p:spPr>
      </p:pic>
      <p:sp>
        <p:nvSpPr>
          <p:cNvPr id="38" name="文本框 37"/>
          <p:cNvSpPr txBox="1"/>
          <p:nvPr/>
        </p:nvSpPr>
        <p:spPr>
          <a:xfrm>
            <a:off x="2546252" y="7865268"/>
            <a:ext cx="3833081" cy="1938992"/>
          </a:xfrm>
          <a:prstGeom prst="rect">
            <a:avLst/>
          </a:prstGeom>
          <a:noFill/>
        </p:spPr>
        <p:txBody>
          <a:bodyPr wrap="square" rtlCol="0">
            <a:spAutoFit/>
          </a:bodyPr>
          <a:lstStyle/>
          <a:p>
            <a:pPr marL="285750" indent="-285750" algn="just">
              <a:lnSpc>
                <a:spcPct val="150000"/>
              </a:lnSpc>
              <a:spcAft>
                <a:spcPts val="600"/>
              </a:spcAft>
              <a:buClr>
                <a:schemeClr val="accent1"/>
              </a:buClr>
              <a:buFont typeface="Wingdings" panose="05000000000000000000" pitchFamily="2" charset="2"/>
              <a:buChar char="p"/>
            </a:pP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中证</a:t>
            </a:r>
            <a:r>
              <a:rPr lang="en-US" altLang="zh-CN" sz="1600" dirty="0">
                <a:solidFill>
                  <a:schemeClr val="tx1">
                    <a:lumMod val="75000"/>
                    <a:lumOff val="25000"/>
                  </a:schemeClr>
                </a:solidFill>
                <a:latin typeface="Cambria" panose="02040503050406030204" pitchFamily="18" charset="0"/>
                <a:ea typeface="楷体" panose="02010609060101010101" pitchFamily="49" charset="-122"/>
              </a:rPr>
              <a:t>A500</a:t>
            </a:r>
            <a:r>
              <a:rPr lang="zh-CN" altLang="en-US" sz="1600" dirty="0">
                <a:solidFill>
                  <a:schemeClr val="tx1">
                    <a:lumMod val="75000"/>
                    <a:lumOff val="25000"/>
                  </a:schemeClr>
                </a:solidFill>
                <a:latin typeface="Cambria" panose="02040503050406030204" pitchFamily="18" charset="0"/>
                <a:ea typeface="楷体" panose="02010609060101010101" pitchFamily="49" charset="-122"/>
              </a:rPr>
              <a:t>指数突破传统的仅靠市值排序编制方案，全面覆盖细分行业龙头并优先纳入行业市值龙头，吸收海外指数编制经验， 打造中国自己的“新” 核心宽基。</a:t>
            </a:r>
            <a:endParaRPr lang="en-US" altLang="zh-CN" sz="1600" dirty="0">
              <a:solidFill>
                <a:schemeClr val="tx1">
                  <a:lumMod val="75000"/>
                  <a:lumOff val="25000"/>
                </a:schemeClr>
              </a:solidFill>
              <a:latin typeface="Cambria" panose="02040503050406030204" pitchFamily="18" charset="0"/>
              <a:ea typeface="楷体" panose="02010609060101010101" pitchFamily="49" charset="-122"/>
            </a:endParaRPr>
          </a:p>
        </p:txBody>
      </p:sp>
      <p:sp>
        <p:nvSpPr>
          <p:cNvPr id="24" name="矩形 23"/>
          <p:cNvSpPr/>
          <p:nvPr/>
        </p:nvSpPr>
        <p:spPr>
          <a:xfrm flipH="1">
            <a:off x="326206" y="735529"/>
            <a:ext cx="86326" cy="74519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5" name="文本框 4"/>
          <p:cNvSpPr txBox="1"/>
          <p:nvPr/>
        </p:nvSpPr>
        <p:spPr>
          <a:xfrm>
            <a:off x="360987" y="3549080"/>
            <a:ext cx="5560134" cy="923330"/>
          </a:xfrm>
          <a:prstGeom prst="rect">
            <a:avLst/>
          </a:prstGeom>
          <a:noFill/>
        </p:spPr>
        <p:txBody>
          <a:bodyPr wrap="square" rtlCol="0">
            <a:spAutoFit/>
          </a:bodyPr>
          <a:lstStyle/>
          <a:p>
            <a:pPr marL="171450" indent="-171450">
              <a:lnSpc>
                <a:spcPct val="150000"/>
              </a:lnSpc>
              <a:spcAft>
                <a:spcPts val="600"/>
              </a:spcAft>
              <a:buClr>
                <a:schemeClr val="accent1"/>
              </a:buClr>
              <a:buFont typeface="Wingdings" panose="05000000000000000000" pitchFamily="2" charset="2"/>
              <a:buChar char="l"/>
            </a:pPr>
            <a:r>
              <a:rPr lang="zh-CN" altLang="en-US" dirty="0">
                <a:solidFill>
                  <a:schemeClr val="tx1">
                    <a:lumMod val="75000"/>
                    <a:lumOff val="25000"/>
                  </a:schemeClr>
                </a:solidFill>
                <a:latin typeface="楷体" panose="02010609060101010101" pitchFamily="49" charset="-122"/>
                <a:ea typeface="楷体" panose="02010609060101010101" pitchFamily="49" charset="-122"/>
              </a:rPr>
              <a:t>年管理费率</a:t>
            </a:r>
            <a:r>
              <a:rPr lang="en-US" altLang="zh-CN" dirty="0">
                <a:solidFill>
                  <a:schemeClr val="tx1">
                    <a:lumMod val="75000"/>
                    <a:lumOff val="25000"/>
                  </a:schemeClr>
                </a:solidFill>
                <a:latin typeface="楷体" panose="02010609060101010101" pitchFamily="49" charset="-122"/>
                <a:ea typeface="楷体" panose="02010609060101010101" pitchFamily="49" charset="-122"/>
              </a:rPr>
              <a:t>0.50%</a:t>
            </a:r>
            <a:r>
              <a:rPr lang="zh-CN" altLang="en-US" dirty="0">
                <a:solidFill>
                  <a:schemeClr val="tx1">
                    <a:lumMod val="75000"/>
                    <a:lumOff val="25000"/>
                  </a:schemeClr>
                </a:solidFill>
                <a:latin typeface="楷体" panose="02010609060101010101" pitchFamily="49" charset="-122"/>
                <a:ea typeface="楷体" panose="02010609060101010101" pitchFamily="49" charset="-122"/>
              </a:rPr>
              <a:t>，年托管费率</a:t>
            </a:r>
            <a:r>
              <a:rPr lang="en-US" altLang="zh-CN" dirty="0">
                <a:solidFill>
                  <a:schemeClr val="tx1">
                    <a:lumMod val="75000"/>
                    <a:lumOff val="25000"/>
                  </a:schemeClr>
                </a:solidFill>
                <a:latin typeface="楷体" panose="02010609060101010101" pitchFamily="49" charset="-122"/>
                <a:ea typeface="楷体" panose="02010609060101010101" pitchFamily="49" charset="-122"/>
              </a:rPr>
              <a:t>0.10%</a:t>
            </a:r>
            <a:r>
              <a:rPr lang="zh-CN" altLang="en-US" dirty="0">
                <a:solidFill>
                  <a:schemeClr val="tx1">
                    <a:lumMod val="75000"/>
                    <a:lumOff val="25000"/>
                  </a:schemeClr>
                </a:solidFill>
                <a:latin typeface="楷体" panose="02010609060101010101" pitchFamily="49" charset="-122"/>
                <a:ea typeface="楷体" panose="02010609060101010101" pitchFamily="49" charset="-122"/>
              </a:rPr>
              <a:t>，相比同类增强产品，费率较低。</a:t>
            </a:r>
            <a:endParaRPr lang="en-US" altLang="zh-CN" dirty="0">
              <a:solidFill>
                <a:schemeClr val="tx1">
                  <a:lumMod val="75000"/>
                  <a:lumOff val="25000"/>
                </a:schemeClr>
              </a:solidFill>
              <a:latin typeface="楷体" panose="02010609060101010101" pitchFamily="49" charset="-122"/>
              <a:ea typeface="楷体" panose="02010609060101010101" pitchFamily="49" charset="-122"/>
            </a:endParaRPr>
          </a:p>
        </p:txBody>
      </p:sp>
      <p:pic>
        <p:nvPicPr>
          <p:cNvPr id="6" name="图片 5"/>
          <p:cNvPicPr>
            <a:picLocks noChangeAspect="1"/>
          </p:cNvPicPr>
          <p:nvPr/>
        </p:nvPicPr>
        <p:blipFill>
          <a:blip r:embed="rId7"/>
          <a:stretch>
            <a:fillRect/>
          </a:stretch>
        </p:blipFill>
        <p:spPr>
          <a:xfrm>
            <a:off x="681286" y="4355024"/>
            <a:ext cx="5544241" cy="2973623"/>
          </a:xfrm>
          <a:prstGeom prst="rect">
            <a:avLst/>
          </a:prstGeom>
        </p:spPr>
      </p:pic>
    </p:spTree>
    <p:extLst>
      <p:ext uri="{BB962C8B-B14F-4D97-AF65-F5344CB8AC3E}">
        <p14:creationId xmlns:p14="http://schemas.microsoft.com/office/powerpoint/2010/main" val="940869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风向标头图"/>
          <p:cNvPicPr>
            <a:picLocks noChangeAspect="1"/>
          </p:cNvPicPr>
          <p:nvPr/>
        </p:nvPicPr>
        <p:blipFill>
          <a:blip r:embed="rId3"/>
          <a:stretch>
            <a:fillRect/>
          </a:stretch>
        </p:blipFill>
        <p:spPr>
          <a:xfrm>
            <a:off x="0" y="-635"/>
            <a:ext cx="6858000" cy="1677825"/>
          </a:xfrm>
          <a:prstGeom prst="rect">
            <a:avLst/>
          </a:prstGeom>
        </p:spPr>
      </p:pic>
      <p:sp>
        <p:nvSpPr>
          <p:cNvPr id="5" name="标题 1"/>
          <p:cNvSpPr txBox="1"/>
          <p:nvPr/>
        </p:nvSpPr>
        <p:spPr>
          <a:xfrm>
            <a:off x="543811" y="51"/>
            <a:ext cx="6075518" cy="2005902"/>
          </a:xfrm>
          <a:prstGeom prst="rect">
            <a:avLst/>
          </a:prstGeom>
        </p:spPr>
        <p:txBody>
          <a:bodyPr vert="horz" lIns="91440" tIns="45721" rIns="91440" bIns="45721" rtlCol="0" anchor="ctr">
            <a:normAutofit fontScale="975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投资观点一览图</a:t>
            </a:r>
          </a:p>
        </p:txBody>
      </p:sp>
      <p:sp>
        <p:nvSpPr>
          <p:cNvPr id="9" name="矩形 8"/>
          <p:cNvSpPr/>
          <p:nvPr/>
        </p:nvSpPr>
        <p:spPr>
          <a:xfrm flipH="1">
            <a:off x="257588" y="856528"/>
            <a:ext cx="83233" cy="32409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graphicFrame>
        <p:nvGraphicFramePr>
          <p:cNvPr id="3" name="内容占位符 2"/>
          <p:cNvGraphicFramePr>
            <a:graphicFrameLocks noGrp="1"/>
          </p:cNvGraphicFramePr>
          <p:nvPr>
            <p:ph idx="1"/>
          </p:nvPr>
        </p:nvGraphicFramePr>
        <p:xfrm>
          <a:off x="0" y="1677190"/>
          <a:ext cx="6858000" cy="10514809"/>
        </p:xfrm>
        <a:graphic>
          <a:graphicData uri="http://schemas.openxmlformats.org/drawingml/2006/table">
            <a:tbl>
              <a:tblPr>
                <a:tableStyleId>{2D5ABB26-0587-4C30-8999-92F81FD0307C}</a:tableStyleId>
              </a:tblPr>
              <a:tblGrid>
                <a:gridCol w="778631">
                  <a:extLst>
                    <a:ext uri="{9D8B030D-6E8A-4147-A177-3AD203B41FA5}">
                      <a16:colId xmlns:a16="http://schemas.microsoft.com/office/drawing/2014/main" val="20000"/>
                    </a:ext>
                  </a:extLst>
                </a:gridCol>
                <a:gridCol w="901132">
                  <a:extLst>
                    <a:ext uri="{9D8B030D-6E8A-4147-A177-3AD203B41FA5}">
                      <a16:colId xmlns:a16="http://schemas.microsoft.com/office/drawing/2014/main" val="20001"/>
                    </a:ext>
                  </a:extLst>
                </a:gridCol>
                <a:gridCol w="737973">
                  <a:extLst>
                    <a:ext uri="{9D8B030D-6E8A-4147-A177-3AD203B41FA5}">
                      <a16:colId xmlns:a16="http://schemas.microsoft.com/office/drawing/2014/main" val="20002"/>
                    </a:ext>
                  </a:extLst>
                </a:gridCol>
                <a:gridCol w="2673652">
                  <a:extLst>
                    <a:ext uri="{9D8B030D-6E8A-4147-A177-3AD203B41FA5}">
                      <a16:colId xmlns:a16="http://schemas.microsoft.com/office/drawing/2014/main" val="20003"/>
                    </a:ext>
                  </a:extLst>
                </a:gridCol>
                <a:gridCol w="877561">
                  <a:extLst>
                    <a:ext uri="{9D8B030D-6E8A-4147-A177-3AD203B41FA5}">
                      <a16:colId xmlns:a16="http://schemas.microsoft.com/office/drawing/2014/main" val="20004"/>
                    </a:ext>
                  </a:extLst>
                </a:gridCol>
                <a:gridCol w="889051">
                  <a:extLst>
                    <a:ext uri="{9D8B030D-6E8A-4147-A177-3AD203B41FA5}">
                      <a16:colId xmlns:a16="http://schemas.microsoft.com/office/drawing/2014/main" val="20005"/>
                    </a:ext>
                  </a:extLst>
                </a:gridCol>
              </a:tblGrid>
              <a:tr h="900312">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板块</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行业</a:t>
                      </a:r>
                      <a:endParaRPr lang="en-US" altLang="zh-CN" sz="1600" b="1" u="none" strike="noStrike" dirty="0">
                        <a:solidFill>
                          <a:schemeClr val="bg1"/>
                        </a:solidFill>
                        <a:effectLst/>
                        <a:latin typeface="楷体" panose="02010609060101010101" pitchFamily="49" charset="-122"/>
                        <a:ea typeface="楷体" panose="02010609060101010101" pitchFamily="49" charset="-122"/>
                      </a:endParaRPr>
                    </a:p>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主题</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雷达图得分</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综合观点</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场内产品</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场外产品</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extLst>
                  <a:ext uri="{0D108BD9-81ED-4DB2-BD59-A6C34878D82A}">
                    <a16:rowId xmlns:a16="http://schemas.microsoft.com/office/drawing/2014/main" val="10000"/>
                  </a:ext>
                </a:extLst>
              </a:tr>
              <a:tr h="793824">
                <a:tc rowSpan="6">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科技</a:t>
                      </a:r>
                      <a:endParaRPr lang="en-US" altLang="zh-CN" sz="1600" b="1" u="none" strike="noStrike" dirty="0">
                        <a:solidFill>
                          <a:schemeClr val="bg1"/>
                        </a:solidFill>
                        <a:effectLst/>
                        <a:latin typeface="楷体" panose="02010609060101010101" pitchFamily="49" charset="-122"/>
                        <a:ea typeface="楷体" panose="02010609060101010101" pitchFamily="49" charset="-122"/>
                      </a:endParaRPr>
                    </a:p>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主题</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芯片</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87</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存储超级周期开启</a:t>
                      </a:r>
                      <a:r>
                        <a:rPr lang="zh-CN" altLang="en-US" sz="1400" kern="1200" baseline="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 </a:t>
                      </a: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国产链受益。</a:t>
                      </a: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rPr>
                        <a:t>全球芯片行业景气回升。</a:t>
                      </a:r>
                      <a:endParaRPr lang="en-US" altLang="zh-CN"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endParaRP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国产替代进程加速。</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588290</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515320</a:t>
                      </a: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solidFill>
                            <a:schemeClr val="tx1"/>
                          </a:solidFill>
                          <a:effectLst/>
                          <a:latin typeface="楷体" panose="02010609060101010101" pitchFamily="49" charset="-122"/>
                          <a:ea typeface="楷体" panose="02010609060101010101" pitchFamily="49" charset="-122"/>
                        </a:rPr>
                        <a:t>017559 </a:t>
                      </a:r>
                    </a:p>
                    <a:p>
                      <a:pPr algn="ctr" fontAlgn="ctr"/>
                      <a:r>
                        <a:rPr lang="en-US" altLang="zh-CN" sz="1600" u="none" strike="noStrike" dirty="0">
                          <a:solidFill>
                            <a:schemeClr val="tx1"/>
                          </a:solidFill>
                          <a:effectLst/>
                          <a:latin typeface="楷体" panose="02010609060101010101" pitchFamily="49" charset="-122"/>
                          <a:ea typeface="楷体" panose="02010609060101010101" pitchFamily="49" charset="-122"/>
                        </a:rPr>
                        <a:t>017560</a:t>
                      </a:r>
                      <a:endParaRPr lang="en-US" altLang="zh-CN" sz="1600" b="0" i="0" u="none" strike="noStrike" dirty="0">
                        <a:solidFill>
                          <a:schemeClr val="tx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83215">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人工智能</a:t>
                      </a:r>
                      <a:endParaRPr lang="en-US" altLang="zh-CN" sz="1600" b="1" i="0" u="none" strike="noStrike" dirty="0">
                        <a:solidFill>
                          <a:srgbClr val="FFFFFF"/>
                        </a:solidFill>
                        <a:effectLst/>
                        <a:latin typeface="楷体" panose="02010609060101010101" pitchFamily="49" charset="-122"/>
                        <a:ea typeface="楷体" panose="02010609060101010101" pitchFamily="49" charset="-122"/>
                      </a:endParaRPr>
                    </a:p>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数字经济</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90</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rPr>
                        <a:t>多模态大模型进一步增强。</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rPr>
                        <a:t>数据要素市场化配置改革提速。</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zh-CN" altLang="en-US" sz="1400" kern="1200" dirty="0">
                          <a:solidFill>
                            <a:schemeClr val="tx1"/>
                          </a:solidFill>
                          <a:latin typeface="楷体" panose="02010609060101010101" pitchFamily="49" charset="-122"/>
                          <a:ea typeface="楷体" panose="02010609060101010101" pitchFamily="49" charset="-122"/>
                          <a:cs typeface="+mn-cs"/>
                        </a:rPr>
                        <a:t>东数西算工程进一步推动。</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solidFill>
                            <a:schemeClr val="tx1"/>
                          </a:solidFill>
                          <a:effectLst/>
                          <a:latin typeface="楷体" panose="02010609060101010101" pitchFamily="49" charset="-122"/>
                          <a:ea typeface="楷体" panose="02010609060101010101" pitchFamily="49" charset="-122"/>
                        </a:rPr>
                        <a:t>159279</a:t>
                      </a:r>
                    </a:p>
                    <a:p>
                      <a:pPr algn="ctr" fontAlgn="ctr"/>
                      <a:r>
                        <a:rPr lang="en-US" altLang="zh-CN" sz="1600" u="none" strike="noStrike" dirty="0">
                          <a:solidFill>
                            <a:schemeClr val="tx1"/>
                          </a:solidFill>
                          <a:effectLst/>
                          <a:latin typeface="楷体" panose="02010609060101010101" pitchFamily="49" charset="-122"/>
                          <a:ea typeface="楷体" panose="02010609060101010101" pitchFamily="49" charset="-122"/>
                        </a:rPr>
                        <a:t>159658</a:t>
                      </a:r>
                      <a:endParaRPr lang="en-US" altLang="zh-CN" sz="1600" b="0" i="0" u="none" strike="noStrike" dirty="0">
                        <a:solidFill>
                          <a:schemeClr val="tx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solidFill>
                            <a:schemeClr val="tx1"/>
                          </a:solidFill>
                          <a:effectLst/>
                          <a:latin typeface="楷体" panose="02010609060101010101" pitchFamily="49" charset="-122"/>
                          <a:ea typeface="楷体" panose="02010609060101010101" pitchFamily="49" charset="-122"/>
                        </a:rPr>
                        <a:t>018031</a:t>
                      </a:r>
                    </a:p>
                    <a:p>
                      <a:pPr algn="ctr" fontAlgn="ctr"/>
                      <a:r>
                        <a:rPr lang="en-US" altLang="zh-CN" sz="1600" u="none" strike="noStrike" dirty="0">
                          <a:solidFill>
                            <a:schemeClr val="tx1"/>
                          </a:solidFill>
                          <a:effectLst/>
                          <a:latin typeface="楷体" panose="02010609060101010101" pitchFamily="49" charset="-122"/>
                          <a:ea typeface="楷体" panose="02010609060101010101" pitchFamily="49" charset="-122"/>
                        </a:rPr>
                        <a:t>018032</a:t>
                      </a:r>
                      <a:r>
                        <a:rPr lang="zh-CN" altLang="en-US" sz="1600" u="none" strike="noStrike" dirty="0">
                          <a:solidFill>
                            <a:schemeClr val="tx1"/>
                          </a:solidFill>
                          <a:effectLst/>
                          <a:latin typeface="楷体" panose="02010609060101010101" pitchFamily="49" charset="-122"/>
                          <a:ea typeface="楷体" panose="02010609060101010101" pitchFamily="49" charset="-122"/>
                        </a:rPr>
                        <a:t>　</a:t>
                      </a:r>
                      <a:endParaRPr lang="zh-CN" altLang="en-US" sz="1600" b="0" i="0" u="none" strike="noStrike" dirty="0">
                        <a:solidFill>
                          <a:schemeClr val="tx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323200">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创业板</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91</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en-US" altLang="zh-CN"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AI</a:t>
                      </a: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产业革命助力创业板发展。</a:t>
                      </a: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创业板</a:t>
                      </a:r>
                      <a:r>
                        <a:rPr lang="en-US" altLang="zh-CN"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50</a:t>
                      </a: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指数优选成长性白马，发展潜力高，指数估值处于相对低位。</a:t>
                      </a:r>
                      <a:endParaRPr lang="en-US" altLang="zh-CN"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endParaRP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创业板龙头股盈利与成长性突出。</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159949</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685800" rtl="0" eaLnBrk="1" fontAlgn="ctr" latinLnBrk="0" hangingPunct="1"/>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160424 </a:t>
                      </a:r>
                    </a:p>
                    <a:p>
                      <a:pPr marL="0" algn="ctr" defTabSz="685800" rtl="0" eaLnBrk="1" fontAlgn="ctr" latinLnBrk="0" hangingPunct="1"/>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160422 </a:t>
                      </a:r>
                    </a:p>
                    <a:p>
                      <a:pPr marL="0" algn="ctr" defTabSz="685800" rtl="0" eaLnBrk="1" fontAlgn="ctr" latinLnBrk="0" hangingPunct="1"/>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160420</a:t>
                      </a: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323200">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科创板</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87</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indent="-171450" algn="l" rtl="0" fontAlgn="ctr">
                        <a:buFont typeface="Wingdings" panose="05000000000000000000" pitchFamily="2" charset="2"/>
                        <a:buChar char="ü"/>
                      </a:pPr>
                      <a:r>
                        <a:rPr lang="zh-CN" altLang="en-US" sz="1400" kern="1200" dirty="0">
                          <a:solidFill>
                            <a:schemeClr val="tx1"/>
                          </a:solidFill>
                          <a:latin typeface="楷体" panose="02010609060101010101" pitchFamily="49" charset="-122"/>
                          <a:ea typeface="楷体" panose="02010609060101010101" pitchFamily="49" charset="-122"/>
                          <a:cs typeface="+mn-cs"/>
                        </a:rPr>
                        <a:t>“</a:t>
                      </a:r>
                      <a:r>
                        <a:rPr lang="en-US" altLang="zh-CN" sz="1400" kern="1200" dirty="0">
                          <a:solidFill>
                            <a:schemeClr val="tx1"/>
                          </a:solidFill>
                          <a:latin typeface="楷体" panose="02010609060101010101" pitchFamily="49" charset="-122"/>
                          <a:ea typeface="楷体" panose="02010609060101010101" pitchFamily="49" charset="-122"/>
                          <a:cs typeface="+mn-cs"/>
                        </a:rPr>
                        <a:t>6+1”</a:t>
                      </a:r>
                      <a:r>
                        <a:rPr lang="zh-CN" altLang="en-US" sz="1400" kern="1200" dirty="0">
                          <a:solidFill>
                            <a:schemeClr val="tx1"/>
                          </a:solidFill>
                          <a:latin typeface="楷体" panose="02010609060101010101" pitchFamily="49" charset="-122"/>
                          <a:ea typeface="楷体" panose="02010609060101010101" pitchFamily="49" charset="-122"/>
                          <a:cs typeface="+mn-cs"/>
                        </a:rPr>
                        <a:t>改革政策发布，政策倾斜科创企业。</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p>
                      <a:pPr marL="171450" indent="-171450" algn="l" rtl="0" fontAlgn="ctr">
                        <a:buFont typeface="Wingdings" panose="05000000000000000000" pitchFamily="2" charset="2"/>
                        <a:buChar char="ü"/>
                      </a:pPr>
                      <a:r>
                        <a:rPr lang="zh-CN" altLang="en-US" sz="1400" kern="1200" dirty="0">
                          <a:solidFill>
                            <a:schemeClr val="tx1"/>
                          </a:solidFill>
                          <a:latin typeface="楷体" panose="02010609060101010101" pitchFamily="49" charset="-122"/>
                          <a:ea typeface="楷体" panose="02010609060101010101" pitchFamily="49" charset="-122"/>
                          <a:cs typeface="+mn-cs"/>
                        </a:rPr>
                        <a:t>全球</a:t>
                      </a:r>
                      <a:r>
                        <a:rPr lang="en-US" altLang="zh-CN" sz="1400" kern="1200" dirty="0">
                          <a:solidFill>
                            <a:schemeClr val="tx1"/>
                          </a:solidFill>
                          <a:latin typeface="楷体" panose="02010609060101010101" pitchFamily="49" charset="-122"/>
                          <a:ea typeface="楷体" panose="02010609060101010101" pitchFamily="49" charset="-122"/>
                          <a:cs typeface="+mn-cs"/>
                        </a:rPr>
                        <a:t>AI</a:t>
                      </a:r>
                      <a:r>
                        <a:rPr lang="zh-CN" altLang="en-US" sz="1400" kern="1200" dirty="0">
                          <a:solidFill>
                            <a:schemeClr val="tx1"/>
                          </a:solidFill>
                          <a:latin typeface="楷体" panose="02010609060101010101" pitchFamily="49" charset="-122"/>
                          <a:ea typeface="楷体" panose="02010609060101010101" pitchFamily="49" charset="-122"/>
                          <a:cs typeface="+mn-cs"/>
                        </a:rPr>
                        <a:t>叙事远未结束，人工智能关注度提升。</a:t>
                      </a:r>
                    </a:p>
                    <a:p>
                      <a:pPr marL="171450" indent="-171450" algn="l" rtl="0" fontAlgn="ctr">
                        <a:buFont typeface="Wingdings" panose="05000000000000000000" pitchFamily="2" charset="2"/>
                        <a:buChar char="ü"/>
                      </a:pPr>
                      <a:r>
                        <a:rPr lang="zh-CN" altLang="en-US" sz="1400" kern="1200" dirty="0">
                          <a:solidFill>
                            <a:schemeClr val="tx1"/>
                          </a:solidFill>
                          <a:latin typeface="楷体" panose="02010609060101010101" pitchFamily="49" charset="-122"/>
                          <a:ea typeface="楷体" panose="02010609060101010101" pitchFamily="49" charset="-122"/>
                          <a:cs typeface="+mn-cs"/>
                        </a:rPr>
                        <a:t>逆全球化加剧，自主可控需求迫切。</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588280</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600" u="none" strike="noStrike" dirty="0">
                          <a:solidFill>
                            <a:schemeClr val="tx1"/>
                          </a:solidFill>
                          <a:effectLst/>
                          <a:latin typeface="楷体" panose="02010609060101010101" pitchFamily="49" charset="-122"/>
                          <a:ea typeface="楷体" panose="02010609060101010101" pitchFamily="49" charset="-122"/>
                        </a:rPr>
                        <a:t>　</a:t>
                      </a:r>
                      <a:endParaRPr lang="zh-CN" altLang="en-US" sz="1600" b="0" i="0" u="none" strike="noStrike" dirty="0">
                        <a:solidFill>
                          <a:schemeClr val="tx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885391">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纳斯达克</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91</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indent="-171450" algn="l" defTabSz="685800" rtl="0" eaLnBrk="1" fontAlgn="ctr" latinLnBrk="0" hangingPunct="1">
                        <a:buFont typeface="Wingdings" panose="05000000000000000000" pitchFamily="2" charset="2"/>
                        <a:buChar char="ü"/>
                      </a:pPr>
                      <a:r>
                        <a:rPr lang="zh-CN" altLang="en-US" sz="1400" kern="1200" dirty="0">
                          <a:solidFill>
                            <a:schemeClr val="tx1"/>
                          </a:solidFill>
                          <a:latin typeface="楷体" panose="02010609060101010101" pitchFamily="49" charset="-122"/>
                          <a:ea typeface="楷体" panose="02010609060101010101" pitchFamily="49" charset="-122"/>
                          <a:cs typeface="+mn-cs"/>
                        </a:rPr>
                        <a:t>美联储仍处于降息大周期。</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p>
                      <a:pPr marL="171450" indent="-171450" algn="l" defTabSz="685800" rtl="0" eaLnBrk="1" fontAlgn="ctr" latinLnBrk="0" hangingPunct="1">
                        <a:buFont typeface="Wingdings" panose="05000000000000000000" pitchFamily="2" charset="2"/>
                        <a:buChar char="ü"/>
                      </a:pPr>
                      <a:r>
                        <a:rPr lang="en-US" altLang="zh-CN" sz="1400" kern="1200" dirty="0">
                          <a:solidFill>
                            <a:schemeClr val="tx1"/>
                          </a:solidFill>
                          <a:latin typeface="楷体" panose="02010609060101010101" pitchFamily="49" charset="-122"/>
                          <a:ea typeface="楷体" panose="02010609060101010101" pitchFamily="49" charset="-122"/>
                          <a:cs typeface="+mn-cs"/>
                        </a:rPr>
                        <a:t>AI</a:t>
                      </a:r>
                      <a:r>
                        <a:rPr lang="zh-CN" altLang="en-US" sz="1400" kern="1200" dirty="0">
                          <a:solidFill>
                            <a:schemeClr val="tx1"/>
                          </a:solidFill>
                          <a:latin typeface="楷体" panose="02010609060101010101" pitchFamily="49" charset="-122"/>
                          <a:ea typeface="楷体" panose="02010609060101010101" pitchFamily="49" charset="-122"/>
                          <a:cs typeface="+mn-cs"/>
                        </a:rPr>
                        <a:t>技术持续突破，美股科技龙头受益。</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p>
                      <a:pPr marL="171450" marR="0"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zh-CN" altLang="en-US" sz="1400" kern="1200" dirty="0">
                          <a:solidFill>
                            <a:schemeClr val="tx1"/>
                          </a:solidFill>
                          <a:latin typeface="楷体" panose="02010609060101010101" pitchFamily="49" charset="-122"/>
                          <a:ea typeface="楷体" panose="02010609060101010101" pitchFamily="49" charset="-122"/>
                          <a:cs typeface="+mn-cs"/>
                        </a:rPr>
                        <a:t>大美丽法案延续宽财政。</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159632</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685800" rtl="0" eaLnBrk="1" fontAlgn="ctr" latinLnBrk="0" hangingPunct="1"/>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040046</a:t>
                      </a:r>
                    </a:p>
                    <a:p>
                      <a:pPr marL="0" algn="ctr" defTabSz="685800" rtl="0" eaLnBrk="1" fontAlgn="ctr" latinLnBrk="0" hangingPunct="1"/>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014978</a:t>
                      </a: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479671">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港股科技</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90</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en-US" altLang="zh-CN"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AI</a:t>
                      </a: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浪潮持续演绎，投资或逐步由上游算力向下游应用延申，港股科技在应用端优势明显。</a:t>
                      </a: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美联储重启降息周期，港股流动性有望边际改善，低估值有助于吸引各类资金流入。</a:t>
                      </a:r>
                      <a:endParaRPr lang="en-US" altLang="zh-CN"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endParaRP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513580</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159688</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520840</a:t>
                      </a: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015282</a:t>
                      </a:r>
                    </a:p>
                    <a:p>
                      <a:pPr algn="ctr" fontAlgn="ctr"/>
                      <a:r>
                        <a:rPr lang="en-US" altLang="zh-CN" sz="1600" u="none" strike="noStrike" dirty="0">
                          <a:effectLst/>
                          <a:latin typeface="楷体" panose="02010609060101010101" pitchFamily="49" charset="-122"/>
                          <a:ea typeface="楷体" panose="02010609060101010101" pitchFamily="49" charset="-122"/>
                        </a:rPr>
                        <a:t>015283</a:t>
                      </a:r>
                    </a:p>
                    <a:p>
                      <a:pPr algn="ctr" fontAlgn="ctr"/>
                      <a:r>
                        <a:rPr lang="en-US" altLang="zh-CN" sz="1600" u="none" strike="noStrike" dirty="0">
                          <a:effectLst/>
                          <a:latin typeface="楷体" panose="02010609060101010101" pitchFamily="49" charset="-122"/>
                          <a:ea typeface="楷体" panose="02010609060101010101" pitchFamily="49" charset="-122"/>
                        </a:rPr>
                        <a:t>019936</a:t>
                      </a:r>
                    </a:p>
                    <a:p>
                      <a:pPr algn="ctr" fontAlgn="ctr"/>
                      <a:r>
                        <a:rPr lang="en-US" altLang="zh-CN" sz="1600" u="none" strike="noStrike" dirty="0">
                          <a:effectLst/>
                          <a:latin typeface="楷体" panose="02010609060101010101" pitchFamily="49" charset="-122"/>
                          <a:ea typeface="楷体" panose="02010609060101010101" pitchFamily="49" charset="-122"/>
                        </a:rPr>
                        <a:t>019937</a:t>
                      </a:r>
                      <a:r>
                        <a:rPr lang="zh-CN" altLang="en-US" sz="1600" u="none" strike="noStrike" dirty="0">
                          <a:effectLst/>
                          <a:latin typeface="楷体" panose="02010609060101010101" pitchFamily="49" charset="-122"/>
                          <a:ea typeface="楷体" panose="02010609060101010101" pitchFamily="49" charset="-122"/>
                        </a:rPr>
                        <a:t>　</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941643">
                <a:tc rowSpan="3">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高端</a:t>
                      </a:r>
                      <a:endParaRPr lang="en-US" altLang="zh-CN" sz="1600" b="1" u="none" strike="noStrike" dirty="0">
                        <a:solidFill>
                          <a:schemeClr val="bg1"/>
                        </a:solidFill>
                        <a:effectLst/>
                        <a:latin typeface="楷体" panose="02010609060101010101" pitchFamily="49" charset="-122"/>
                        <a:ea typeface="楷体" panose="02010609060101010101" pitchFamily="49" charset="-122"/>
                      </a:endParaRPr>
                    </a:p>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制造</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新能源</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87</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lvl="2" indent="-171450" algn="just">
                        <a:buFont typeface="Wingdings" panose="05000000000000000000" pitchFamily="2" charset="2"/>
                        <a:buChar char="ü"/>
                      </a:pPr>
                      <a:r>
                        <a:rPr lang="zh-CN" altLang="en-US" sz="1400" kern="1200" dirty="0">
                          <a:solidFill>
                            <a:schemeClr val="tx1"/>
                          </a:solidFill>
                          <a:latin typeface="楷体" panose="02010609060101010101" pitchFamily="49" charset="-122"/>
                          <a:ea typeface="楷体" panose="02010609060101010101" pitchFamily="49" charset="-122"/>
                          <a:cs typeface="+mn-cs"/>
                        </a:rPr>
                        <a:t>固态电池技术突破。</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p>
                      <a:pPr marL="171450" marR="0" lvl="2" indent="-171450" algn="just" defTabSz="685800" rtl="0" eaLnBrk="1" fontAlgn="auto"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rPr>
                        <a:t>锂电产业出清加速。</a:t>
                      </a:r>
                      <a:endParaRPr lang="en-US" altLang="zh-CN" sz="1400" kern="1200" dirty="0">
                        <a:solidFill>
                          <a:schemeClr val="tx1"/>
                        </a:solidFill>
                        <a:latin typeface="楷体" panose="02010609060101010101" pitchFamily="49" charset="-122"/>
                        <a:ea typeface="楷体" panose="02010609060101010101" pitchFamily="49" charset="-122"/>
                        <a:cs typeface="+mn-cs"/>
                      </a:endParaRPr>
                    </a:p>
                    <a:p>
                      <a:pPr marL="171450" marR="0" lvl="2" indent="-171450" algn="just" defTabSz="685800" rtl="0" eaLnBrk="1" fontAlgn="auto" latinLnBrk="0" hangingPunct="1">
                        <a:lnSpc>
                          <a:spcPct val="100000"/>
                        </a:lnSpc>
                        <a:spcBef>
                          <a:spcPts val="0"/>
                        </a:spcBef>
                        <a:spcAft>
                          <a:spcPts val="0"/>
                        </a:spcAft>
                        <a:buClrTx/>
                        <a:buSzTx/>
                        <a:buFont typeface="Wingdings" panose="05000000000000000000" pitchFamily="2" charset="2"/>
                        <a:buChar char="ü"/>
                        <a:defRPr/>
                      </a:pPr>
                      <a:r>
                        <a:rPr lang="zh-CN" altLang="en-US" sz="1400" kern="1200" dirty="0">
                          <a:solidFill>
                            <a:schemeClr val="tx1"/>
                          </a:solidFill>
                          <a:latin typeface="楷体" panose="02010609060101010101" pitchFamily="49" charset="-122"/>
                          <a:ea typeface="楷体" panose="02010609060101010101" pitchFamily="49" charset="-122"/>
                          <a:cs typeface="+mn-cs"/>
                        </a:rPr>
                        <a:t>中国车企抢占全球份额。</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516660</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685800" rtl="0" eaLnBrk="1" fontAlgn="ctr" latinLnBrk="0" hangingPunct="1"/>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013319  013320</a:t>
                      </a: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768902">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光伏</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83</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lvl="2" indent="-171450" algn="l" defTabSz="685800" rtl="0" eaLnBrk="1" latinLnBrk="0" hangingPunct="1">
                        <a:lnSpc>
                          <a:spcPct val="100000"/>
                        </a:lnSpc>
                        <a:buFont typeface="Wingdings" panose="05000000000000000000" pitchFamily="2" charset="2"/>
                        <a:buChar char="ü"/>
                      </a:pP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反内卷政策深化。</a:t>
                      </a:r>
                      <a:endParaRPr lang="en-US" altLang="zh-CN"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endParaRPr>
                    </a:p>
                    <a:p>
                      <a:pPr marL="171450" lvl="2" indent="-171450" algn="l" defTabSz="685800" rtl="0" eaLnBrk="1" latinLnBrk="0" hangingPunct="1">
                        <a:lnSpc>
                          <a:spcPct val="100000"/>
                        </a:lnSpc>
                        <a:buFont typeface="Wingdings" panose="05000000000000000000" pitchFamily="2" charset="2"/>
                        <a:buChar char="ü"/>
                      </a:pP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产业链价格有望复苏。</a:t>
                      </a:r>
                    </a:p>
                    <a:p>
                      <a:pPr marL="171450" lvl="2" indent="-171450" algn="l" defTabSz="685800" rtl="0" eaLnBrk="1" latinLnBrk="0" hangingPunct="1">
                        <a:lnSpc>
                          <a:spcPct val="100000"/>
                        </a:lnSpc>
                        <a:buFont typeface="Wingdings" panose="05000000000000000000" pitchFamily="2" charset="2"/>
                        <a:buChar char="ü"/>
                      </a:pPr>
                      <a:r>
                        <a:rPr lang="zh-CN" altLang="en-US" sz="1400" kern="1200" dirty="0">
                          <a:solidFill>
                            <a:schemeClr val="tx1"/>
                          </a:solidFill>
                          <a:latin typeface="楷体" panose="02010609060101010101" pitchFamily="49" charset="-122"/>
                          <a:ea typeface="楷体" panose="02010609060101010101" pitchFamily="49" charset="-122"/>
                          <a:cs typeface="+mn-cs"/>
                          <a:sym typeface="Cambria" panose="02040503050406030204" pitchFamily="18" charset="0"/>
                        </a:rPr>
                        <a:t>储能景气度提升。</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159618</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685800" rtl="0" eaLnBrk="1" fontAlgn="ctr" latinLnBrk="0" hangingPunct="1"/>
                      <a:endPar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115451">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军工</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85</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marR="0"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zh-CN" altLang="en-US" sz="1400" dirty="0">
                          <a:latin typeface="楷体" panose="02010609060101010101" pitchFamily="49" charset="-122"/>
                          <a:ea typeface="楷体" panose="02010609060101010101" pitchFamily="49" charset="-122"/>
                        </a:rPr>
                        <a:t>建军百年奋斗目标明确</a:t>
                      </a:r>
                      <a:r>
                        <a:rPr lang="zh-CN" altLang="en-US" sz="1400" b="0" i="0" kern="1200" dirty="0">
                          <a:solidFill>
                            <a:schemeClr val="tx1"/>
                          </a:solidFill>
                          <a:effectLst/>
                          <a:latin typeface="楷体" panose="02010609060101010101" pitchFamily="49" charset="-122"/>
                          <a:ea typeface="楷体" panose="02010609060101010101" pitchFamily="49" charset="-122"/>
                          <a:cs typeface="+mn-cs"/>
                        </a:rPr>
                        <a:t>。</a:t>
                      </a:r>
                      <a:endParaRPr lang="en-US" altLang="zh-CN" sz="1400" b="0" i="0" kern="1200" dirty="0">
                        <a:solidFill>
                          <a:schemeClr val="tx1"/>
                        </a:solidFill>
                        <a:effectLst/>
                        <a:latin typeface="楷体" panose="02010609060101010101" pitchFamily="49" charset="-122"/>
                        <a:ea typeface="楷体" panose="02010609060101010101" pitchFamily="49" charset="-122"/>
                        <a:cs typeface="+mn-cs"/>
                      </a:endParaRPr>
                    </a:p>
                    <a:p>
                      <a:pPr marL="171450" marR="0"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zh-CN" altLang="en-US" sz="1400" dirty="0">
                          <a:latin typeface="楷体" panose="02010609060101010101" pitchFamily="49" charset="-122"/>
                          <a:ea typeface="楷体" panose="02010609060101010101" pitchFamily="49" charset="-122"/>
                        </a:rPr>
                        <a:t>“十五五”规划明确航天强国方向</a:t>
                      </a:r>
                      <a:r>
                        <a:rPr lang="zh-CN" altLang="en-US" sz="1400" b="0" i="0" kern="1200" dirty="0">
                          <a:solidFill>
                            <a:schemeClr val="tx1"/>
                          </a:solidFill>
                          <a:effectLst/>
                          <a:latin typeface="楷体" panose="02010609060101010101" pitchFamily="49" charset="-122"/>
                          <a:ea typeface="楷体" panose="02010609060101010101" pitchFamily="49" charset="-122"/>
                          <a:cs typeface="+mn-cs"/>
                        </a:rPr>
                        <a:t>。</a:t>
                      </a:r>
                      <a:endParaRPr lang="en-US" altLang="zh-CN" sz="1400" b="0" i="0" kern="1200" dirty="0">
                        <a:solidFill>
                          <a:schemeClr val="tx1"/>
                        </a:solidFill>
                        <a:effectLst/>
                        <a:latin typeface="楷体" panose="02010609060101010101" pitchFamily="49" charset="-122"/>
                        <a:ea typeface="楷体" panose="02010609060101010101" pitchFamily="49" charset="-122"/>
                        <a:cs typeface="+mn-cs"/>
                      </a:endParaRPr>
                    </a:p>
                    <a:p>
                      <a:pPr marL="171450" marR="0"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zh-CN" altLang="en-US" sz="1400" b="0" i="0" kern="1200" dirty="0">
                          <a:solidFill>
                            <a:schemeClr val="tx1"/>
                          </a:solidFill>
                          <a:effectLst/>
                          <a:latin typeface="楷体" panose="02010609060101010101" pitchFamily="49" charset="-122"/>
                          <a:ea typeface="楷体" panose="02010609060101010101" pitchFamily="49" charset="-122"/>
                          <a:cs typeface="+mn-cs"/>
                        </a:rPr>
                        <a:t>军贸打开向上空间。</a:t>
                      </a:r>
                    </a:p>
                  </a:txBody>
                  <a:tcPr marL="9525" marR="9525" marT="9525"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159267</a:t>
                      </a:r>
                      <a:r>
                        <a:rPr lang="zh-CN" altLang="en-US" sz="1600" u="none" strike="noStrike" dirty="0">
                          <a:effectLst/>
                          <a:latin typeface="楷体" panose="02010609060101010101" pitchFamily="49" charset="-122"/>
                          <a:ea typeface="楷体" panose="02010609060101010101" pitchFamily="49" charset="-122"/>
                        </a:rPr>
                        <a:t>　</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025732</a:t>
                      </a:r>
                    </a:p>
                    <a:p>
                      <a:pPr algn="ctr" fontAlgn="ctr"/>
                      <a:r>
                        <a:rPr lang="en-US" altLang="zh-CN" sz="1600" u="none" strike="noStrike" dirty="0">
                          <a:effectLst/>
                          <a:latin typeface="楷体" panose="02010609060101010101" pitchFamily="49" charset="-122"/>
                          <a:ea typeface="楷体" panose="02010609060101010101" pitchFamily="49" charset="-122"/>
                        </a:rPr>
                        <a:t>025733</a:t>
                      </a:r>
                      <a:r>
                        <a:rPr lang="zh-CN" altLang="en-US" sz="1600" u="none" strike="noStrike" dirty="0">
                          <a:effectLst/>
                          <a:latin typeface="楷体" panose="02010609060101010101" pitchFamily="49" charset="-122"/>
                          <a:ea typeface="楷体" panose="02010609060101010101" pitchFamily="49" charset="-122"/>
                        </a:rPr>
                        <a:t>　</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9050" cap="flat" cmpd="sng" algn="ctr">
                      <a:solidFill>
                        <a:srgbClr val="EEF5FB"/>
                      </a:solidFill>
                      <a:prstDash val="solid"/>
                      <a:round/>
                      <a:headEnd type="none" w="med" len="med"/>
                      <a:tailEnd type="none" w="med" len="med"/>
                    </a:lnL>
                    <a:lnR w="19050" cap="flat" cmpd="sng" algn="ctr">
                      <a:solidFill>
                        <a:srgbClr val="EEF5FB"/>
                      </a:solidFill>
                      <a:prstDash val="solid"/>
                      <a:round/>
                      <a:headEnd type="none" w="med" len="med"/>
                      <a:tailEnd type="none" w="med" len="med"/>
                    </a:lnR>
                    <a:lnT w="19050" cap="flat" cmpd="sng" algn="ctr">
                      <a:solidFill>
                        <a:srgbClr val="EEF5FB"/>
                      </a:solidFill>
                      <a:prstDash val="solid"/>
                      <a:round/>
                      <a:headEnd type="none" w="med" len="med"/>
                      <a:tailEnd type="none" w="med" len="med"/>
                    </a:lnT>
                    <a:lnB w="1905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747034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风向标头图"/>
          <p:cNvPicPr>
            <a:picLocks noChangeAspect="1"/>
          </p:cNvPicPr>
          <p:nvPr/>
        </p:nvPicPr>
        <p:blipFill>
          <a:blip r:embed="rId3"/>
          <a:stretch>
            <a:fillRect/>
          </a:stretch>
        </p:blipFill>
        <p:spPr>
          <a:xfrm>
            <a:off x="0" y="-635"/>
            <a:ext cx="6858000" cy="1677825"/>
          </a:xfrm>
          <a:prstGeom prst="rect">
            <a:avLst/>
          </a:prstGeom>
        </p:spPr>
      </p:pic>
      <p:sp>
        <p:nvSpPr>
          <p:cNvPr id="5" name="标题 1"/>
          <p:cNvSpPr txBox="1"/>
          <p:nvPr/>
        </p:nvSpPr>
        <p:spPr>
          <a:xfrm>
            <a:off x="543811" y="51"/>
            <a:ext cx="6075518" cy="2005902"/>
          </a:xfrm>
          <a:prstGeom prst="rect">
            <a:avLst/>
          </a:prstGeom>
        </p:spPr>
        <p:txBody>
          <a:bodyPr vert="horz" lIns="91440" tIns="45721" rIns="91440" bIns="45721" rtlCol="0" anchor="ctr">
            <a:normAutofit fontScale="975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pPr>
            <a:r>
              <a:rPr lang="en-US" altLang="zh-CN"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ETF</a:t>
            </a:r>
            <a:r>
              <a:rPr lang="zh-CN" altLang="en-US" sz="3200" b="1" spc="450" dirty="0">
                <a:solidFill>
                  <a:schemeClr val="bg1"/>
                </a:solidFill>
                <a:latin typeface="Microsoft YaHei Bold" panose="020B0502040204020203" charset="-122"/>
                <a:ea typeface="Microsoft YaHei Bold" panose="020B0502040204020203" charset="-122"/>
                <a:cs typeface="Microsoft YaHei Bold" panose="020B0502040204020203" charset="-122"/>
                <a:sym typeface="Cambria" panose="02040503050406030204" pitchFamily="18" charset="0"/>
              </a:rPr>
              <a:t>投资观点一览图</a:t>
            </a:r>
          </a:p>
        </p:txBody>
      </p:sp>
      <p:sp>
        <p:nvSpPr>
          <p:cNvPr id="9" name="矩形 8"/>
          <p:cNvSpPr/>
          <p:nvPr/>
        </p:nvSpPr>
        <p:spPr>
          <a:xfrm flipH="1">
            <a:off x="257588" y="856528"/>
            <a:ext cx="83233" cy="32409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graphicFrame>
        <p:nvGraphicFramePr>
          <p:cNvPr id="12" name="内容占位符 2"/>
          <p:cNvGraphicFramePr/>
          <p:nvPr>
            <p:extLst>
              <p:ext uri="{D42A27DB-BD31-4B8C-83A1-F6EECF244321}">
                <p14:modId xmlns:p14="http://schemas.microsoft.com/office/powerpoint/2010/main" val="3224127587"/>
              </p:ext>
            </p:extLst>
          </p:nvPr>
        </p:nvGraphicFramePr>
        <p:xfrm>
          <a:off x="0" y="1677188"/>
          <a:ext cx="6858000" cy="10514813"/>
        </p:xfrm>
        <a:graphic>
          <a:graphicData uri="http://schemas.openxmlformats.org/drawingml/2006/table">
            <a:tbl>
              <a:tblPr>
                <a:tableStyleId>{2D5ABB26-0587-4C30-8999-92F81FD0307C}</a:tableStyleId>
              </a:tblPr>
              <a:tblGrid>
                <a:gridCol w="719561">
                  <a:extLst>
                    <a:ext uri="{9D8B030D-6E8A-4147-A177-3AD203B41FA5}">
                      <a16:colId xmlns:a16="http://schemas.microsoft.com/office/drawing/2014/main" val="20000"/>
                    </a:ext>
                  </a:extLst>
                </a:gridCol>
                <a:gridCol w="907761">
                  <a:extLst>
                    <a:ext uri="{9D8B030D-6E8A-4147-A177-3AD203B41FA5}">
                      <a16:colId xmlns:a16="http://schemas.microsoft.com/office/drawing/2014/main" val="20001"/>
                    </a:ext>
                  </a:extLst>
                </a:gridCol>
                <a:gridCol w="666427">
                  <a:extLst>
                    <a:ext uri="{9D8B030D-6E8A-4147-A177-3AD203B41FA5}">
                      <a16:colId xmlns:a16="http://schemas.microsoft.com/office/drawing/2014/main" val="20002"/>
                    </a:ext>
                  </a:extLst>
                </a:gridCol>
                <a:gridCol w="2805193">
                  <a:extLst>
                    <a:ext uri="{9D8B030D-6E8A-4147-A177-3AD203B41FA5}">
                      <a16:colId xmlns:a16="http://schemas.microsoft.com/office/drawing/2014/main" val="20003"/>
                    </a:ext>
                  </a:extLst>
                </a:gridCol>
                <a:gridCol w="912780">
                  <a:extLst>
                    <a:ext uri="{9D8B030D-6E8A-4147-A177-3AD203B41FA5}">
                      <a16:colId xmlns:a16="http://schemas.microsoft.com/office/drawing/2014/main" val="20004"/>
                    </a:ext>
                  </a:extLst>
                </a:gridCol>
                <a:gridCol w="846278">
                  <a:extLst>
                    <a:ext uri="{9D8B030D-6E8A-4147-A177-3AD203B41FA5}">
                      <a16:colId xmlns:a16="http://schemas.microsoft.com/office/drawing/2014/main" val="20005"/>
                    </a:ext>
                  </a:extLst>
                </a:gridCol>
              </a:tblGrid>
              <a:tr h="602131">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板块</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行业</a:t>
                      </a:r>
                      <a:endParaRPr lang="en-US" altLang="zh-CN" sz="1600" b="1" u="none" strike="noStrike" dirty="0">
                        <a:solidFill>
                          <a:schemeClr val="bg1"/>
                        </a:solidFill>
                        <a:effectLst/>
                        <a:latin typeface="楷体" panose="02010609060101010101" pitchFamily="49" charset="-122"/>
                        <a:ea typeface="楷体" panose="02010609060101010101" pitchFamily="49" charset="-122"/>
                      </a:endParaRPr>
                    </a:p>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主题</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雷达图得分</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综合观点</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场内产品</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tc>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场外产品</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216CA1"/>
                    </a:solidFill>
                  </a:tcPr>
                </a:tc>
                <a:extLst>
                  <a:ext uri="{0D108BD9-81ED-4DB2-BD59-A6C34878D82A}">
                    <a16:rowId xmlns:a16="http://schemas.microsoft.com/office/drawing/2014/main" val="10000"/>
                  </a:ext>
                </a:extLst>
              </a:tr>
              <a:tr h="1351640">
                <a:tc rowSpan="2">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消费</a:t>
                      </a:r>
                      <a:endParaRPr lang="en-US" altLang="zh-CN" sz="1600" b="1"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食品饮料</a:t>
                      </a:r>
                      <a:endParaRPr lang="en-US" altLang="zh-CN" sz="1600" b="1" i="0" u="none" strike="noStrike" dirty="0">
                        <a:solidFill>
                          <a:srgbClr val="FFFFFF"/>
                        </a:solidFill>
                        <a:effectLst/>
                        <a:latin typeface="楷体" panose="02010609060101010101" pitchFamily="49" charset="-122"/>
                        <a:ea typeface="楷体" panose="02010609060101010101" pitchFamily="49" charset="-122"/>
                      </a:endParaRPr>
                    </a:p>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港股消费</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86</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lvl="2" indent="-171450" algn="l" defTabSz="685800" rtl="0" eaLnBrk="1" fontAlgn="ctr" latinLnBrk="0" hangingPunct="1">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“促消费、扩内需”等经济政策出台，市场信心有望提升。</a:t>
                      </a:r>
                    </a:p>
                    <a:p>
                      <a:pPr marL="171450" lvl="2" indent="-171450" algn="l" defTabSz="685800" rtl="0" eaLnBrk="1" fontAlgn="ctr" latinLnBrk="0" hangingPunct="1">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sym typeface="Cambria" panose="02040503050406030204" pitchFamily="18" charset="0"/>
                        </a:rPr>
                        <a:t>板块呈现低估值、低预期、低持仓、高分红回报特点，投资性价比较高。</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sym typeface="Cambria" panose="02040503050406030204" pitchFamily="18" charset="0"/>
                      </a:endParaRP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516900</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159285</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600" u="none" strike="noStrike" dirty="0">
                          <a:effectLst/>
                          <a:latin typeface="楷体" panose="02010609060101010101" pitchFamily="49" charset="-122"/>
                          <a:ea typeface="楷体" panose="02010609060101010101" pitchFamily="49" charset="-122"/>
                        </a:rPr>
                        <a:t>　</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31633">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医药生物</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87</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政策环境持续优化。</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新技术、新需求驱动。</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p>
                      <a:pPr marL="171450" marR="0" lvl="2" indent="-171450" algn="l" defTabSz="685800" rtl="0" eaLnBrk="1" fontAlgn="ctr" latinLnBrk="0" hangingPunct="1">
                        <a:lnSpc>
                          <a:spcPct val="100000"/>
                        </a:lnSpc>
                        <a:spcBef>
                          <a:spcPts val="0"/>
                        </a:spcBef>
                        <a:spcAft>
                          <a:spcPts val="0"/>
                        </a:spcAft>
                        <a:buClrTx/>
                        <a:buSzTx/>
                        <a:buFont typeface="Wingdings" panose="05000000000000000000" pitchFamily="2" charset="2"/>
                        <a:buChar char="ü"/>
                        <a:defRPr/>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基本面边际改善。</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512120</a:t>
                      </a:r>
                    </a:p>
                    <a:p>
                      <a:pPr algn="ctr" fontAlgn="ctr"/>
                      <a:r>
                        <a:rPr lang="en-US" altLang="zh-CN" sz="1600" u="none" strike="noStrike" dirty="0">
                          <a:effectLst/>
                          <a:latin typeface="楷体" panose="02010609060101010101" pitchFamily="49" charset="-122"/>
                          <a:ea typeface="楷体" panose="02010609060101010101" pitchFamily="49" charset="-122"/>
                        </a:rPr>
                        <a:t>159508</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159102</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000376 </a:t>
                      </a:r>
                    </a:p>
                    <a:p>
                      <a:pPr algn="ctr" fontAlgn="ctr"/>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000373</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86181">
                <a:tc rowSpan="4">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金融</a:t>
                      </a:r>
                      <a:endParaRPr lang="en-US" altLang="zh-CN" sz="1600" b="1" u="none" strike="noStrike" dirty="0">
                        <a:solidFill>
                          <a:schemeClr val="bg1"/>
                        </a:solidFill>
                        <a:effectLst/>
                        <a:latin typeface="楷体" panose="02010609060101010101" pitchFamily="49" charset="-122"/>
                        <a:ea typeface="楷体" panose="02010609060101010101" pitchFamily="49" charset="-122"/>
                      </a:endParaRPr>
                    </a:p>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地产</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银行</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95</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债券端回升提升银行潜在业绩。</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四季度风格或高切低。</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516210</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160418  014983</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733568">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非银金融</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92</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基本面业绩高增，</a:t>
                      </a:r>
                      <a:r>
                        <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rPr>
                        <a:t>PB</a:t>
                      </a: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估值相对低位，配置性价比较高。</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516200</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kern="1200" dirty="0">
                          <a:solidFill>
                            <a:schemeClr val="tx1"/>
                          </a:solidFill>
                          <a:effectLst/>
                          <a:latin typeface="楷体" panose="02010609060101010101" pitchFamily="49" charset="-122"/>
                          <a:ea typeface="楷体" panose="02010609060101010101" pitchFamily="49" charset="-122"/>
                          <a:cs typeface="+mn-cs"/>
                        </a:rPr>
                        <a:t>160419  014984</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087076">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基建</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86</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随着广义财政工具进一步发力，基建投资有望延续较快增长，支撑实物需求改善。</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当前板块处于相对低估值区间，投资价值凸显。</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815727">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地产</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82</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万科债务危机，房价下跌未停，地产等待新政刺激。</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600" u="none" strike="noStrike" dirty="0">
                          <a:effectLst/>
                          <a:latin typeface="楷体" panose="02010609060101010101" pitchFamily="49" charset="-122"/>
                          <a:ea typeface="楷体" panose="02010609060101010101" pitchFamily="49" charset="-122"/>
                        </a:rPr>
                        <a:t>　</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600" u="none" strike="noStrike" dirty="0">
                          <a:effectLst/>
                          <a:latin typeface="楷体" panose="02010609060101010101" pitchFamily="49" charset="-122"/>
                          <a:ea typeface="楷体" panose="02010609060101010101" pitchFamily="49" charset="-122"/>
                        </a:rPr>
                        <a:t>　</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087076">
                <a:tc>
                  <a:txBody>
                    <a:bodyPr/>
                    <a:lstStyle/>
                    <a:p>
                      <a:pPr algn="ctr" fontAlgn="ctr"/>
                      <a:r>
                        <a:rPr lang="zh-CN" altLang="en-US" sz="1600" b="1" i="0" u="none" strike="noStrike" dirty="0">
                          <a:solidFill>
                            <a:schemeClr val="bg1"/>
                          </a:solidFill>
                          <a:effectLst/>
                          <a:latin typeface="楷体" panose="02010609060101010101" pitchFamily="49" charset="-122"/>
                          <a:ea typeface="楷体" panose="02010609060101010101" pitchFamily="49" charset="-122"/>
                        </a:rPr>
                        <a:t>红利</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红利</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94</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监管明确中长期资金入市要求，高股息资产有望受益。</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央国企及国资平台大举回购增持。</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p>
                      <a:pPr marL="171450" indent="-171450" algn="l" rtl="0" fontAlgn="t">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央企改革持续推进，强化市值管理。</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561060</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513920</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020461 </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020462</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020866</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020867</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479226">
                <a:tc rowSpan="3">
                  <a:txBody>
                    <a:bodyPr/>
                    <a:lstStyle/>
                    <a:p>
                      <a:pPr algn="ctr" fontAlgn="ctr"/>
                      <a:r>
                        <a:rPr lang="zh-CN" altLang="en-US" sz="1600" b="1" u="none" strike="noStrike" dirty="0">
                          <a:solidFill>
                            <a:schemeClr val="bg1"/>
                          </a:solidFill>
                          <a:effectLst/>
                          <a:latin typeface="楷体" panose="02010609060101010101" pitchFamily="49" charset="-122"/>
                          <a:ea typeface="楷体" panose="02010609060101010101" pitchFamily="49" charset="-122"/>
                        </a:rPr>
                        <a:t>周期</a:t>
                      </a:r>
                      <a:endParaRPr lang="zh-CN" altLang="en-US" sz="1600" b="1" i="0" u="none" strike="noStrike" dirty="0">
                        <a:solidFill>
                          <a:schemeClr val="bg1"/>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黄金</a:t>
                      </a:r>
                      <a:r>
                        <a:rPr lang="en-US" altLang="zh-CN" sz="1600" b="1" i="0" u="none" strike="noStrike" dirty="0">
                          <a:solidFill>
                            <a:srgbClr val="FFFFFF"/>
                          </a:solidFill>
                          <a:effectLst/>
                          <a:latin typeface="楷体" panose="02010609060101010101" pitchFamily="49" charset="-122"/>
                          <a:ea typeface="楷体" panose="02010609060101010101" pitchFamily="49" charset="-122"/>
                        </a:rPr>
                        <a:t>/</a:t>
                      </a:r>
                    </a:p>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黄金股</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BDD7EE"/>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93</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171450" indent="-171450">
                        <a:lnSpc>
                          <a:spcPct val="100000"/>
                        </a:lnSpc>
                        <a:buFont typeface="Wingdings" panose="05000000000000000000" pitchFamily="2" charset="2"/>
                        <a:buChar char="ü"/>
                      </a:pPr>
                      <a:r>
                        <a:rPr lang="zh-CN" altLang="en-US" sz="1400" dirty="0">
                          <a:latin typeface="楷体" panose="02010609060101010101" pitchFamily="49" charset="-122"/>
                          <a:ea typeface="楷体" panose="02010609060101010101" pitchFamily="49" charset="-122"/>
                          <a:cs typeface="+mn-ea"/>
                          <a:sym typeface="+mn-lt"/>
                        </a:rPr>
                        <a:t>若鸽派主席任选，美联储降息节奏或更加激进，有望利好黄金。</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sym typeface="+mn-lt"/>
                      </a:endParaRPr>
                    </a:p>
                    <a:p>
                      <a:pPr marL="171450" indent="-171450">
                        <a:lnSpc>
                          <a:spcPct val="100000"/>
                        </a:lnSpc>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sym typeface="+mn-lt"/>
                        </a:rPr>
                        <a:t>黄金长期增长的本质依然是货币属性，对抗美元信用，当前美国的债务压力和高利率环境在加剧信用风险</a:t>
                      </a: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518880</a:t>
                      </a:r>
                    </a:p>
                    <a:p>
                      <a:pPr algn="ctr" fontAlgn="ctr"/>
                      <a:r>
                        <a:rPr lang="en-US" altLang="zh-CN" sz="1600" b="0" i="0" u="none" strike="noStrike" dirty="0">
                          <a:solidFill>
                            <a:srgbClr val="000000"/>
                          </a:solidFill>
                          <a:effectLst/>
                          <a:latin typeface="楷体" panose="02010609060101010101" pitchFamily="49" charset="-122"/>
                          <a:ea typeface="楷体" panose="02010609060101010101" pitchFamily="49" charset="-122"/>
                        </a:rPr>
                        <a:t>159321</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b="0" i="0" u="none" strike="noStrike" kern="1200" dirty="0">
                          <a:solidFill>
                            <a:srgbClr val="000000"/>
                          </a:solidFill>
                          <a:effectLst/>
                          <a:latin typeface="楷体" panose="02010609060101010101" pitchFamily="49" charset="-122"/>
                          <a:ea typeface="楷体" panose="02010609060101010101" pitchFamily="49" charset="-122"/>
                          <a:cs typeface="+mn-cs"/>
                        </a:rPr>
                        <a:t>000216</a:t>
                      </a:r>
                    </a:p>
                    <a:p>
                      <a:pPr algn="ctr" fontAlgn="ctr"/>
                      <a:r>
                        <a:rPr lang="en-US" altLang="zh-CN" sz="1600" b="0" i="0" u="none" strike="noStrike" kern="1200" dirty="0">
                          <a:solidFill>
                            <a:srgbClr val="000000"/>
                          </a:solidFill>
                          <a:effectLst/>
                          <a:latin typeface="楷体" panose="02010609060101010101" pitchFamily="49" charset="-122"/>
                          <a:ea typeface="楷体" panose="02010609060101010101" pitchFamily="49" charset="-122"/>
                          <a:cs typeface="+mn-cs"/>
                        </a:rPr>
                        <a:t>000217</a:t>
                      </a: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644032">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煤炭</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88</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indent="-171450" algn="l" rtl="0" fontAlgn="ctr">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供给存收紧预期，冬季需求有望回升。</a:t>
                      </a:r>
                      <a:endPar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endParaRP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600" u="none" strike="noStrike" dirty="0">
                          <a:effectLst/>
                          <a:latin typeface="楷体" panose="02010609060101010101" pitchFamily="49" charset="-122"/>
                          <a:ea typeface="楷体" panose="02010609060101010101" pitchFamily="49" charset="-122"/>
                        </a:rPr>
                        <a:t>　</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zh-CN" altLang="en-US" sz="1600" u="none" strike="noStrike" dirty="0">
                          <a:effectLst/>
                          <a:latin typeface="楷体" panose="02010609060101010101" pitchFamily="49" charset="-122"/>
                          <a:ea typeface="楷体" panose="02010609060101010101" pitchFamily="49" charset="-122"/>
                        </a:rPr>
                        <a:t>　</a:t>
                      </a:r>
                      <a:endParaRPr lang="zh-CN" altLang="en-US"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196523">
                <a:tc vMerge="1">
                  <a:txBody>
                    <a:bodyPr/>
                    <a:lstStyle/>
                    <a:p>
                      <a:endParaRPr lang="zh-CN"/>
                    </a:p>
                  </a:txBody>
                  <a:tcPr/>
                </a:tc>
                <a:tc>
                  <a:txBody>
                    <a:bodyPr/>
                    <a:lstStyle/>
                    <a:p>
                      <a:pPr algn="ctr" rtl="0" fontAlgn="ctr"/>
                      <a:r>
                        <a:rPr lang="zh-CN" altLang="en-US" sz="1600" b="1" i="0" u="none" strike="noStrike" dirty="0">
                          <a:solidFill>
                            <a:srgbClr val="FFFFFF"/>
                          </a:solidFill>
                          <a:effectLst/>
                          <a:latin typeface="楷体" panose="02010609060101010101" pitchFamily="49" charset="-122"/>
                          <a:ea typeface="楷体" panose="02010609060101010101" pitchFamily="49" charset="-122"/>
                        </a:rPr>
                        <a:t>石油</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rtl="0" fontAlgn="ctr"/>
                      <a:r>
                        <a:rPr lang="en-US" altLang="zh-CN" sz="1600" b="1" i="0" u="none" strike="noStrike" dirty="0">
                          <a:solidFill>
                            <a:srgbClr val="FFC000"/>
                          </a:solidFill>
                          <a:effectLst/>
                          <a:latin typeface="楷体" panose="02010609060101010101" pitchFamily="49" charset="-122"/>
                          <a:ea typeface="楷体" panose="02010609060101010101" pitchFamily="49" charset="-122"/>
                        </a:rPr>
                        <a:t>85</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171450" indent="-171450" algn="l" rtl="0" fontAlgn="ctr">
                        <a:buFont typeface="Wingdings" panose="05000000000000000000" pitchFamily="2" charset="2"/>
                        <a:buChar char="ü"/>
                      </a:pP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当前金油比飙升且原油价格已充分反映悲观预期，叠加</a:t>
                      </a:r>
                      <a:r>
                        <a:rPr lang="en-US" altLang="zh-CN" sz="1400" b="0" i="0" u="none" strike="noStrike" kern="1200" dirty="0">
                          <a:solidFill>
                            <a:srgbClr val="000000"/>
                          </a:solidFill>
                          <a:effectLst/>
                          <a:latin typeface="楷体" panose="02010609060101010101" pitchFamily="49" charset="-122"/>
                          <a:ea typeface="楷体" panose="02010609060101010101" pitchFamily="49" charset="-122"/>
                          <a:cs typeface="+mn-cs"/>
                        </a:rPr>
                        <a:t>OPEC</a:t>
                      </a:r>
                      <a:r>
                        <a:rPr lang="zh-CN" altLang="en-US" sz="1400" b="0" i="0" u="none" strike="noStrike" kern="1200" dirty="0">
                          <a:solidFill>
                            <a:srgbClr val="000000"/>
                          </a:solidFill>
                          <a:effectLst/>
                          <a:latin typeface="楷体" panose="02010609060101010101" pitchFamily="49" charset="-122"/>
                          <a:ea typeface="楷体" panose="02010609060101010101" pitchFamily="49" charset="-122"/>
                          <a:cs typeface="+mn-cs"/>
                        </a:rPr>
                        <a:t>增产不确定性，利空因素或有限。</a:t>
                      </a:r>
                    </a:p>
                  </a:txBody>
                  <a:tcPr marL="9525" marR="9525" marT="9525"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160416</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600" u="none" strike="noStrike" dirty="0">
                          <a:effectLst/>
                          <a:latin typeface="楷体" panose="02010609060101010101" pitchFamily="49" charset="-122"/>
                          <a:ea typeface="楷体" panose="02010609060101010101" pitchFamily="49" charset="-122"/>
                        </a:rPr>
                        <a:t>014982</a:t>
                      </a:r>
                      <a:endParaRPr lang="en-US" altLang="zh-CN" sz="1600" b="0" i="0" u="none" strike="noStrike" dirty="0">
                        <a:solidFill>
                          <a:srgbClr val="000000"/>
                        </a:solidFill>
                        <a:effectLst/>
                        <a:latin typeface="楷体" panose="02010609060101010101" pitchFamily="49" charset="-122"/>
                        <a:ea typeface="楷体" panose="02010609060101010101" pitchFamily="49" charset="-122"/>
                      </a:endParaRPr>
                    </a:p>
                  </a:txBody>
                  <a:tcPr marL="7167" marR="7167" marT="7167" marB="0" anchor="ctr">
                    <a:lnL w="12700" cap="flat" cmpd="sng" algn="ctr">
                      <a:solidFill>
                        <a:srgbClr val="EEF5FB"/>
                      </a:solidFill>
                      <a:prstDash val="solid"/>
                      <a:round/>
                      <a:headEnd type="none" w="med" len="med"/>
                      <a:tailEnd type="none" w="med" len="med"/>
                    </a:lnL>
                    <a:lnR w="12700" cap="flat" cmpd="sng" algn="ctr">
                      <a:solidFill>
                        <a:srgbClr val="EEF5FB"/>
                      </a:solidFill>
                      <a:prstDash val="solid"/>
                      <a:round/>
                      <a:headEnd type="none" w="med" len="med"/>
                      <a:tailEnd type="none" w="med" len="med"/>
                    </a:lnR>
                    <a:lnT w="12700" cap="flat" cmpd="sng" algn="ctr">
                      <a:solidFill>
                        <a:srgbClr val="EEF5FB"/>
                      </a:solidFill>
                      <a:prstDash val="solid"/>
                      <a:round/>
                      <a:headEnd type="none" w="med" len="med"/>
                      <a:tailEnd type="none" w="med" len="med"/>
                    </a:lnT>
                    <a:lnB w="12700" cap="flat" cmpd="sng" algn="ctr">
                      <a:solidFill>
                        <a:srgbClr val="EEF5F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742610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0" y="-634"/>
            <a:ext cx="6858000" cy="1471894"/>
            <a:chOff x="0" y="-634"/>
            <a:chExt cx="6858000" cy="1471894"/>
          </a:xfrm>
        </p:grpSpPr>
        <p:pic>
          <p:nvPicPr>
            <p:cNvPr id="8" name="图片 7" descr="风向标头图"/>
            <p:cNvPicPr>
              <a:picLocks noChangeAspect="1"/>
            </p:cNvPicPr>
            <p:nvPr/>
          </p:nvPicPr>
          <p:blipFill>
            <a:blip r:embed="rId3"/>
            <a:stretch>
              <a:fillRect/>
            </a:stretch>
          </p:blipFill>
          <p:spPr>
            <a:xfrm>
              <a:off x="0" y="-634"/>
              <a:ext cx="6858000" cy="1471894"/>
            </a:xfrm>
            <a:prstGeom prst="rect">
              <a:avLst/>
            </a:prstGeom>
          </p:spPr>
        </p:pic>
        <p:pic>
          <p:nvPicPr>
            <p:cNvPr id="9" name="图片 8" descr="资源 1"/>
            <p:cNvPicPr>
              <a:picLocks noChangeAspect="1"/>
            </p:cNvPicPr>
            <p:nvPr>
              <p:custDataLst>
                <p:tags r:id="rId1"/>
              </p:custDataLst>
            </p:nvPr>
          </p:nvPicPr>
          <p:blipFill>
            <a:blip r:embed="rId4"/>
            <a:stretch>
              <a:fillRect/>
            </a:stretch>
          </p:blipFill>
          <p:spPr>
            <a:xfrm>
              <a:off x="4674870" y="179070"/>
              <a:ext cx="1711960" cy="438150"/>
            </a:xfrm>
            <a:prstGeom prst="rect">
              <a:avLst/>
            </a:prstGeom>
          </p:spPr>
        </p:pic>
      </p:grpSp>
      <p:sp>
        <p:nvSpPr>
          <p:cNvPr id="5" name="矩形 4"/>
          <p:cNvSpPr/>
          <p:nvPr/>
        </p:nvSpPr>
        <p:spPr>
          <a:xfrm>
            <a:off x="387134" y="1608140"/>
            <a:ext cx="6083734" cy="8556381"/>
          </a:xfrm>
          <a:prstGeom prst="rect">
            <a:avLst/>
          </a:prstGeom>
        </p:spPr>
        <p:txBody>
          <a:bodyPr wrap="square">
            <a:spAutoFit/>
          </a:bodyPr>
          <a:lstStyle/>
          <a:p>
            <a:pPr algn="just">
              <a:lnSpc>
                <a:spcPct val="150000"/>
              </a:lnSpc>
            </a:pPr>
            <a:r>
              <a:rPr lang="zh-CN" altLang="en-US" sz="2800" dirty="0">
                <a:solidFill>
                  <a:schemeClr val="accent3">
                    <a:lumMod val="75000"/>
                  </a:schemeClr>
                </a:solidFill>
                <a:latin typeface="楷体" panose="02010609060101010101" pitchFamily="49" charset="-122"/>
                <a:ea typeface="楷体" panose="02010609060101010101" pitchFamily="49" charset="-122"/>
              </a:rPr>
              <a:t>免责声明与风险提示</a:t>
            </a:r>
            <a:endParaRPr lang="en-US" altLang="zh-CN" sz="2800" dirty="0">
              <a:solidFill>
                <a:schemeClr val="accent3">
                  <a:lumMod val="75000"/>
                </a:schemeClr>
              </a:solidFill>
              <a:latin typeface="楷体" panose="02010609060101010101" pitchFamily="49" charset="-122"/>
              <a:ea typeface="楷体" panose="02010609060101010101" pitchFamily="49" charset="-122"/>
            </a:endParaRPr>
          </a:p>
          <a:p>
            <a:pPr algn="just">
              <a:lnSpc>
                <a:spcPct val="150000"/>
              </a:lnSpc>
            </a:pPr>
            <a:endParaRPr lang="zh-CN" altLang="en-US" sz="1800" dirty="0">
              <a:solidFill>
                <a:schemeClr val="accent3">
                  <a:lumMod val="75000"/>
                </a:schemeClr>
              </a:solidFill>
              <a:latin typeface="楷体" panose="02010609060101010101" pitchFamily="49" charset="-122"/>
              <a:ea typeface="楷体" panose="02010609060101010101" pitchFamily="49" charset="-122"/>
            </a:endParaRPr>
          </a:p>
          <a:p>
            <a:pPr marL="342900" indent="-342900" algn="just">
              <a:spcBef>
                <a:spcPts val="1200"/>
              </a:spcBef>
              <a:spcAft>
                <a:spcPts val="600"/>
              </a:spcAft>
              <a:buFont typeface="Arial" panose="020B0604020202020204" pitchFamily="34" charset="0"/>
              <a:buChar char="•"/>
            </a:pPr>
            <a:r>
              <a:rPr lang="zh-CN" altLang="en-US" sz="1600" dirty="0">
                <a:solidFill>
                  <a:schemeClr val="accent3">
                    <a:lumMod val="75000"/>
                  </a:schemeClr>
                </a:solidFill>
                <a:latin typeface="楷体" panose="02010609060101010101" pitchFamily="49" charset="-122"/>
                <a:ea typeface="楷体" panose="02010609060101010101" pitchFamily="49" charset="-122"/>
              </a:rPr>
              <a:t>本材料版权归华安基金所有，但不构成要约、承诺或基金管理人对产品收益的保证，请投资者详细阅读相关基金的法律文件。</a:t>
            </a:r>
            <a:endParaRPr lang="en-US" altLang="zh-CN" sz="1600" dirty="0">
              <a:solidFill>
                <a:schemeClr val="accent3">
                  <a:lumMod val="75000"/>
                </a:schemeClr>
              </a:solidFill>
              <a:latin typeface="楷体" panose="02010609060101010101" pitchFamily="49" charset="-122"/>
              <a:ea typeface="楷体" panose="02010609060101010101" pitchFamily="49" charset="-122"/>
            </a:endParaRPr>
          </a:p>
          <a:p>
            <a:pPr marL="342900" indent="-342900" algn="just">
              <a:spcBef>
                <a:spcPts val="1200"/>
              </a:spcBef>
              <a:spcAft>
                <a:spcPts val="600"/>
              </a:spcAft>
              <a:buFont typeface="Arial" panose="020B0604020202020204" pitchFamily="34" charset="0"/>
              <a:buChar char="•"/>
            </a:pPr>
            <a:r>
              <a:rPr lang="zh-CN" altLang="en-US" sz="1600" dirty="0">
                <a:solidFill>
                  <a:schemeClr val="accent3">
                    <a:lumMod val="75000"/>
                  </a:schemeClr>
                </a:solidFill>
                <a:latin typeface="楷体" panose="02010609060101010101" pitchFamily="49" charset="-122"/>
                <a:ea typeface="楷体" panose="02010609060101010101" pitchFamily="49" charset="-122"/>
              </a:rPr>
              <a:t>本文件仅供销售渠道交流使用，并非基金宣传推介材料，不得以任何方式提供给任何投资者。</a:t>
            </a:r>
            <a:endParaRPr lang="en-US" altLang="zh-CN" sz="1600" dirty="0">
              <a:solidFill>
                <a:schemeClr val="accent3">
                  <a:lumMod val="75000"/>
                </a:schemeClr>
              </a:solidFill>
              <a:latin typeface="楷体" panose="02010609060101010101" pitchFamily="49" charset="-122"/>
              <a:ea typeface="楷体" panose="02010609060101010101" pitchFamily="49" charset="-122"/>
            </a:endParaRPr>
          </a:p>
          <a:p>
            <a:pPr marL="342900" indent="-342900" algn="just">
              <a:lnSpc>
                <a:spcPct val="150000"/>
              </a:lnSpc>
              <a:spcBef>
                <a:spcPts val="600"/>
              </a:spcBef>
              <a:spcAft>
                <a:spcPts val="600"/>
              </a:spcAft>
              <a:buFont typeface="Arial" panose="020B0604020202020204" pitchFamily="34" charset="0"/>
              <a:buChar char="•"/>
            </a:pPr>
            <a:r>
              <a:rPr lang="zh-CN" altLang="en-US" sz="1600" dirty="0">
                <a:solidFill>
                  <a:schemeClr val="accent3">
                    <a:lumMod val="75000"/>
                  </a:schemeClr>
                </a:solidFill>
                <a:latin typeface="楷体" panose="02010609060101010101" pitchFamily="49" charset="-122"/>
                <a:ea typeface="楷体" panose="02010609060101010101" pitchFamily="49" charset="-122"/>
              </a:rPr>
              <a:t>基金资产投资于非</a:t>
            </a:r>
            <a:r>
              <a:rPr lang="en-US" altLang="zh-CN" sz="1600" dirty="0">
                <a:solidFill>
                  <a:schemeClr val="accent3">
                    <a:lumMod val="75000"/>
                  </a:schemeClr>
                </a:solidFill>
                <a:latin typeface="楷体" panose="02010609060101010101" pitchFamily="49" charset="-122"/>
                <a:ea typeface="楷体" panose="02010609060101010101" pitchFamily="49" charset="-122"/>
              </a:rPr>
              <a:t>A</a:t>
            </a:r>
            <a:r>
              <a:rPr lang="zh-CN" altLang="en-US" sz="1600" dirty="0">
                <a:solidFill>
                  <a:schemeClr val="accent3">
                    <a:lumMod val="75000"/>
                  </a:schemeClr>
                </a:solidFill>
                <a:latin typeface="楷体" panose="02010609060101010101" pitchFamily="49" charset="-122"/>
                <a:ea typeface="楷体" panose="02010609060101010101" pitchFamily="49" charset="-122"/>
              </a:rPr>
              <a:t>股市场，会面临不同投资环境、投资标的、市场制度以及交易规则等差异带来的特有风险，包括市场股价波动较大的风险、汇率风险、港股通机制下交易日不连贯可能带来的风险等。</a:t>
            </a:r>
            <a:endParaRPr lang="en-US" altLang="zh-CN" sz="1600" dirty="0">
              <a:solidFill>
                <a:schemeClr val="accent3">
                  <a:lumMod val="75000"/>
                </a:schemeClr>
              </a:solidFill>
              <a:latin typeface="楷体" panose="02010609060101010101" pitchFamily="49" charset="-122"/>
              <a:ea typeface="楷体" panose="02010609060101010101" pitchFamily="49" charset="-122"/>
            </a:endParaRPr>
          </a:p>
          <a:p>
            <a:pPr marL="342900" indent="-342900" algn="just">
              <a:lnSpc>
                <a:spcPct val="150000"/>
              </a:lnSpc>
              <a:spcBef>
                <a:spcPts val="600"/>
              </a:spcBef>
              <a:spcAft>
                <a:spcPts val="600"/>
              </a:spcAft>
              <a:buFont typeface="Arial" panose="020B0604020202020204" pitchFamily="34" charset="0"/>
              <a:buChar char="•"/>
            </a:pPr>
            <a:r>
              <a:rPr lang="zh-CN" altLang="en-US" sz="1600" dirty="0">
                <a:solidFill>
                  <a:schemeClr val="accent3">
                    <a:lumMod val="75000"/>
                  </a:schemeClr>
                </a:solidFill>
                <a:latin typeface="楷体" panose="02010609060101010101" pitchFamily="49" charset="-122"/>
                <a:ea typeface="楷体" panose="02010609060101010101" pitchFamily="49" charset="-122"/>
              </a:rPr>
              <a:t>黄金</a:t>
            </a:r>
            <a:r>
              <a:rPr lang="en-US" altLang="zh-CN" sz="1600" dirty="0">
                <a:solidFill>
                  <a:schemeClr val="accent3">
                    <a:lumMod val="75000"/>
                  </a:schemeClr>
                </a:solidFill>
                <a:latin typeface="楷体" panose="02010609060101010101" pitchFamily="49" charset="-122"/>
                <a:ea typeface="楷体" panose="02010609060101010101" pitchFamily="49" charset="-122"/>
              </a:rPr>
              <a:t>ETF,</a:t>
            </a:r>
            <a:r>
              <a:rPr lang="zh-CN" altLang="en-US" sz="1600" dirty="0">
                <a:solidFill>
                  <a:schemeClr val="accent3">
                    <a:lumMod val="75000"/>
                  </a:schemeClr>
                </a:solidFill>
                <a:latin typeface="楷体" panose="02010609060101010101" pitchFamily="49" charset="-122"/>
                <a:ea typeface="楷体" panose="02010609060101010101" pitchFamily="49" charset="-122"/>
              </a:rPr>
              <a:t>其风险收益特征与国内黄金现货价格的风险收益特征相似</a:t>
            </a:r>
            <a:r>
              <a:rPr lang="en-US" altLang="zh-CN" sz="1600" dirty="0">
                <a:solidFill>
                  <a:schemeClr val="accent3">
                    <a:lumMod val="75000"/>
                  </a:schemeClr>
                </a:solidFill>
                <a:latin typeface="楷体" panose="02010609060101010101" pitchFamily="49" charset="-122"/>
                <a:ea typeface="楷体" panose="02010609060101010101" pitchFamily="49" charset="-122"/>
              </a:rPr>
              <a:t>,</a:t>
            </a:r>
            <a:r>
              <a:rPr lang="zh-CN" altLang="en-US" sz="1600" dirty="0">
                <a:solidFill>
                  <a:schemeClr val="accent3">
                    <a:lumMod val="75000"/>
                  </a:schemeClr>
                </a:solidFill>
                <a:latin typeface="楷体" panose="02010609060101010101" pitchFamily="49" charset="-122"/>
                <a:ea typeface="楷体" panose="02010609060101010101" pitchFamily="49" charset="-122"/>
              </a:rPr>
              <a:t>不同于股票基金、混合基金、债券基金和货币市场基金。其联接基金主要通过投资目标</a:t>
            </a:r>
            <a:r>
              <a:rPr lang="en-US" altLang="zh-CN" sz="1600" dirty="0">
                <a:solidFill>
                  <a:schemeClr val="accent3">
                    <a:lumMod val="75000"/>
                  </a:schemeClr>
                </a:solidFill>
                <a:latin typeface="楷体" panose="02010609060101010101" pitchFamily="49" charset="-122"/>
                <a:ea typeface="楷体" panose="02010609060101010101" pitchFamily="49" charset="-122"/>
              </a:rPr>
              <a:t>ETF</a:t>
            </a:r>
            <a:r>
              <a:rPr lang="zh-CN" altLang="en-US" sz="1600" dirty="0">
                <a:solidFill>
                  <a:schemeClr val="accent3">
                    <a:lumMod val="75000"/>
                  </a:schemeClr>
                </a:solidFill>
                <a:latin typeface="楷体" panose="02010609060101010101" pitchFamily="49" charset="-122"/>
                <a:ea typeface="楷体" panose="02010609060101010101" pitchFamily="49" charset="-122"/>
              </a:rPr>
              <a:t>紧密跟踪标的指数的表现。</a:t>
            </a:r>
            <a:endParaRPr lang="en-US" altLang="zh-CN" sz="1600" dirty="0">
              <a:solidFill>
                <a:schemeClr val="accent3">
                  <a:lumMod val="75000"/>
                </a:schemeClr>
              </a:solidFill>
              <a:latin typeface="楷体" panose="02010609060101010101" pitchFamily="49" charset="-122"/>
              <a:ea typeface="楷体" panose="02010609060101010101" pitchFamily="49" charset="-122"/>
            </a:endParaRPr>
          </a:p>
          <a:p>
            <a:pPr marL="342900" indent="-342900" algn="just">
              <a:lnSpc>
                <a:spcPct val="150000"/>
              </a:lnSpc>
              <a:spcBef>
                <a:spcPts val="600"/>
              </a:spcBef>
              <a:spcAft>
                <a:spcPts val="600"/>
              </a:spcAft>
              <a:buFont typeface="Arial" panose="020B0604020202020204" pitchFamily="34" charset="0"/>
              <a:buChar char="•"/>
            </a:pPr>
            <a:r>
              <a:rPr lang="zh-CN" altLang="en-US" sz="1600" dirty="0">
                <a:solidFill>
                  <a:schemeClr val="accent3">
                    <a:lumMod val="75000"/>
                  </a:schemeClr>
                </a:solidFill>
                <a:latin typeface="楷体" panose="02010609060101010101" pitchFamily="49" charset="-122"/>
                <a:ea typeface="楷体" panose="02010609060101010101" pitchFamily="49" charset="-122"/>
              </a:rPr>
              <a:t>基金管理公司不保证本基金一定盈利，也不保证最低收益。基金的过往业绩并不预示其未来表现，基金管理人管理的其他基金的业绩并不构成基金业绩表现的保证。基金产品收益存在波动风险，投资需谨慎，详情请认真阅读本基金的基金合同、招募说明书等基金法律文件。</a:t>
            </a:r>
          </a:p>
          <a:p>
            <a:pPr marL="342900" indent="-342900" algn="just">
              <a:lnSpc>
                <a:spcPct val="150000"/>
              </a:lnSpc>
              <a:spcBef>
                <a:spcPts val="600"/>
              </a:spcBef>
              <a:spcAft>
                <a:spcPts val="600"/>
              </a:spcAft>
              <a:buFont typeface="Arial" panose="020B0604020202020204" pitchFamily="34" charset="0"/>
              <a:buChar char="•"/>
            </a:pPr>
            <a:r>
              <a:rPr lang="zh-CN" altLang="en-US" sz="1600" dirty="0">
                <a:solidFill>
                  <a:schemeClr val="accent3">
                    <a:lumMod val="75000"/>
                  </a:schemeClr>
                </a:solidFill>
                <a:latin typeface="楷体" panose="02010609060101010101" pitchFamily="49" charset="-122"/>
                <a:ea typeface="楷体" panose="02010609060101010101" pitchFamily="49" charset="-122"/>
              </a:rPr>
              <a:t>本材料的版权归华安基金管理有限责任公司所有，未经我公司书面许可，任何机构和个人不得以任何形式转发、复制或修改。</a:t>
            </a:r>
          </a:p>
        </p:txBody>
      </p:sp>
      <p:sp>
        <p:nvSpPr>
          <p:cNvPr id="32" name="矩形 31"/>
          <p:cNvSpPr/>
          <p:nvPr/>
        </p:nvSpPr>
        <p:spPr>
          <a:xfrm>
            <a:off x="-1" y="1"/>
            <a:ext cx="1578078" cy="1409409"/>
          </a:xfrm>
          <a:prstGeom prst="rect">
            <a:avLst/>
          </a:prstGeom>
          <a:solidFill>
            <a:srgbClr val="1F4E79">
              <a:alpha val="3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ltLang="zh-CN" sz="2400" dirty="0"/>
              <a:t>HUAAN</a:t>
            </a:r>
          </a:p>
          <a:p>
            <a:pPr algn="ctr"/>
            <a:r>
              <a:rPr lang="en-US" altLang="zh-CN" sz="2400" dirty="0"/>
              <a:t>INDEXING</a:t>
            </a:r>
            <a:endParaRPr lang="zh-CN" altLang="en-US" sz="2400" dirty="0"/>
          </a:p>
        </p:txBody>
      </p:sp>
      <p:graphicFrame>
        <p:nvGraphicFramePr>
          <p:cNvPr id="6" name="表格 5"/>
          <p:cNvGraphicFramePr>
            <a:graphicFrameLocks noGrp="1"/>
          </p:cNvGraphicFramePr>
          <p:nvPr/>
        </p:nvGraphicFramePr>
        <p:xfrm>
          <a:off x="883520" y="6752442"/>
          <a:ext cx="5915025" cy="243840"/>
        </p:xfrm>
        <a:graphic>
          <a:graphicData uri="http://schemas.openxmlformats.org/drawingml/2006/table">
            <a:tbl>
              <a:tblPr/>
              <a:tblGrid>
                <a:gridCol w="5915025">
                  <a:extLst>
                    <a:ext uri="{9D8B030D-6E8A-4147-A177-3AD203B41FA5}">
                      <a16:colId xmlns:a16="http://schemas.microsoft.com/office/drawing/2014/main" val="20000"/>
                    </a:ext>
                  </a:extLst>
                </a:gridCol>
              </a:tblGrid>
              <a:tr h="0">
                <a:tc>
                  <a:txBody>
                    <a:bodyPr/>
                    <a:lstStyle/>
                    <a:p>
                      <a:pPr fontAlgn="t"/>
                      <a:endParaRPr lang="zh-CN" altLang="en-US" sz="1000" dirty="0">
                        <a:effectLst/>
                        <a:latin typeface="Arial" panose="020B0604020202020204" pitchFamily="34" charset="0"/>
                      </a:endParaRPr>
                    </a:p>
                  </a:txBody>
                  <a:tcPr>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9370617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34974</TotalTime>
  <Words>6403</Words>
  <Application>Microsoft Macintosh PowerPoint</Application>
  <PresentationFormat>Widescreen</PresentationFormat>
  <Paragraphs>452</Paragraphs>
  <Slides>27</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27</vt:i4>
      </vt:variant>
    </vt:vector>
  </HeadingPairs>
  <TitlesOfParts>
    <vt:vector size="40" baseType="lpstr">
      <vt:lpstr>等线</vt:lpstr>
      <vt:lpstr>楷体</vt:lpstr>
      <vt:lpstr>Microsoft YaHei</vt:lpstr>
      <vt:lpstr>Microsoft YaHei Bold</vt:lpstr>
      <vt:lpstr>Microsoft YaHei Regular</vt:lpstr>
      <vt:lpstr>汉仪旗黑-55简</vt:lpstr>
      <vt:lpstr>Arial</vt:lpstr>
      <vt:lpstr>Calibri</vt:lpstr>
      <vt:lpstr>Calibri Light</vt:lpstr>
      <vt:lpstr>Cambria</vt:lpstr>
      <vt:lpstr>Wingdings</vt:lpstr>
      <vt:lpstr>Office 主题​​</vt:lpstr>
      <vt:lpstr>6_Office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马静怡</dc:creator>
  <cp:lastModifiedBy>Yongjia Huang</cp:lastModifiedBy>
  <cp:revision>3059</cp:revision>
  <cp:lastPrinted>2024-02-01T07:41:36Z</cp:lastPrinted>
  <dcterms:created xsi:type="dcterms:W3CDTF">2024-02-01T07:41:36Z</dcterms:created>
  <dcterms:modified xsi:type="dcterms:W3CDTF">2026-06-29T07:53:41Z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D4571CAA7F71819D4B438D65B04F3986_43</vt:lpwstr>
  </property>
  <property fmtid="{D5CDD505-2E9C-101B-9397-08002B2CF9AE}" pid="3" name="KSOProductBuildVer">
    <vt:lpwstr>2052-6.5.1.8687</vt:lpwstr>
  </property>
</Properties>
</file>